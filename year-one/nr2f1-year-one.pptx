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year ago we launched the new nr2f1.org. This is what the data says: what worked, what didn't, and what we would do next.</a:t>
            </a:r>
          </a:p>
          <a:p/>
          <a:p>
            <a:r>
              <a:t>Everything here comes from three places — Google Search Console, Google Analytics, and Givebutter, which is the Foundation's contact database.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land.</a:t>
            </a:r>
          </a:p>
          <a:p/>
          <a:p>
            <a:r>
              <a:t>One: what BBSOAS actually is, because most of the numbers later only mean something if you know this affects a few hundred families in the world, not a few hundred thousand.</a:t>
            </a:r>
          </a:p>
          <a:p/>
          <a:p>
            <a:r>
              <a:t>Two: we were given seven goals and five constraints. Keep an eye on the last two constraints — seven languages and being readable by Google. They look like engineering hygiene. They turned out to produce the biggest measurable change for families.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spine of the deck, so it is worth a minute.</a:t>
            </a:r>
          </a:p>
          <a:p/>
          <a:p>
            <a:r>
              <a:t>In discovery we ranked five groups by who was most valuable to reach right now. Newly diagnosed parents came first, and everything else followed from that. A parent who has just been handed this diagnosis usually finds us by searching the words the geneticist said — and their own neurologist often has not heard of the condition either.</a:t>
            </a:r>
          </a:p>
          <a:p/>
          <a:p>
            <a:r>
              <a:t>Note the bottom row: what the Foundation needs back from each group. Those are the things we can actually measure, and they are how we judge the year. Registrations for parents. Regular giving for supporters. Research participation for scientists.</a:t>
            </a:r>
          </a:p>
          <a:p/>
          <a:p>
            <a:r>
              <a:t>Doctors and supporters were ranked equal third. Researchers came last — not because they matter least, but because they were the least urgent in year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once, clearly, and then we never have to hedge again.</a:t>
            </a:r>
          </a:p>
          <a:p/>
          <a:p>
            <a:r>
              <a:t>The old WordPress site was measured — someone set analytics up years ago — but the account is not ours and nobody still involved can get into it. So any claim about visits going up would be invented. I would rather say that now than be asked it in questions. If anyone here can find the login, we can go back and do this comparison properly.</a:t>
            </a:r>
          </a:p>
          <a:p/>
          <a:p>
            <a:r>
              <a:t>What we can compare properly is Google Search, because Search Console measures the domain and keeps 16 months of history. And family registrations, because it is the same field in the same database before and after.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 one. If a parent cannot find us in the hour after a diagnosis, nothing else in this deck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thousand people sounds small until you remember how rare this is.</a:t>
            </a:r>
          </a:p>
          <a:p/>
          <a:p>
            <a:r>
              <a:t>On quality we are ahead of the typical small charity site. On volume we are a seventh of it. Both are true and I would say both — if we only said the first, someone would 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genuine before-and-after in the deck, so give it time.</a:t>
            </a:r>
          </a:p>
          <a:p/>
          <a:p>
            <a:r>
              <a:t>Average position 15th to 8th is page two to page one. On a phone, 11th to 4th — and phones are 71% of our visitors, so that is the number that matters.</a:t>
            </a:r>
          </a:p>
          <a:p/>
          <a:p>
            <a:r>
              <a:t>Be fair about one thing: some of our high click rate is because people search our name. But it rose through a year when AI answers in Google were cutting clicks for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ties search back to the mission.</a:t>
            </a:r>
          </a:p>
          <a:p/>
          <a:p>
            <a:r>
              <a:t>Look at the right-hand column. 'bbsoas life expectancy' is somebody's worst evening. We are now the page that answers it, and we answer it in their language — the French and German searches at the bottom went from nowhere to first or second.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Translation was one of the five constraints, and it is the one that paid back hardest. A third of everything Google shows for us is not in English.</a:t>
            </a:r>
          </a:p>
          <a:p/>
          <a:p>
            <a:r>
              <a:t>The detail I like: the story Google shows most often is Aydn's, in French. A family in Lyon meets us before an English-speaking family does.</a:t>
            </a:r>
          </a:p>
          <a:p/>
          <a:p>
            <a:r>
              <a:t>And the exception, which we come back to later: Italy halved, because Italian readers were arriving at a PDF guide that did not survive the move.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our visits come from search, which means the site brings its own audience rather than depending on us pushing links out. Direct is the existing community.</a:t>
            </a:r>
          </a:p>
          <a:p/>
          <a:p>
            <a:r>
              <a:t>The last line is small but worth flagging: twelve visits from AI chatbots. That is nothing today. It is how a doctor will look this up in two years.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us is only half of it. The Foundation's first ask of a newly diagnosed parent is that they join the patient registry.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it. 127 families registered in year one — one every three days — and of the 113 who were given a patient number, 112 came through the form on the website.</a:t>
            </a:r>
          </a:p>
          <a:p/>
          <a:p>
            <a:r>
              <a:t>That is the clearest line we have from 'we built a website' to 'the Foundation can do research'.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us to be the ones who say this, not the board.</a:t>
            </a:r>
          </a:p>
          <a:p/>
          <a:p>
            <a:r>
              <a:t>The number did not go up. 133 the year before, 127 in year one.</a:t>
            </a:r>
          </a:p>
          <a:p/>
          <a:p>
            <a:r>
              <a:t>What changed is the shape. Look at March 2025 — 24 families in two days, from one event. That was 18% of the year. Take it away and the old baseline was thin and unpredictable.</a:t>
            </a:r>
          </a:p>
          <a:p/>
          <a:p>
            <a:r>
              <a:t>Now it is nine to eleven every single month. No empty months, no waiting for someone to organise a conference. That is something the Foundation can plan research around.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 three. Mostly friends and colleagues of families, not the families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waves, not one: the December year-end push, and a British spring campaign that brought in 132 UK donors.</a:t>
            </a:r>
          </a:p>
          <a:p/>
          <a:p>
            <a:r>
              <a:t>Note what the website's job actually is here. Donations happen on Givebutter campaign pages, but Givebutter is the second biggest source of visits to our site. Donors come here to find out why they should give. The site does the persuading.</a:t>
            </a:r>
          </a:p>
          <a:p/>
          <a:p>
            <a:r>
              <a:t>One more thing: only four of the 431 donors are parents. Friends and colleagues raise money for families. That is exactly what the supporter persona describes.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one slide in this deck that is just a number we did not move.</a:t>
            </a:r>
          </a:p>
          <a:p/>
          <a:p>
            <a:r>
              <a:t>Five people out of 431. The persona work said plainly that the Foundation needs income it can count on, and we did not deliver it.</a:t>
            </a:r>
          </a:p>
          <a:p/>
          <a:p>
            <a:r>
              <a:t>The sector gets a fifth of its online income this way, and the average monthly gift is 25 dollars. So this is not a big ask, it is an invisible one. That is a design problem, and it should be top of next year's list.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Personas four and five. Lower priority in year one, but this is where the long-term value sits.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persona need was specific and testable: a doctor should find us in the top five. We clear that for the main terms, and on a phone we are fourth.</a:t>
            </a:r>
          </a:p>
          <a:p/>
          <a:p>
            <a:r>
              <a:t>The gap is content, not findability. We rank, but we have written nothing specifically for a clinician. That is cheap to fix.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 persona's complaint was 'I cannot find this on the website'. Now the biorepository, the publications, and the patient count are all pages that turn up in Google.</a:t>
            </a:r>
          </a:p>
          <a:p/>
          <a:p>
            <a:r>
              <a:t>Here is the line worth saying to a drug company: the biggest published study of this condition has 47 people in it, and it recruited partly through this Foundation. Our registry has 567. That is the argument for running a trial, and now it is a web page.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slides. The honest one first, because it makes the asks that follow credible.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we would want a new team to know.</a:t>
            </a:r>
          </a:p>
          <a:p/>
          <a:p>
            <a:r>
              <a:t>The May drop is the one I would watch. It shows up in both Google Analytics and Search Console, so it is genuine, and it lines up with us publishing less.</a:t>
            </a:r>
          </a:p>
          <a:p/>
          <a:p>
            <a:r>
              <a:t>The PDFs are the most fixable: about 530 clicks every 140 days that we simply stopped serving.</a:t>
            </a:r>
          </a:p>
          <a:p/>
          <a:p>
            <a:r>
              <a:t>And the form quietly losing date of birth and country is a small code change with a real cost to research.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asks, in rough order of return for the effort.</a:t>
            </a:r>
          </a:p>
          <a:p/>
          <a:p>
            <a:r>
              <a:t>The first two are the ones I would defend hardest. The redirects are pure recovered value — that content already earned its audience. And monthly giving is the only line in this deck where we are far below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of the seven goals met, one part met — supporting professionals, where we rank but have not written for them.</a:t>
            </a:r>
          </a:p>
          <a:p/>
          <a:p>
            <a:r>
              <a:t>All five build constraints met. And the two that looked like engineering hygiene, translation and being readable by Google, are the two that changed the most for families.</a:t>
            </a:r>
          </a:p>
          <a:p/>
          <a:p>
            <a:r>
              <a:t>Then read the line and stop talking.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58368" y="1783080"/>
            <a:ext cx="1371600" cy="5029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2057400"/>
            <a:ext cx="9243715" cy="1463040"/>
          </a:xfrm>
          <a:prstGeom prst="rect">
            <a:avLst/>
          </a:prstGeom>
          <a:noFill/>
        </p:spPr>
        <p:txBody>
          <a:bodyPr wrap="square" anchor="t" lIns="0" rIns="0" tIns="0" bIns="0">
            <a:spAutoFit/>
          </a:bodyPr>
          <a:lstStyle/>
          <a:p>
            <a:pPr algn="l">
              <a:lnSpc>
                <a:spcPct val="102000"/>
              </a:lnSpc>
            </a:pPr>
            <a:r>
              <a:rPr sz="4000" b="0" i="0">
                <a:solidFill>
                  <a:srgbClr val="BAD1EE"/>
                </a:solidFill>
                <a:latin typeface="Arial"/>
              </a:rPr>
              <a:t>One year of</a:t>
            </a:r>
          </a:p>
          <a:p>
            <a:pPr>
              <a:lnSpc>
                <a:spcPct val="102000"/>
              </a:lnSpc>
            </a:pPr>
            <a:r>
              <a:rPr sz="5800" b="1" i="0">
                <a:solidFill>
                  <a:srgbClr val="FFFFFF"/>
                </a:solidFill>
                <a:latin typeface="Arial"/>
              </a:rPr>
              <a:t>nr2f1.org</a:t>
            </a:r>
          </a:p>
        </p:txBody>
      </p:sp>
      <p:sp>
        <p:nvSpPr>
          <p:cNvPr id="5" name="TextBox 4"/>
          <p:cNvSpPr txBox="1"/>
          <p:nvPr/>
        </p:nvSpPr>
        <p:spPr>
          <a:xfrm>
            <a:off x="658368" y="3977639"/>
            <a:ext cx="7829970" cy="548640"/>
          </a:xfrm>
          <a:prstGeom prst="rect">
            <a:avLst/>
          </a:prstGeom>
          <a:noFill/>
        </p:spPr>
        <p:txBody>
          <a:bodyPr wrap="square" anchor="t" lIns="0" rIns="0" tIns="0" bIns="0">
            <a:spAutoFit/>
          </a:bodyPr>
          <a:lstStyle/>
          <a:p>
            <a:pPr algn="l"/>
            <a:r>
              <a:rPr sz="1900" b="0" i="0">
                <a:solidFill>
                  <a:srgbClr val="CFF7FF"/>
                </a:solidFill>
                <a:latin typeface="Arial"/>
              </a:rPr>
              <a:t>What changed for families, supporters and researchers</a:t>
            </a:r>
          </a:p>
        </p:txBody>
      </p:sp>
      <p:sp>
        <p:nvSpPr>
          <p:cNvPr id="6" name="TextBox 5"/>
          <p:cNvSpPr txBox="1"/>
          <p:nvPr/>
        </p:nvSpPr>
        <p:spPr>
          <a:xfrm>
            <a:off x="658368" y="4709160"/>
            <a:ext cx="7612471" cy="365760"/>
          </a:xfrm>
          <a:prstGeom prst="rect">
            <a:avLst/>
          </a:prstGeom>
          <a:noFill/>
        </p:spPr>
        <p:txBody>
          <a:bodyPr wrap="square" anchor="t" lIns="0" rIns="0" tIns="0" bIns="0">
            <a:spAutoFit/>
          </a:bodyPr>
          <a:lstStyle/>
          <a:p>
            <a:pPr algn="l"/>
            <a:r>
              <a:rPr sz="1500" b="0" i="0">
                <a:solidFill>
                  <a:srgbClr val="BAD1EE"/>
                </a:solidFill>
                <a:latin typeface="Arial"/>
              </a:rPr>
              <a:t>21 September 2025 to 14 September 2026</a:t>
            </a:r>
          </a:p>
        </p:txBody>
      </p:sp>
      <p:sp>
        <p:nvSpPr>
          <p:cNvPr id="7" name="TextBox 6"/>
          <p:cNvSpPr txBox="1"/>
          <p:nvPr/>
        </p:nvSpPr>
        <p:spPr>
          <a:xfrm>
            <a:off x="658368" y="5989320"/>
            <a:ext cx="10874959" cy="274320"/>
          </a:xfrm>
          <a:prstGeom prst="rect">
            <a:avLst/>
          </a:prstGeom>
          <a:noFill/>
        </p:spPr>
        <p:txBody>
          <a:bodyPr wrap="square" anchor="t" lIns="0" rIns="0" tIns="0" bIns="0">
            <a:spAutoFit/>
          </a:bodyPr>
          <a:lstStyle/>
          <a:p>
            <a:pPr algn="l"/>
            <a:r>
              <a:rPr sz="1100" b="0" i="0">
                <a:solidFill>
                  <a:srgbClr val="2B66B1"/>
                </a:solidFill>
                <a:latin typeface="Arial"/>
              </a:rPr>
              <a:t>NR2F1 Foundation  ·  Red Badger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BACKGROUND</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What we were asked to build</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 NR2F1 Foundation supports families living with BBSOAS — a rare condition caused by a change in a single gene. It affects sight, movement and development. A few hundred families worldwide have a diagnosis.</a:t>
            </a:r>
          </a:p>
        </p:txBody>
      </p:sp>
      <p:sp>
        <p:nvSpPr>
          <p:cNvPr id="6" name="TextBox 5"/>
          <p:cNvSpPr txBox="1"/>
          <p:nvPr/>
        </p:nvSpPr>
        <p:spPr>
          <a:xfrm>
            <a:off x="658368" y="2048256"/>
            <a:ext cx="5111230" cy="274320"/>
          </a:xfrm>
          <a:prstGeom prst="rect">
            <a:avLst/>
          </a:prstGeom>
          <a:noFill/>
        </p:spPr>
        <p:txBody>
          <a:bodyPr wrap="square" anchor="t" lIns="0" rIns="0" tIns="0" bIns="0">
            <a:spAutoFit/>
          </a:bodyPr>
          <a:lstStyle/>
          <a:p>
            <a:pPr algn="l"/>
            <a:r>
              <a:rPr sz="950" b="1" i="0">
                <a:solidFill>
                  <a:srgbClr val="A3A3A3"/>
                </a:solidFill>
                <a:latin typeface="Arial"/>
              </a:rPr>
              <a:t>THE SEVEN GOALS WE WERE GIVEN</a:t>
            </a:r>
          </a:p>
        </p:txBody>
      </p:sp>
      <p:sp>
        <p:nvSpPr>
          <p:cNvPr id="7" name="TextBox 6"/>
          <p:cNvSpPr txBox="1"/>
          <p:nvPr/>
        </p:nvSpPr>
        <p:spPr>
          <a:xfrm>
            <a:off x="658368" y="2359152"/>
            <a:ext cx="5111230"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50" b="0" i="0">
                <a:solidFill>
                  <a:srgbClr val="525252"/>
                </a:solidFill>
                <a:latin typeface="Arial"/>
              </a:rPr>
              <a:t>Raise awareness of the Foundation</a:t>
            </a:r>
          </a:p>
          <a:p>
            <a:pPr>
              <a:lnSpc>
                <a:spcPct val="115000"/>
              </a:lnSpc>
              <a:spcAft>
                <a:spcPts val="900"/>
              </a:spcAft>
            </a:pPr>
            <a:r>
              <a:rPr sz="800" b="1" i="0">
                <a:solidFill>
                  <a:srgbClr val="00ABCF"/>
                </a:solidFill>
                <a:latin typeface="Arial"/>
              </a:rPr>
              <a:t>● </a:t>
            </a:r>
            <a:r>
              <a:rPr sz="1350" b="0" i="0">
                <a:solidFill>
                  <a:srgbClr val="525252"/>
                </a:solidFill>
                <a:latin typeface="Arial"/>
              </a:rPr>
              <a:t>Explain the NR2F1 gene and BBSOAS</a:t>
            </a:r>
          </a:p>
          <a:p>
            <a:pPr>
              <a:lnSpc>
                <a:spcPct val="115000"/>
              </a:lnSpc>
              <a:spcAft>
                <a:spcPts val="900"/>
              </a:spcAft>
            </a:pPr>
            <a:r>
              <a:rPr sz="800" b="1" i="0">
                <a:solidFill>
                  <a:srgbClr val="00ABCF"/>
                </a:solidFill>
                <a:latin typeface="Arial"/>
              </a:rPr>
              <a:t>● </a:t>
            </a:r>
            <a:r>
              <a:rPr sz="1350" b="0" i="0">
                <a:solidFill>
                  <a:srgbClr val="525252"/>
                </a:solidFill>
                <a:latin typeface="Arial"/>
              </a:rPr>
              <a:t>Give families resources they can use</a:t>
            </a:r>
          </a:p>
          <a:p>
            <a:pPr>
              <a:lnSpc>
                <a:spcPct val="115000"/>
              </a:lnSpc>
              <a:spcAft>
                <a:spcPts val="900"/>
              </a:spcAft>
            </a:pPr>
            <a:r>
              <a:rPr sz="800" b="1" i="0">
                <a:solidFill>
                  <a:srgbClr val="00ABCF"/>
                </a:solidFill>
                <a:latin typeface="Arial"/>
              </a:rPr>
              <a:t>● </a:t>
            </a:r>
            <a:r>
              <a:rPr sz="1350" b="0" i="0">
                <a:solidFill>
                  <a:srgbClr val="525252"/>
                </a:solidFill>
                <a:latin typeface="Arial"/>
              </a:rPr>
              <a:t>Help families join the patient registry</a:t>
            </a:r>
          </a:p>
          <a:p>
            <a:pPr>
              <a:lnSpc>
                <a:spcPct val="115000"/>
              </a:lnSpc>
              <a:spcAft>
                <a:spcPts val="900"/>
              </a:spcAft>
            </a:pPr>
            <a:r>
              <a:rPr sz="800" b="1" i="0">
                <a:solidFill>
                  <a:srgbClr val="00ABCF"/>
                </a:solidFill>
                <a:latin typeface="Arial"/>
              </a:rPr>
              <a:t>● </a:t>
            </a:r>
            <a:r>
              <a:rPr sz="1350" b="0" i="0">
                <a:solidFill>
                  <a:srgbClr val="525252"/>
                </a:solidFill>
                <a:latin typeface="Arial"/>
              </a:rPr>
              <a:t>Support clinicians, researchers and drug companies</a:t>
            </a:r>
          </a:p>
          <a:p>
            <a:pPr>
              <a:lnSpc>
                <a:spcPct val="115000"/>
              </a:lnSpc>
              <a:spcAft>
                <a:spcPts val="900"/>
              </a:spcAft>
            </a:pPr>
            <a:r>
              <a:rPr sz="800" b="1" i="0">
                <a:solidFill>
                  <a:srgbClr val="00ABCF"/>
                </a:solidFill>
                <a:latin typeface="Arial"/>
              </a:rPr>
              <a:t>● </a:t>
            </a:r>
            <a:r>
              <a:rPr sz="1350" b="0" i="0">
                <a:solidFill>
                  <a:srgbClr val="525252"/>
                </a:solidFill>
                <a:latin typeface="Arial"/>
              </a:rPr>
              <a:t>Publish the Foundation's own blog</a:t>
            </a:r>
          </a:p>
          <a:p>
            <a:pPr>
              <a:lnSpc>
                <a:spcPct val="115000"/>
              </a:lnSpc>
              <a:spcAft>
                <a:spcPts val="900"/>
              </a:spcAft>
            </a:pPr>
            <a:r>
              <a:rPr sz="800" b="1" i="0">
                <a:solidFill>
                  <a:srgbClr val="00ABCF"/>
                </a:solidFill>
                <a:latin typeface="Arial"/>
              </a:rPr>
              <a:t>● </a:t>
            </a:r>
            <a:r>
              <a:rPr sz="1350" b="0" i="0">
                <a:solidFill>
                  <a:srgbClr val="525252"/>
                </a:solidFill>
                <a:latin typeface="Arial"/>
              </a:rPr>
              <a:t>Make donating simple</a:t>
            </a:r>
          </a:p>
        </p:txBody>
      </p:sp>
      <p:sp>
        <p:nvSpPr>
          <p:cNvPr id="8" name="TextBox 7"/>
          <p:cNvSpPr txBox="1"/>
          <p:nvPr/>
        </p:nvSpPr>
        <p:spPr>
          <a:xfrm>
            <a:off x="6422096" y="2048256"/>
            <a:ext cx="5111230" cy="274320"/>
          </a:xfrm>
          <a:prstGeom prst="rect">
            <a:avLst/>
          </a:prstGeom>
          <a:noFill/>
        </p:spPr>
        <p:txBody>
          <a:bodyPr wrap="square" anchor="t" lIns="0" rIns="0" tIns="0" bIns="0">
            <a:spAutoFit/>
          </a:bodyPr>
          <a:lstStyle/>
          <a:p>
            <a:pPr algn="l"/>
            <a:r>
              <a:rPr sz="950" b="1" i="0">
                <a:solidFill>
                  <a:srgbClr val="A3A3A3"/>
                </a:solidFill>
                <a:latin typeface="Arial"/>
              </a:rPr>
              <a:t>AND FIVE THINGS IT HAD TO BE</a:t>
            </a:r>
          </a:p>
        </p:txBody>
      </p:sp>
      <p:sp>
        <p:nvSpPr>
          <p:cNvPr id="9" name="TextBox 8"/>
          <p:cNvSpPr txBox="1"/>
          <p:nvPr/>
        </p:nvSpPr>
        <p:spPr>
          <a:xfrm>
            <a:off x="6422096" y="2359152"/>
            <a:ext cx="5111230"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50" b="0" i="0">
                <a:solidFill>
                  <a:srgbClr val="525252"/>
                </a:solidFill>
                <a:latin typeface="Arial"/>
              </a:rPr>
              <a:t>Easy to keep up to date</a:t>
            </a:r>
          </a:p>
          <a:p>
            <a:pPr>
              <a:lnSpc>
                <a:spcPct val="115000"/>
              </a:lnSpc>
              <a:spcAft>
                <a:spcPts val="900"/>
              </a:spcAft>
            </a:pPr>
            <a:r>
              <a:rPr sz="800" b="1" i="0">
                <a:solidFill>
                  <a:srgbClr val="00ABCF"/>
                </a:solidFill>
                <a:latin typeface="Arial"/>
              </a:rPr>
              <a:t>● </a:t>
            </a:r>
            <a:r>
              <a:rPr sz="1350" b="0" i="0">
                <a:solidFill>
                  <a:srgbClr val="525252"/>
                </a:solidFill>
                <a:latin typeface="Arial"/>
              </a:rPr>
              <a:t>Accessible to everyone</a:t>
            </a:r>
          </a:p>
          <a:p>
            <a:pPr>
              <a:lnSpc>
                <a:spcPct val="115000"/>
              </a:lnSpc>
              <a:spcAft>
                <a:spcPts val="900"/>
              </a:spcAft>
            </a:pPr>
            <a:r>
              <a:rPr sz="800" b="1" i="0">
                <a:solidFill>
                  <a:srgbClr val="00ABCF"/>
                </a:solidFill>
                <a:latin typeface="Arial"/>
              </a:rPr>
              <a:t>● </a:t>
            </a:r>
            <a:r>
              <a:rPr sz="1350" b="0" i="0">
                <a:solidFill>
                  <a:srgbClr val="525252"/>
                </a:solidFill>
                <a:latin typeface="Arial"/>
              </a:rPr>
              <a:t>Works on any device</a:t>
            </a:r>
          </a:p>
          <a:p>
            <a:pPr>
              <a:lnSpc>
                <a:spcPct val="115000"/>
              </a:lnSpc>
              <a:spcAft>
                <a:spcPts val="900"/>
              </a:spcAft>
            </a:pPr>
            <a:r>
              <a:rPr sz="800" b="1" i="0">
                <a:solidFill>
                  <a:srgbClr val="00ABCF"/>
                </a:solidFill>
                <a:latin typeface="Arial"/>
              </a:rPr>
              <a:t>● </a:t>
            </a:r>
            <a:r>
              <a:rPr sz="1350" b="0" i="0">
                <a:solidFill>
                  <a:srgbClr val="525252"/>
                </a:solidFill>
                <a:latin typeface="Arial"/>
              </a:rPr>
              <a:t>Works in seven languages</a:t>
            </a:r>
          </a:p>
          <a:p>
            <a:pPr>
              <a:lnSpc>
                <a:spcPct val="115000"/>
              </a:lnSpc>
              <a:spcAft>
                <a:spcPts val="900"/>
              </a:spcAft>
            </a:pPr>
            <a:r>
              <a:rPr sz="800" b="1" i="0">
                <a:solidFill>
                  <a:srgbClr val="00ABCF"/>
                </a:solidFill>
                <a:latin typeface="Arial"/>
              </a:rPr>
              <a:t>● </a:t>
            </a:r>
            <a:r>
              <a:rPr sz="1350" b="0" i="0">
                <a:solidFill>
                  <a:srgbClr val="525252"/>
                </a:solidFill>
                <a:latin typeface="Arial"/>
              </a:rPr>
              <a:t>Easy for Google to read</a:t>
            </a:r>
          </a:p>
        </p:txBody>
      </p:sp>
      <p:sp>
        <p:nvSpPr>
          <p:cNvPr id="10" name="Rectangle 9"/>
          <p:cNvSpPr/>
          <p:nvPr/>
        </p:nvSpPr>
        <p:spPr>
          <a:xfrm>
            <a:off x="658368" y="5120640"/>
            <a:ext cx="10874959" cy="804672"/>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58368" y="5120640"/>
            <a:ext cx="54864" cy="8046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5266944"/>
            <a:ext cx="10372039" cy="530352"/>
          </a:xfrm>
          <a:prstGeom prst="rect">
            <a:avLst/>
          </a:prstGeom>
          <a:noFill/>
        </p:spPr>
        <p:txBody>
          <a:bodyPr wrap="square" anchor="ctr" lIns="0" rIns="0" tIns="0" bIns="0">
            <a:spAutoFit/>
          </a:bodyPr>
          <a:lstStyle/>
          <a:p>
            <a:pPr algn="l">
              <a:lnSpc>
                <a:spcPct val="120000"/>
              </a:lnSpc>
            </a:pPr>
            <a:r>
              <a:rPr sz="1250" b="1" i="0">
                <a:solidFill>
                  <a:srgbClr val="17375F"/>
                </a:solidFill>
                <a:latin typeface="Arial"/>
              </a:rPr>
              <a:t>What we replaced:  </a:t>
            </a:r>
            <a:r>
              <a:rPr sz="1250" b="0" i="0">
                <a:solidFill>
                  <a:srgbClr val="404040"/>
                </a:solidFill>
                <a:latin typeface="Arial"/>
              </a:rPr>
              <a:t>a WordPress site of mostly English pages, whose four best-read items were PDF guides. Seven languages, a registration form and a measurable presence in Google are all new.</a:t>
            </a:r>
          </a:p>
        </p:txBody>
      </p:sp>
      <p:sp>
        <p:nvSpPr>
          <p:cNvPr id="13" name="TextBox 12"/>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Source: project readme</a:t>
            </a:r>
          </a:p>
        </p:txBody>
      </p:sp>
      <p:sp>
        <p:nvSpPr>
          <p:cNvPr id="14" name="TextBox 13"/>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BACKGROUND</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Who we built it for</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We ranked five groups by who mattered most at the time. Newly diagnosed parents came first.</a:t>
            </a:r>
          </a:p>
        </p:txBody>
      </p:sp>
      <p:sp>
        <p:nvSpPr>
          <p:cNvPr id="6" name="TextBox 5"/>
          <p:cNvSpPr txBox="1"/>
          <p:nvPr/>
        </p:nvSpPr>
        <p:spPr>
          <a:xfrm>
            <a:off x="658368" y="2048256"/>
            <a:ext cx="5437479" cy="274320"/>
          </a:xfrm>
          <a:prstGeom prst="rect">
            <a:avLst/>
          </a:prstGeom>
          <a:noFill/>
        </p:spPr>
        <p:txBody>
          <a:bodyPr wrap="square" anchor="t" lIns="0" rIns="0" tIns="0" bIns="0">
            <a:spAutoFit/>
          </a:bodyPr>
          <a:lstStyle/>
          <a:p>
            <a:pPr algn="l"/>
            <a:r>
              <a:rPr sz="900" b="1" i="0">
                <a:solidFill>
                  <a:srgbClr val="00819C"/>
                </a:solidFill>
                <a:latin typeface="Arial"/>
              </a:rPr>
              <a:t>MOST VALUABLE TO REACH RIGHT NOW</a:t>
            </a:r>
          </a:p>
        </p:txBody>
      </p:sp>
      <p:sp>
        <p:nvSpPr>
          <p:cNvPr id="7" name="TextBox 6"/>
          <p:cNvSpPr txBox="1"/>
          <p:nvPr/>
        </p:nvSpPr>
        <p:spPr>
          <a:xfrm>
            <a:off x="6095847" y="2048256"/>
            <a:ext cx="5437479" cy="274320"/>
          </a:xfrm>
          <a:prstGeom prst="rect">
            <a:avLst/>
          </a:prstGeom>
          <a:noFill/>
        </p:spPr>
        <p:txBody>
          <a:bodyPr wrap="square" anchor="t" lIns="0" rIns="0" tIns="0" bIns="0">
            <a:spAutoFit/>
          </a:bodyPr>
          <a:lstStyle/>
          <a:p>
            <a:pPr algn="r"/>
            <a:r>
              <a:rPr sz="900" b="1" i="0">
                <a:solidFill>
                  <a:srgbClr val="A3A3A3"/>
                </a:solidFill>
                <a:latin typeface="Arial"/>
              </a:rPr>
              <a:t>IMPORTANT, BUT LATER</a:t>
            </a:r>
          </a:p>
        </p:txBody>
      </p:sp>
      <p:sp>
        <p:nvSpPr>
          <p:cNvPr id="8" name="Rectangle 7"/>
          <p:cNvSpPr/>
          <p:nvPr/>
        </p:nvSpPr>
        <p:spPr>
          <a:xfrm>
            <a:off x="658368" y="2322576"/>
            <a:ext cx="10874959" cy="32004"/>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400842" y="2322576"/>
            <a:ext cx="4132484" cy="3200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8368" y="2551176"/>
            <a:ext cx="2057948" cy="27889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58368" y="2551176"/>
            <a:ext cx="2057948" cy="7315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 y="2788920"/>
            <a:ext cx="1765340" cy="274320"/>
          </a:xfrm>
          <a:prstGeom prst="rect">
            <a:avLst/>
          </a:prstGeom>
          <a:noFill/>
        </p:spPr>
        <p:txBody>
          <a:bodyPr wrap="square" anchor="t" lIns="0" rIns="0" tIns="0" bIns="0">
            <a:spAutoFit/>
          </a:bodyPr>
          <a:lstStyle/>
          <a:p>
            <a:pPr algn="l"/>
            <a:r>
              <a:rPr sz="950" b="1" i="0">
                <a:solidFill>
                  <a:srgbClr val="A3A3A3"/>
                </a:solidFill>
                <a:latin typeface="Arial"/>
              </a:rPr>
              <a:t>1st</a:t>
            </a:r>
          </a:p>
        </p:txBody>
      </p:sp>
      <p:sp>
        <p:nvSpPr>
          <p:cNvPr id="13" name="TextBox 12"/>
          <p:cNvSpPr txBox="1"/>
          <p:nvPr/>
        </p:nvSpPr>
        <p:spPr>
          <a:xfrm>
            <a:off x="804672" y="3063240"/>
            <a:ext cx="1765340" cy="566928"/>
          </a:xfrm>
          <a:prstGeom prst="rect">
            <a:avLst/>
          </a:prstGeom>
          <a:noFill/>
        </p:spPr>
        <p:txBody>
          <a:bodyPr wrap="square" anchor="t" lIns="0" rIns="0" tIns="0" bIns="0">
            <a:spAutoFit/>
          </a:bodyPr>
          <a:lstStyle/>
          <a:p>
            <a:pPr algn="l">
              <a:lnSpc>
                <a:spcPct val="105000"/>
              </a:lnSpc>
            </a:pPr>
            <a:r>
              <a:rPr sz="1400" b="1" i="0">
                <a:solidFill>
                  <a:srgbClr val="0D1F36"/>
                </a:solidFill>
                <a:latin typeface="Arial"/>
              </a:rPr>
              <a:t>Newly diagnosed parents</a:t>
            </a:r>
          </a:p>
        </p:txBody>
      </p:sp>
      <p:sp>
        <p:nvSpPr>
          <p:cNvPr id="14" name="TextBox 13"/>
          <p:cNvSpPr txBox="1"/>
          <p:nvPr/>
        </p:nvSpPr>
        <p:spPr>
          <a:xfrm>
            <a:off x="804672" y="3685032"/>
            <a:ext cx="1765340" cy="1143000"/>
          </a:xfrm>
          <a:prstGeom prst="rect">
            <a:avLst/>
          </a:prstGeom>
          <a:noFill/>
        </p:spPr>
        <p:txBody>
          <a:bodyPr wrap="square" anchor="t" lIns="0" rIns="0" tIns="0" bIns="0">
            <a:spAutoFit/>
          </a:bodyPr>
          <a:lstStyle/>
          <a:p>
            <a:pPr algn="l">
              <a:lnSpc>
                <a:spcPct val="118000"/>
              </a:lnSpc>
            </a:pPr>
            <a:r>
              <a:rPr sz="1050" b="0" i="1">
                <a:solidFill>
                  <a:srgbClr val="525252"/>
                </a:solidFill>
                <a:latin typeface="Arial"/>
              </a:rPr>
              <a:t>"I have just been given this diagnosis. I need to understand it, so I can take the right steps for my child."</a:t>
            </a:r>
          </a:p>
        </p:txBody>
      </p:sp>
      <p:sp>
        <p:nvSpPr>
          <p:cNvPr id="15" name="Rectangle 14"/>
          <p:cNvSpPr/>
          <p:nvPr/>
        </p:nvSpPr>
        <p:spPr>
          <a:xfrm>
            <a:off x="804672" y="4837176"/>
            <a:ext cx="1765340" cy="1371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 y="4946904"/>
            <a:ext cx="1765340" cy="329184"/>
          </a:xfrm>
          <a:prstGeom prst="rect">
            <a:avLst/>
          </a:prstGeom>
          <a:noFill/>
        </p:spPr>
        <p:txBody>
          <a:bodyPr wrap="square" anchor="t" lIns="0" rIns="0" tIns="0" bIns="0">
            <a:spAutoFit/>
          </a:bodyPr>
          <a:lstStyle/>
          <a:p>
            <a:pPr algn="l">
              <a:lnSpc>
                <a:spcPct val="110000"/>
              </a:lnSpc>
            </a:pPr>
            <a:r>
              <a:rPr sz="950" b="0" i="0">
                <a:solidFill>
                  <a:srgbClr val="737373"/>
                </a:solidFill>
                <a:latin typeface="Arial"/>
              </a:rPr>
              <a:t>We need them to: </a:t>
            </a:r>
            <a:r>
              <a:rPr sz="950" b="1" i="0">
                <a:solidFill>
                  <a:srgbClr val="00819C"/>
                </a:solidFill>
                <a:latin typeface="Arial"/>
              </a:rPr>
              <a:t>Join the patient registry</a:t>
            </a:r>
          </a:p>
        </p:txBody>
      </p:sp>
      <p:sp>
        <p:nvSpPr>
          <p:cNvPr id="17" name="Rectangle 16"/>
          <p:cNvSpPr/>
          <p:nvPr/>
        </p:nvSpPr>
        <p:spPr>
          <a:xfrm>
            <a:off x="2862620" y="2551176"/>
            <a:ext cx="2057948" cy="27889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862620" y="2551176"/>
            <a:ext cx="2057948" cy="73152"/>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08924" y="2788920"/>
            <a:ext cx="1765340" cy="274320"/>
          </a:xfrm>
          <a:prstGeom prst="rect">
            <a:avLst/>
          </a:prstGeom>
          <a:noFill/>
        </p:spPr>
        <p:txBody>
          <a:bodyPr wrap="square" anchor="t" lIns="0" rIns="0" tIns="0" bIns="0">
            <a:spAutoFit/>
          </a:bodyPr>
          <a:lstStyle/>
          <a:p>
            <a:pPr algn="l"/>
            <a:r>
              <a:rPr sz="950" b="1" i="0">
                <a:solidFill>
                  <a:srgbClr val="A3A3A3"/>
                </a:solidFill>
                <a:latin typeface="Arial"/>
              </a:rPr>
              <a:t>2nd</a:t>
            </a:r>
          </a:p>
        </p:txBody>
      </p:sp>
      <p:sp>
        <p:nvSpPr>
          <p:cNvPr id="20" name="TextBox 19"/>
          <p:cNvSpPr txBox="1"/>
          <p:nvPr/>
        </p:nvSpPr>
        <p:spPr>
          <a:xfrm>
            <a:off x="3008924" y="3063240"/>
            <a:ext cx="1765340" cy="566928"/>
          </a:xfrm>
          <a:prstGeom prst="rect">
            <a:avLst/>
          </a:prstGeom>
          <a:noFill/>
        </p:spPr>
        <p:txBody>
          <a:bodyPr wrap="square" anchor="t" lIns="0" rIns="0" tIns="0" bIns="0">
            <a:spAutoFit/>
          </a:bodyPr>
          <a:lstStyle/>
          <a:p>
            <a:pPr algn="l">
              <a:lnSpc>
                <a:spcPct val="105000"/>
              </a:lnSpc>
            </a:pPr>
            <a:r>
              <a:rPr sz="1400" b="1" i="0">
                <a:solidFill>
                  <a:srgbClr val="0D1F36"/>
                </a:solidFill>
                <a:latin typeface="Arial"/>
              </a:rPr>
              <a:t>Families we already know</a:t>
            </a:r>
          </a:p>
        </p:txBody>
      </p:sp>
      <p:sp>
        <p:nvSpPr>
          <p:cNvPr id="21" name="TextBox 20"/>
          <p:cNvSpPr txBox="1"/>
          <p:nvPr/>
        </p:nvSpPr>
        <p:spPr>
          <a:xfrm>
            <a:off x="3008924" y="3685032"/>
            <a:ext cx="1765340" cy="1143000"/>
          </a:xfrm>
          <a:prstGeom prst="rect">
            <a:avLst/>
          </a:prstGeom>
          <a:noFill/>
        </p:spPr>
        <p:txBody>
          <a:bodyPr wrap="square" anchor="t" lIns="0" rIns="0" tIns="0" bIns="0">
            <a:spAutoFit/>
          </a:bodyPr>
          <a:lstStyle/>
          <a:p>
            <a:pPr algn="l">
              <a:lnSpc>
                <a:spcPct val="118000"/>
              </a:lnSpc>
            </a:pPr>
            <a:r>
              <a:rPr sz="1050" b="0" i="1">
                <a:solidFill>
                  <a:srgbClr val="525252"/>
                </a:solidFill>
                <a:latin typeface="Arial"/>
              </a:rPr>
              <a:t>"I need to keep up with the latest research and news, so I can find treatment for my child."</a:t>
            </a:r>
          </a:p>
        </p:txBody>
      </p:sp>
      <p:sp>
        <p:nvSpPr>
          <p:cNvPr id="22" name="Rectangle 21"/>
          <p:cNvSpPr/>
          <p:nvPr/>
        </p:nvSpPr>
        <p:spPr>
          <a:xfrm>
            <a:off x="3008924" y="4837176"/>
            <a:ext cx="1765340" cy="1371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008924" y="4946904"/>
            <a:ext cx="1765340" cy="329184"/>
          </a:xfrm>
          <a:prstGeom prst="rect">
            <a:avLst/>
          </a:prstGeom>
          <a:noFill/>
        </p:spPr>
        <p:txBody>
          <a:bodyPr wrap="square" anchor="t" lIns="0" rIns="0" tIns="0" bIns="0">
            <a:spAutoFit/>
          </a:bodyPr>
          <a:lstStyle/>
          <a:p>
            <a:pPr algn="l">
              <a:lnSpc>
                <a:spcPct val="110000"/>
              </a:lnSpc>
            </a:pPr>
            <a:r>
              <a:rPr sz="950" b="0" i="0">
                <a:solidFill>
                  <a:srgbClr val="737373"/>
                </a:solidFill>
                <a:latin typeface="Arial"/>
              </a:rPr>
              <a:t>We need them to: </a:t>
            </a:r>
            <a:r>
              <a:rPr sz="950" b="1" i="0">
                <a:solidFill>
                  <a:srgbClr val="00819C"/>
                </a:solidFill>
                <a:latin typeface="Arial"/>
              </a:rPr>
              <a:t>Follow our news, and fundraise</a:t>
            </a:r>
          </a:p>
        </p:txBody>
      </p:sp>
      <p:sp>
        <p:nvSpPr>
          <p:cNvPr id="24" name="Rectangle 23"/>
          <p:cNvSpPr/>
          <p:nvPr/>
        </p:nvSpPr>
        <p:spPr>
          <a:xfrm>
            <a:off x="5066873" y="2551176"/>
            <a:ext cx="2057948" cy="27889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066873" y="2551176"/>
            <a:ext cx="2057948" cy="73152"/>
          </a:xfrm>
          <a:prstGeom prst="rect">
            <a:avLst/>
          </a:prstGeom>
          <a:solidFill>
            <a:srgbClr val="BAD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213177" y="2788920"/>
            <a:ext cx="1765340" cy="274320"/>
          </a:xfrm>
          <a:prstGeom prst="rect">
            <a:avLst/>
          </a:prstGeom>
          <a:noFill/>
        </p:spPr>
        <p:txBody>
          <a:bodyPr wrap="square" anchor="t" lIns="0" rIns="0" tIns="0" bIns="0">
            <a:spAutoFit/>
          </a:bodyPr>
          <a:lstStyle/>
          <a:p>
            <a:pPr algn="l"/>
            <a:r>
              <a:rPr sz="950" b="1" i="0">
                <a:solidFill>
                  <a:srgbClr val="A3A3A3"/>
                </a:solidFill>
                <a:latin typeface="Arial"/>
              </a:rPr>
              <a:t>3rd</a:t>
            </a:r>
          </a:p>
        </p:txBody>
      </p:sp>
      <p:sp>
        <p:nvSpPr>
          <p:cNvPr id="27" name="TextBox 26"/>
          <p:cNvSpPr txBox="1"/>
          <p:nvPr/>
        </p:nvSpPr>
        <p:spPr>
          <a:xfrm>
            <a:off x="5213177" y="3063240"/>
            <a:ext cx="1765340" cy="566928"/>
          </a:xfrm>
          <a:prstGeom prst="rect">
            <a:avLst/>
          </a:prstGeom>
          <a:noFill/>
        </p:spPr>
        <p:txBody>
          <a:bodyPr wrap="square" anchor="t" lIns="0" rIns="0" tIns="0" bIns="0">
            <a:spAutoFit/>
          </a:bodyPr>
          <a:lstStyle/>
          <a:p>
            <a:pPr algn="l">
              <a:lnSpc>
                <a:spcPct val="105000"/>
              </a:lnSpc>
            </a:pPr>
            <a:r>
              <a:rPr sz="1400" b="1" i="0">
                <a:solidFill>
                  <a:srgbClr val="0D1F36"/>
                </a:solidFill>
                <a:latin typeface="Arial"/>
              </a:rPr>
              <a:t>Supporters</a:t>
            </a:r>
          </a:p>
        </p:txBody>
      </p:sp>
      <p:sp>
        <p:nvSpPr>
          <p:cNvPr id="28" name="TextBox 27"/>
          <p:cNvSpPr txBox="1"/>
          <p:nvPr/>
        </p:nvSpPr>
        <p:spPr>
          <a:xfrm>
            <a:off x="5213177" y="3685032"/>
            <a:ext cx="1765340" cy="1143000"/>
          </a:xfrm>
          <a:prstGeom prst="rect">
            <a:avLst/>
          </a:prstGeom>
          <a:noFill/>
        </p:spPr>
        <p:txBody>
          <a:bodyPr wrap="square" anchor="t" lIns="0" rIns="0" tIns="0" bIns="0">
            <a:spAutoFit/>
          </a:bodyPr>
          <a:lstStyle/>
          <a:p>
            <a:pPr algn="l">
              <a:lnSpc>
                <a:spcPct val="118000"/>
              </a:lnSpc>
            </a:pPr>
            <a:r>
              <a:rPr sz="1050" b="0" i="1">
                <a:solidFill>
                  <a:srgbClr val="525252"/>
                </a:solidFill>
                <a:latin typeface="Arial"/>
              </a:rPr>
              <a:t>"I want to help people with BBSOAS. I need to know how."</a:t>
            </a:r>
          </a:p>
        </p:txBody>
      </p:sp>
      <p:sp>
        <p:nvSpPr>
          <p:cNvPr id="29" name="Rectangle 28"/>
          <p:cNvSpPr/>
          <p:nvPr/>
        </p:nvSpPr>
        <p:spPr>
          <a:xfrm>
            <a:off x="5213177" y="4837176"/>
            <a:ext cx="1765340" cy="1371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213177" y="4946904"/>
            <a:ext cx="1765340" cy="329184"/>
          </a:xfrm>
          <a:prstGeom prst="rect">
            <a:avLst/>
          </a:prstGeom>
          <a:noFill/>
        </p:spPr>
        <p:txBody>
          <a:bodyPr wrap="square" anchor="t" lIns="0" rIns="0" tIns="0" bIns="0">
            <a:spAutoFit/>
          </a:bodyPr>
          <a:lstStyle/>
          <a:p>
            <a:pPr algn="l">
              <a:lnSpc>
                <a:spcPct val="110000"/>
              </a:lnSpc>
            </a:pPr>
            <a:r>
              <a:rPr sz="950" b="0" i="0">
                <a:solidFill>
                  <a:srgbClr val="737373"/>
                </a:solidFill>
                <a:latin typeface="Arial"/>
              </a:rPr>
              <a:t>We need them to: </a:t>
            </a:r>
            <a:r>
              <a:rPr sz="950" b="1" i="0">
                <a:solidFill>
                  <a:srgbClr val="00819C"/>
                </a:solidFill>
                <a:latin typeface="Arial"/>
              </a:rPr>
              <a:t>Give regularly, not just once</a:t>
            </a:r>
          </a:p>
        </p:txBody>
      </p:sp>
      <p:sp>
        <p:nvSpPr>
          <p:cNvPr id="31" name="Rectangle 30"/>
          <p:cNvSpPr/>
          <p:nvPr/>
        </p:nvSpPr>
        <p:spPr>
          <a:xfrm>
            <a:off x="7271125" y="2551176"/>
            <a:ext cx="2057948" cy="27889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271125" y="2551176"/>
            <a:ext cx="2057948" cy="73152"/>
          </a:xfrm>
          <a:prstGeom prst="rect">
            <a:avLst/>
          </a:prstGeom>
          <a:solidFill>
            <a:srgbClr val="BAD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17429" y="2788920"/>
            <a:ext cx="1765340" cy="274320"/>
          </a:xfrm>
          <a:prstGeom prst="rect">
            <a:avLst/>
          </a:prstGeom>
          <a:noFill/>
        </p:spPr>
        <p:txBody>
          <a:bodyPr wrap="square" anchor="t" lIns="0" rIns="0" tIns="0" bIns="0">
            <a:spAutoFit/>
          </a:bodyPr>
          <a:lstStyle/>
          <a:p>
            <a:pPr algn="l"/>
            <a:r>
              <a:rPr sz="950" b="1" i="0">
                <a:solidFill>
                  <a:srgbClr val="A3A3A3"/>
                </a:solidFill>
                <a:latin typeface="Arial"/>
              </a:rPr>
              <a:t>3rd</a:t>
            </a:r>
          </a:p>
        </p:txBody>
      </p:sp>
      <p:sp>
        <p:nvSpPr>
          <p:cNvPr id="34" name="TextBox 33"/>
          <p:cNvSpPr txBox="1"/>
          <p:nvPr/>
        </p:nvSpPr>
        <p:spPr>
          <a:xfrm>
            <a:off x="7417429" y="3063240"/>
            <a:ext cx="1765340" cy="566928"/>
          </a:xfrm>
          <a:prstGeom prst="rect">
            <a:avLst/>
          </a:prstGeom>
          <a:noFill/>
        </p:spPr>
        <p:txBody>
          <a:bodyPr wrap="square" anchor="t" lIns="0" rIns="0" tIns="0" bIns="0">
            <a:spAutoFit/>
          </a:bodyPr>
          <a:lstStyle/>
          <a:p>
            <a:pPr algn="l">
              <a:lnSpc>
                <a:spcPct val="105000"/>
              </a:lnSpc>
            </a:pPr>
            <a:r>
              <a:rPr sz="1400" b="1" i="0">
                <a:solidFill>
                  <a:srgbClr val="0D1F36"/>
                </a:solidFill>
                <a:latin typeface="Arial"/>
              </a:rPr>
              <a:t>Doctors</a:t>
            </a:r>
          </a:p>
        </p:txBody>
      </p:sp>
      <p:sp>
        <p:nvSpPr>
          <p:cNvPr id="35" name="TextBox 34"/>
          <p:cNvSpPr txBox="1"/>
          <p:nvPr/>
        </p:nvSpPr>
        <p:spPr>
          <a:xfrm>
            <a:off x="7417429" y="3685032"/>
            <a:ext cx="1765340" cy="1143000"/>
          </a:xfrm>
          <a:prstGeom prst="rect">
            <a:avLst/>
          </a:prstGeom>
          <a:noFill/>
        </p:spPr>
        <p:txBody>
          <a:bodyPr wrap="square" anchor="t" lIns="0" rIns="0" tIns="0" bIns="0">
            <a:spAutoFit/>
          </a:bodyPr>
          <a:lstStyle/>
          <a:p>
            <a:pPr algn="l">
              <a:lnSpc>
                <a:spcPct val="118000"/>
              </a:lnSpc>
            </a:pPr>
            <a:r>
              <a:rPr sz="1050" b="0" i="1">
                <a:solidFill>
                  <a:srgbClr val="525252"/>
                </a:solidFill>
                <a:latin typeface="Arial"/>
              </a:rPr>
              <a:t>"I have just diagnosed a patient. I need to understand the condition, so I can care for them well."</a:t>
            </a:r>
          </a:p>
        </p:txBody>
      </p:sp>
      <p:sp>
        <p:nvSpPr>
          <p:cNvPr id="36" name="Rectangle 35"/>
          <p:cNvSpPr/>
          <p:nvPr/>
        </p:nvSpPr>
        <p:spPr>
          <a:xfrm>
            <a:off x="7417429" y="4837176"/>
            <a:ext cx="1765340" cy="1371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17429" y="4946904"/>
            <a:ext cx="1765340" cy="329184"/>
          </a:xfrm>
          <a:prstGeom prst="rect">
            <a:avLst/>
          </a:prstGeom>
          <a:noFill/>
        </p:spPr>
        <p:txBody>
          <a:bodyPr wrap="square" anchor="t" lIns="0" rIns="0" tIns="0" bIns="0">
            <a:spAutoFit/>
          </a:bodyPr>
          <a:lstStyle/>
          <a:p>
            <a:pPr algn="l">
              <a:lnSpc>
                <a:spcPct val="110000"/>
              </a:lnSpc>
            </a:pPr>
            <a:r>
              <a:rPr sz="950" b="0" i="0">
                <a:solidFill>
                  <a:srgbClr val="737373"/>
                </a:solidFill>
                <a:latin typeface="Arial"/>
              </a:rPr>
              <a:t>We need them to: </a:t>
            </a:r>
            <a:r>
              <a:rPr sz="950" b="1" i="0">
                <a:solidFill>
                  <a:srgbClr val="00819C"/>
                </a:solidFill>
                <a:latin typeface="Arial"/>
              </a:rPr>
              <a:t>Become a doctor we can recommend</a:t>
            </a:r>
          </a:p>
        </p:txBody>
      </p:sp>
      <p:sp>
        <p:nvSpPr>
          <p:cNvPr id="38" name="Rectangle 37"/>
          <p:cNvSpPr/>
          <p:nvPr/>
        </p:nvSpPr>
        <p:spPr>
          <a:xfrm>
            <a:off x="9475378" y="2551176"/>
            <a:ext cx="2057948" cy="27889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475378" y="2551176"/>
            <a:ext cx="2057948" cy="73152"/>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621682" y="2788920"/>
            <a:ext cx="1765340" cy="274320"/>
          </a:xfrm>
          <a:prstGeom prst="rect">
            <a:avLst/>
          </a:prstGeom>
          <a:noFill/>
        </p:spPr>
        <p:txBody>
          <a:bodyPr wrap="square" anchor="t" lIns="0" rIns="0" tIns="0" bIns="0">
            <a:spAutoFit/>
          </a:bodyPr>
          <a:lstStyle/>
          <a:p>
            <a:pPr algn="l"/>
            <a:r>
              <a:rPr sz="950" b="1" i="0">
                <a:solidFill>
                  <a:srgbClr val="A3A3A3"/>
                </a:solidFill>
                <a:latin typeface="Arial"/>
              </a:rPr>
              <a:t>5th</a:t>
            </a:r>
          </a:p>
        </p:txBody>
      </p:sp>
      <p:sp>
        <p:nvSpPr>
          <p:cNvPr id="41" name="TextBox 40"/>
          <p:cNvSpPr txBox="1"/>
          <p:nvPr/>
        </p:nvSpPr>
        <p:spPr>
          <a:xfrm>
            <a:off x="9621682" y="3063240"/>
            <a:ext cx="1765340" cy="566928"/>
          </a:xfrm>
          <a:prstGeom prst="rect">
            <a:avLst/>
          </a:prstGeom>
          <a:noFill/>
        </p:spPr>
        <p:txBody>
          <a:bodyPr wrap="square" anchor="t" lIns="0" rIns="0" tIns="0" bIns="0">
            <a:spAutoFit/>
          </a:bodyPr>
          <a:lstStyle/>
          <a:p>
            <a:pPr algn="l">
              <a:lnSpc>
                <a:spcPct val="105000"/>
              </a:lnSpc>
            </a:pPr>
            <a:r>
              <a:rPr sz="1400" b="1" i="0">
                <a:solidFill>
                  <a:srgbClr val="0D1F36"/>
                </a:solidFill>
                <a:latin typeface="Arial"/>
              </a:rPr>
              <a:t>Researchers</a:t>
            </a:r>
          </a:p>
        </p:txBody>
      </p:sp>
      <p:sp>
        <p:nvSpPr>
          <p:cNvPr id="42" name="TextBox 41"/>
          <p:cNvSpPr txBox="1"/>
          <p:nvPr/>
        </p:nvSpPr>
        <p:spPr>
          <a:xfrm>
            <a:off x="9621682" y="3685032"/>
            <a:ext cx="1765340" cy="1143000"/>
          </a:xfrm>
          <a:prstGeom prst="rect">
            <a:avLst/>
          </a:prstGeom>
          <a:noFill/>
        </p:spPr>
        <p:txBody>
          <a:bodyPr wrap="square" anchor="t" lIns="0" rIns="0" tIns="0" bIns="0">
            <a:spAutoFit/>
          </a:bodyPr>
          <a:lstStyle/>
          <a:p>
            <a:pPr algn="l">
              <a:lnSpc>
                <a:spcPct val="118000"/>
              </a:lnSpc>
            </a:pPr>
            <a:r>
              <a:rPr sz="1050" b="0" i="1">
                <a:solidFill>
                  <a:srgbClr val="525252"/>
                </a:solidFill>
                <a:latin typeface="Arial"/>
              </a:rPr>
              <a:t>"I need to see what research is already under way, so I can take part."</a:t>
            </a:r>
          </a:p>
        </p:txBody>
      </p:sp>
      <p:sp>
        <p:nvSpPr>
          <p:cNvPr id="43" name="Rectangle 42"/>
          <p:cNvSpPr/>
          <p:nvPr/>
        </p:nvSpPr>
        <p:spPr>
          <a:xfrm>
            <a:off x="9621682" y="4837176"/>
            <a:ext cx="1765340" cy="1371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621682" y="4946904"/>
            <a:ext cx="1765340" cy="329184"/>
          </a:xfrm>
          <a:prstGeom prst="rect">
            <a:avLst/>
          </a:prstGeom>
          <a:noFill/>
        </p:spPr>
        <p:txBody>
          <a:bodyPr wrap="square" anchor="t" lIns="0" rIns="0" tIns="0" bIns="0">
            <a:spAutoFit/>
          </a:bodyPr>
          <a:lstStyle/>
          <a:p>
            <a:pPr algn="l">
              <a:lnSpc>
                <a:spcPct val="110000"/>
              </a:lnSpc>
            </a:pPr>
            <a:r>
              <a:rPr sz="950" b="0" i="0">
                <a:solidFill>
                  <a:srgbClr val="737373"/>
                </a:solidFill>
                <a:latin typeface="Arial"/>
              </a:rPr>
              <a:t>We need them to: </a:t>
            </a:r>
            <a:r>
              <a:rPr sz="950" b="1" i="0">
                <a:solidFill>
                  <a:srgbClr val="00819C"/>
                </a:solidFill>
                <a:latin typeface="Arial"/>
              </a:rPr>
              <a:t>Use our data and our patient numbers</a:t>
            </a:r>
          </a:p>
        </p:txBody>
      </p:sp>
      <p:sp>
        <p:nvSpPr>
          <p:cNvPr id="45" name="TextBox 44"/>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Source: discovery workshop with the Foundation. Every number in this deck belongs to one of these five people.</a:t>
            </a:r>
          </a:p>
        </p:txBody>
      </p:sp>
      <p:sp>
        <p:nvSpPr>
          <p:cNvPr id="46" name="TextBox 4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BACKGROUND</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What we can compare, and what we cannot</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We cannot get into the old site's analytics. So "before and after" means something different depending on the source.</a:t>
            </a:r>
          </a:p>
        </p:txBody>
      </p:sp>
      <p:graphicFrame>
        <p:nvGraphicFramePr>
          <p:cNvPr id="6" name="Table 5"/>
          <p:cNvGraphicFramePr>
            <a:graphicFrameLocks noGrp="1"/>
          </p:cNvGraphicFramePr>
          <p:nvPr/>
        </p:nvGraphicFramePr>
        <p:xfrm>
          <a:off x="658368" y="2139696"/>
          <a:ext cx="10874956" cy="2377440"/>
        </p:xfrm>
        <a:graphic>
          <a:graphicData uri="http://schemas.openxmlformats.org/drawingml/2006/table">
            <a:tbl>
              <a:tblPr firstRow="1">
                <a:tableStyleId>{5C22544A-7EE6-4342-B048-85BDC9FD1C3A}</a:tableStyleId>
              </a:tblPr>
              <a:tblGrid>
                <a:gridCol w="2426643"/>
                <a:gridCol w="2696270"/>
                <a:gridCol w="2157016"/>
                <a:gridCol w="3595027"/>
              </a:tblGrid>
              <a:tr h="475488">
                <a:tc>
                  <a:txBody>
                    <a:bodyPr wrap="square"/>
                    <a:lstStyle/>
                    <a:p>
                      <a:r>
                        <a:rPr sz="1100" b="1" i="0">
                          <a:solidFill>
                            <a:srgbClr val="FFFFFF"/>
                          </a:solidFill>
                          <a:latin typeface="Arial"/>
                        </a:rPr>
                        <a:t>Where the data comes from</a:t>
                      </a:r>
                    </a:p>
                  </a:txBody>
                  <a:tcPr marL="109728" marR="73152" marT="45720" marB="45720" anchor="ctr">
                    <a:solidFill>
                      <a:srgbClr val="17375F"/>
                    </a:solidFill>
                  </a:tcPr>
                </a:tc>
                <a:tc>
                  <a:txBody>
                    <a:bodyPr wrap="square"/>
                    <a:lstStyle/>
                    <a:p>
                      <a:pPr algn="r"/>
                      <a:r>
                        <a:rPr sz="1100" b="1" i="0">
                          <a:solidFill>
                            <a:srgbClr val="FFFFFF"/>
                          </a:solidFill>
                          <a:latin typeface="Arial"/>
                        </a:rPr>
                        <a:t>Before</a:t>
                      </a:r>
                    </a:p>
                  </a:txBody>
                  <a:tcPr marL="109728" marR="73152" marT="45720" marB="45720" anchor="ctr">
                    <a:solidFill>
                      <a:srgbClr val="17375F"/>
                    </a:solidFill>
                  </a:tcPr>
                </a:tc>
                <a:tc>
                  <a:txBody>
                    <a:bodyPr wrap="square"/>
                    <a:lstStyle/>
                    <a:p>
                      <a:pPr algn="r"/>
                      <a:r>
                        <a:rPr sz="1100" b="1" i="0">
                          <a:solidFill>
                            <a:srgbClr val="FFFFFF"/>
                          </a:solidFill>
                          <a:latin typeface="Arial"/>
                        </a:rPr>
                        <a:t>After</a:t>
                      </a:r>
                    </a:p>
                  </a:txBody>
                  <a:tcPr marL="109728" marR="73152" marT="45720" marB="45720" anchor="ctr">
                    <a:solidFill>
                      <a:srgbClr val="17375F"/>
                    </a:solidFill>
                  </a:tcPr>
                </a:tc>
                <a:tc>
                  <a:txBody>
                    <a:bodyPr wrap="square"/>
                    <a:lstStyle/>
                    <a:p>
                      <a:pPr algn="r"/>
                      <a:r>
                        <a:rPr sz="1100" b="1" i="0">
                          <a:solidFill>
                            <a:srgbClr val="FFFFFF"/>
                          </a:solidFill>
                          <a:latin typeface="Arial"/>
                        </a:rPr>
                        <a:t>Can we compare it?</a:t>
                      </a:r>
                    </a:p>
                  </a:txBody>
                  <a:tcPr marL="109728" marR="73152" marT="45720" marB="45720" anchor="ctr">
                    <a:solidFill>
                      <a:srgbClr val="17375F"/>
                    </a:solidFill>
                  </a:tcPr>
                </a:tc>
              </a:tr>
              <a:tr h="475488">
                <a:tc>
                  <a:txBody>
                    <a:bodyPr wrap="square"/>
                    <a:lstStyle/>
                    <a:p>
                      <a:r>
                        <a:rPr sz="1150" b="0" i="0">
                          <a:solidFill>
                            <a:srgbClr val="404040"/>
                          </a:solidFill>
                          <a:latin typeface="Arial"/>
                        </a:rPr>
                        <a:t>Google Search</a:t>
                      </a:r>
                    </a:p>
                  </a:txBody>
                  <a:tcPr marL="109728" marR="73152" marT="36576" marB="36576" anchor="ctr">
                    <a:solidFill>
                      <a:srgbClr val="FFFFFF"/>
                    </a:solidFill>
                  </a:tcPr>
                </a:tc>
                <a:tc>
                  <a:txBody>
                    <a:bodyPr wrap="square"/>
                    <a:lstStyle/>
                    <a:p>
                      <a:pPr algn="r"/>
                      <a:r>
                        <a:rPr sz="1150" b="0" i="0">
                          <a:solidFill>
                            <a:srgbClr val="404040"/>
                          </a:solidFill>
                          <a:latin typeface="Arial"/>
                        </a:rPr>
                        <a:t>Old site, 4 May to 20 Sep 2025</a:t>
                      </a:r>
                    </a:p>
                  </a:txBody>
                  <a:tcPr marL="109728" marR="73152" marT="36576" marB="36576" anchor="ctr">
                    <a:solidFill>
                      <a:srgbClr val="FFFFFF"/>
                    </a:solidFill>
                  </a:tcPr>
                </a:tc>
                <a:tc>
                  <a:txBody>
                    <a:bodyPr wrap="square"/>
                    <a:lstStyle/>
                    <a:p>
                      <a:pPr algn="r"/>
                      <a:r>
                        <a:rPr sz="1150" b="0" i="0">
                          <a:solidFill>
                            <a:srgbClr val="404040"/>
                          </a:solidFill>
                          <a:latin typeface="Arial"/>
                        </a:rPr>
                        <a:t>New site, 358 days</a:t>
                      </a:r>
                    </a:p>
                  </a:txBody>
                  <a:tcPr marL="109728" marR="73152" marT="36576" marB="36576" anchor="ctr">
                    <a:solidFill>
                      <a:srgbClr val="FFFFFF"/>
                    </a:solidFill>
                  </a:tcPr>
                </a:tc>
                <a:tc>
                  <a:txBody>
                    <a:bodyPr wrap="square"/>
                    <a:lstStyle/>
                    <a:p>
                      <a:pPr algn="r"/>
                      <a:r>
                        <a:rPr sz="1150" b="0" i="0">
                          <a:solidFill>
                            <a:srgbClr val="404040"/>
                          </a:solidFill>
                          <a:latin typeface="Arial"/>
                        </a:rPr>
                        <a:t>Yes — same web address, measured by Google</a:t>
                      </a:r>
                    </a:p>
                  </a:txBody>
                  <a:tcPr marL="109728" marR="73152" marT="36576" marB="36576" anchor="ctr">
                    <a:solidFill>
                      <a:srgbClr val="FFFFFF"/>
                    </a:solidFill>
                  </a:tcPr>
                </a:tc>
              </a:tr>
              <a:tr h="475488">
                <a:tc>
                  <a:txBody>
                    <a:bodyPr wrap="square"/>
                    <a:lstStyle/>
                    <a:p>
                      <a:r>
                        <a:rPr sz="1150" b="0" i="0">
                          <a:solidFill>
                            <a:srgbClr val="404040"/>
                          </a:solidFill>
                          <a:latin typeface="Arial"/>
                        </a:rPr>
                        <a:t>Family registrations</a:t>
                      </a:r>
                    </a:p>
                  </a:txBody>
                  <a:tcPr marL="109728" marR="73152" marT="36576" marB="36576" anchor="ctr">
                    <a:solidFill>
                      <a:srgbClr val="F5F5F5"/>
                    </a:solidFill>
                  </a:tcPr>
                </a:tc>
                <a:tc>
                  <a:txBody>
                    <a:bodyPr wrap="square"/>
                    <a:lstStyle/>
                    <a:p>
                      <a:pPr algn="r"/>
                      <a:r>
                        <a:rPr sz="1150" b="0" i="0">
                          <a:solidFill>
                            <a:srgbClr val="404040"/>
                          </a:solidFill>
                          <a:latin typeface="Arial"/>
                        </a:rPr>
                        <a:t>Sep 2024 to Sep 2025</a:t>
                      </a:r>
                    </a:p>
                  </a:txBody>
                  <a:tcPr marL="109728" marR="73152" marT="36576" marB="36576" anchor="ctr">
                    <a:solidFill>
                      <a:srgbClr val="F5F5F5"/>
                    </a:solidFill>
                  </a:tcPr>
                </a:tc>
                <a:tc>
                  <a:txBody>
                    <a:bodyPr wrap="square"/>
                    <a:lstStyle/>
                    <a:p>
                      <a:pPr algn="r"/>
                      <a:r>
                        <a:rPr sz="1150" b="0" i="0">
                          <a:solidFill>
                            <a:srgbClr val="404040"/>
                          </a:solidFill>
                          <a:latin typeface="Arial"/>
                        </a:rPr>
                        <a:t>Sep 2025 to Sep 2026</a:t>
                      </a:r>
                    </a:p>
                  </a:txBody>
                  <a:tcPr marL="109728" marR="73152" marT="36576" marB="36576" anchor="ctr">
                    <a:solidFill>
                      <a:srgbClr val="F5F5F5"/>
                    </a:solidFill>
                  </a:tcPr>
                </a:tc>
                <a:tc>
                  <a:txBody>
                    <a:bodyPr wrap="square"/>
                    <a:lstStyle/>
                    <a:p>
                      <a:pPr algn="r"/>
                      <a:r>
                        <a:rPr sz="1150" b="0" i="0">
                          <a:solidFill>
                            <a:srgbClr val="404040"/>
                          </a:solidFill>
                          <a:latin typeface="Arial"/>
                        </a:rPr>
                        <a:t>Yes — same record, same database</a:t>
                      </a:r>
                    </a:p>
                  </a:txBody>
                  <a:tcPr marL="109728" marR="73152" marT="36576" marB="36576" anchor="ctr">
                    <a:solidFill>
                      <a:srgbClr val="F5F5F5"/>
                    </a:solidFill>
                  </a:tcPr>
                </a:tc>
              </a:tr>
              <a:tr h="475488">
                <a:tc>
                  <a:txBody>
                    <a:bodyPr wrap="square"/>
                    <a:lstStyle/>
                    <a:p>
                      <a:r>
                        <a:rPr sz="1150" b="0" i="0">
                          <a:solidFill>
                            <a:srgbClr val="404040"/>
                          </a:solidFill>
                          <a:latin typeface="Arial"/>
                        </a:rPr>
                        <a:t>Donations</a:t>
                      </a:r>
                    </a:p>
                  </a:txBody>
                  <a:tcPr marL="109728" marR="73152" marT="36576" marB="36576" anchor="ctr">
                    <a:solidFill>
                      <a:srgbClr val="FFFFFF"/>
                    </a:solidFill>
                  </a:tcPr>
                </a:tc>
                <a:tc>
                  <a:txBody>
                    <a:bodyPr wrap="square"/>
                    <a:lstStyle/>
                    <a:p>
                      <a:pPr algn="r"/>
                      <a:r>
                        <a:rPr sz="1150" b="0" i="0">
                          <a:solidFill>
                            <a:srgbClr val="404040"/>
                          </a:solidFill>
                          <a:latin typeface="Arial"/>
                        </a:rPr>
                        <a:t>Contacts added the year before</a:t>
                      </a:r>
                    </a:p>
                  </a:txBody>
                  <a:tcPr marL="109728" marR="73152" marT="36576" marB="36576" anchor="ctr">
                    <a:solidFill>
                      <a:srgbClr val="FFFFFF"/>
                    </a:solidFill>
                  </a:tcPr>
                </a:tc>
                <a:tc>
                  <a:txBody>
                    <a:bodyPr wrap="square"/>
                    <a:lstStyle/>
                    <a:p>
                      <a:pPr algn="r"/>
                      <a:r>
                        <a:rPr sz="1150" b="0" i="0">
                          <a:solidFill>
                            <a:srgbClr val="404040"/>
                          </a:solidFill>
                          <a:latin typeface="Arial"/>
                        </a:rPr>
                        <a:t>Contacts added in year one</a:t>
                      </a:r>
                    </a:p>
                  </a:txBody>
                  <a:tcPr marL="109728" marR="73152" marT="36576" marB="36576" anchor="ctr">
                    <a:solidFill>
                      <a:srgbClr val="FFFFFF"/>
                    </a:solidFill>
                  </a:tcPr>
                </a:tc>
                <a:tc>
                  <a:txBody>
                    <a:bodyPr wrap="square"/>
                    <a:lstStyle/>
                    <a:p>
                      <a:pPr algn="r"/>
                      <a:r>
                        <a:rPr sz="1150" b="0" i="0">
                          <a:solidFill>
                            <a:srgbClr val="404040"/>
                          </a:solidFill>
                          <a:latin typeface="Arial"/>
                        </a:rPr>
                        <a:t>Counts yes. Amounts are lifetime totals, so treat with care</a:t>
                      </a:r>
                    </a:p>
                  </a:txBody>
                  <a:tcPr marL="109728" marR="73152" marT="36576" marB="36576" anchor="ctr">
                    <a:solidFill>
                      <a:srgbClr val="FFFFFF"/>
                    </a:solidFill>
                  </a:tcPr>
                </a:tc>
              </a:tr>
              <a:tr h="475488">
                <a:tc>
                  <a:txBody>
                    <a:bodyPr wrap="square"/>
                    <a:lstStyle/>
                    <a:p>
                      <a:r>
                        <a:rPr sz="1150" b="0" i="0">
                          <a:solidFill>
                            <a:srgbClr val="404040"/>
                          </a:solidFill>
                          <a:latin typeface="Arial"/>
                        </a:rPr>
                        <a:t>Website visits</a:t>
                      </a:r>
                    </a:p>
                  </a:txBody>
                  <a:tcPr marL="109728" marR="73152" marT="36576" marB="36576" anchor="ctr">
                    <a:solidFill>
                      <a:srgbClr val="F5F5F5"/>
                    </a:solidFill>
                  </a:tcPr>
                </a:tc>
                <a:tc>
                  <a:txBody>
                    <a:bodyPr wrap="square"/>
                    <a:lstStyle/>
                    <a:p>
                      <a:pPr algn="r"/>
                      <a:r>
                        <a:rPr sz="1150" b="0" i="0">
                          <a:solidFill>
                            <a:srgbClr val="404040"/>
                          </a:solidFill>
                          <a:latin typeface="Arial"/>
                        </a:rPr>
                        <a:t>Old analytics exist, but no one can log in</a:t>
                      </a:r>
                    </a:p>
                  </a:txBody>
                  <a:tcPr marL="109728" marR="73152" marT="36576" marB="36576" anchor="ctr">
                    <a:solidFill>
                      <a:srgbClr val="F5F5F5"/>
                    </a:solidFill>
                  </a:tcPr>
                </a:tc>
                <a:tc>
                  <a:txBody>
                    <a:bodyPr wrap="square"/>
                    <a:lstStyle/>
                    <a:p>
                      <a:pPr algn="r"/>
                      <a:r>
                        <a:rPr sz="1150" b="0" i="0">
                          <a:solidFill>
                            <a:srgbClr val="404040"/>
                          </a:solidFill>
                          <a:latin typeface="Arial"/>
                        </a:rPr>
                        <a:t>Year one only</a:t>
                      </a:r>
                    </a:p>
                  </a:txBody>
                  <a:tcPr marL="109728" marR="73152" marT="36576" marB="36576" anchor="ctr">
                    <a:solidFill>
                      <a:srgbClr val="F5F5F5"/>
                    </a:solidFill>
                  </a:tcPr>
                </a:tc>
                <a:tc>
                  <a:txBody>
                    <a:bodyPr wrap="square"/>
                    <a:lstStyle/>
                    <a:p>
                      <a:pPr algn="r"/>
                      <a:r>
                        <a:rPr sz="1150" b="0" i="0">
                          <a:solidFill>
                            <a:srgbClr val="404040"/>
                          </a:solidFill>
                          <a:latin typeface="Arial"/>
                        </a:rPr>
                        <a:t>No — the baseline is there, we just cannot reach it</a:t>
                      </a:r>
                    </a:p>
                  </a:txBody>
                  <a:tcPr marL="109728" marR="73152" marT="36576" marB="36576" anchor="ctr">
                    <a:solidFill>
                      <a:srgbClr val="F5F5F5"/>
                    </a:solidFill>
                  </a:tcPr>
                </a:tc>
              </a:tr>
            </a:tbl>
          </a:graphicData>
        </a:graphic>
      </p:graphicFrame>
      <p:sp>
        <p:nvSpPr>
          <p:cNvPr id="7" name="Rectangle 6"/>
          <p:cNvSpPr/>
          <p:nvPr/>
        </p:nvSpPr>
        <p:spPr>
          <a:xfrm>
            <a:off x="658368" y="4700016"/>
            <a:ext cx="10874959" cy="82296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58368" y="4700016"/>
            <a:ext cx="54864" cy="822960"/>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846320"/>
            <a:ext cx="10372039" cy="548640"/>
          </a:xfrm>
          <a:prstGeom prst="rect">
            <a:avLst/>
          </a:prstGeom>
          <a:noFill/>
        </p:spPr>
        <p:txBody>
          <a:bodyPr wrap="square" anchor="ctr" lIns="0" rIns="0" tIns="0" bIns="0">
            <a:spAutoFit/>
          </a:bodyPr>
          <a:lstStyle/>
          <a:p>
            <a:pPr algn="l">
              <a:lnSpc>
                <a:spcPct val="120000"/>
              </a:lnSpc>
            </a:pPr>
            <a:r>
              <a:rPr sz="1250" b="1" i="0">
                <a:solidFill>
                  <a:srgbClr val="17375F"/>
                </a:solidFill>
                <a:latin typeface="Arial"/>
              </a:rPr>
              <a:t>Why Google Search is the honest comparison:  </a:t>
            </a:r>
            <a:r>
              <a:rPr sz="1250" b="0" i="0">
                <a:solidFill>
                  <a:srgbClr val="404040"/>
                </a:solidFill>
                <a:latin typeface="Arial"/>
              </a:rPr>
              <a:t>Google Search Console measures the web address, not the code, and its records reach back to May 2025. That gives us 140 days of the old site against 358 days of the new one. We compare them per day.</a:t>
            </a:r>
          </a:p>
        </p:txBody>
      </p:sp>
      <p:sp>
        <p:nvSpPr>
          <p:cNvPr id="10" name="TextBox 9"/>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Pulled from the Google Analytics, Search Console and Givebutter APIs on 15–16 September 2026</a:t>
            </a:r>
          </a:p>
        </p:txBody>
      </p:sp>
      <p:sp>
        <p:nvSpPr>
          <p:cNvPr id="11" name="TextBox 10"/>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2331720"/>
            <a:ext cx="10874959" cy="457200"/>
          </a:xfrm>
          <a:prstGeom prst="rect">
            <a:avLst/>
          </a:prstGeom>
          <a:noFill/>
        </p:spPr>
        <p:txBody>
          <a:bodyPr wrap="square" anchor="t" lIns="0" rIns="0" tIns="0" bIns="0">
            <a:spAutoFit/>
          </a:bodyPr>
          <a:lstStyle/>
          <a:p>
            <a:pPr algn="l"/>
            <a:r>
              <a:rPr sz="1300" b="1" i="0">
                <a:solidFill>
                  <a:srgbClr val="03D3FF"/>
                </a:solidFill>
                <a:latin typeface="Arial"/>
              </a:rPr>
              <a:t>PART 1</a:t>
            </a:r>
          </a:p>
        </p:txBody>
      </p:sp>
      <p:sp>
        <p:nvSpPr>
          <p:cNvPr id="4" name="TextBox 3"/>
          <p:cNvSpPr txBox="1"/>
          <p:nvPr/>
        </p:nvSpPr>
        <p:spPr>
          <a:xfrm>
            <a:off x="658368" y="2743200"/>
            <a:ext cx="8699967" cy="914400"/>
          </a:xfrm>
          <a:prstGeom prst="rect">
            <a:avLst/>
          </a:prstGeom>
          <a:noFill/>
        </p:spPr>
        <p:txBody>
          <a:bodyPr wrap="square" anchor="t" lIns="0" rIns="0" tIns="0" bIns="0">
            <a:spAutoFit/>
          </a:bodyPr>
          <a:lstStyle/>
          <a:p>
            <a:pPr algn="l"/>
            <a:r>
              <a:rPr sz="4600" b="1" i="0">
                <a:solidFill>
                  <a:srgbClr val="FFFFFF"/>
                </a:solidFill>
                <a:latin typeface="Arial"/>
              </a:rPr>
              <a:t>Can families find us?</a:t>
            </a:r>
          </a:p>
        </p:txBody>
      </p:sp>
      <p:sp>
        <p:nvSpPr>
          <p:cNvPr id="5" name="TextBox 4"/>
          <p:cNvSpPr txBox="1"/>
          <p:nvPr/>
        </p:nvSpPr>
        <p:spPr>
          <a:xfrm>
            <a:off x="658368" y="3886200"/>
            <a:ext cx="6742474" cy="731520"/>
          </a:xfrm>
          <a:prstGeom prst="rect">
            <a:avLst/>
          </a:prstGeom>
          <a:noFill/>
        </p:spPr>
        <p:txBody>
          <a:bodyPr wrap="square" anchor="t" lIns="0" rIns="0" tIns="0" bIns="0">
            <a:spAutoFit/>
          </a:bodyPr>
          <a:lstStyle/>
          <a:p>
            <a:pPr algn="l">
              <a:lnSpc>
                <a:spcPct val="125000"/>
              </a:lnSpc>
            </a:pPr>
            <a:r>
              <a:rPr sz="1600" b="0" i="0">
                <a:solidFill>
                  <a:srgbClr val="BAD1EE"/>
                </a:solidFill>
                <a:latin typeface="Arial"/>
              </a:rPr>
              <a:t>The first thing a newly diagnosed parent does is search.</a:t>
            </a:r>
          </a:p>
        </p:txBody>
      </p:sp>
      <p:sp>
        <p:nvSpPr>
          <p:cNvPr id="6" name="TextBox 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2B66B1"/>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1 · CAN FAMILIES FIND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1,033 people used the site</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They came from 56 countries and read it in 25 languages.</a:t>
            </a:r>
          </a:p>
        </p:txBody>
      </p:sp>
      <p:sp>
        <p:nvSpPr>
          <p:cNvPr id="6" name="Rectangle 5"/>
          <p:cNvSpPr/>
          <p:nvPr/>
        </p:nvSpPr>
        <p:spPr>
          <a:xfrm>
            <a:off x="658368"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194560"/>
            <a:ext cx="1684873" cy="502920"/>
          </a:xfrm>
          <a:prstGeom prst="rect">
            <a:avLst/>
          </a:prstGeom>
          <a:noFill/>
        </p:spPr>
        <p:txBody>
          <a:bodyPr wrap="square" anchor="t" lIns="0" rIns="0" tIns="0" bIns="0">
            <a:spAutoFit/>
          </a:bodyPr>
          <a:lstStyle/>
          <a:p>
            <a:pPr algn="l"/>
            <a:r>
              <a:rPr sz="3000" b="1" i="0">
                <a:solidFill>
                  <a:srgbClr val="214E88"/>
                </a:solidFill>
                <a:latin typeface="Arial"/>
              </a:rPr>
              <a:t>1,033</a:t>
            </a:r>
          </a:p>
        </p:txBody>
      </p:sp>
      <p:sp>
        <p:nvSpPr>
          <p:cNvPr id="8" name="TextBox 7"/>
          <p:cNvSpPr txBox="1"/>
          <p:nvPr/>
        </p:nvSpPr>
        <p:spPr>
          <a:xfrm>
            <a:off x="822959"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people</a:t>
            </a:r>
          </a:p>
        </p:txBody>
      </p:sp>
      <p:sp>
        <p:nvSpPr>
          <p:cNvPr id="9" name="Rectangle 8"/>
          <p:cNvSpPr/>
          <p:nvPr/>
        </p:nvSpPr>
        <p:spPr>
          <a:xfrm>
            <a:off x="2873593"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38185" y="2194560"/>
            <a:ext cx="1684873" cy="502920"/>
          </a:xfrm>
          <a:prstGeom prst="rect">
            <a:avLst/>
          </a:prstGeom>
          <a:noFill/>
        </p:spPr>
        <p:txBody>
          <a:bodyPr wrap="square" anchor="t" lIns="0" rIns="0" tIns="0" bIns="0">
            <a:spAutoFit/>
          </a:bodyPr>
          <a:lstStyle/>
          <a:p>
            <a:pPr algn="l"/>
            <a:r>
              <a:rPr sz="3000" b="1" i="0">
                <a:solidFill>
                  <a:srgbClr val="214E88"/>
                </a:solidFill>
                <a:latin typeface="Arial"/>
              </a:rPr>
              <a:t>56</a:t>
            </a:r>
          </a:p>
        </p:txBody>
      </p:sp>
      <p:sp>
        <p:nvSpPr>
          <p:cNvPr id="11" name="TextBox 10"/>
          <p:cNvSpPr txBox="1"/>
          <p:nvPr/>
        </p:nvSpPr>
        <p:spPr>
          <a:xfrm>
            <a:off x="3038185"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countries</a:t>
            </a:r>
          </a:p>
        </p:txBody>
      </p:sp>
      <p:sp>
        <p:nvSpPr>
          <p:cNvPr id="12" name="Rectangle 11"/>
          <p:cNvSpPr/>
          <p:nvPr/>
        </p:nvSpPr>
        <p:spPr>
          <a:xfrm>
            <a:off x="5088818"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253410" y="2194560"/>
            <a:ext cx="1684873" cy="502920"/>
          </a:xfrm>
          <a:prstGeom prst="rect">
            <a:avLst/>
          </a:prstGeom>
          <a:noFill/>
        </p:spPr>
        <p:txBody>
          <a:bodyPr wrap="square" anchor="t" lIns="0" rIns="0" tIns="0" bIns="0">
            <a:spAutoFit/>
          </a:bodyPr>
          <a:lstStyle/>
          <a:p>
            <a:pPr algn="l"/>
            <a:r>
              <a:rPr sz="3000" b="1" i="0">
                <a:solidFill>
                  <a:srgbClr val="214E88"/>
                </a:solidFill>
                <a:latin typeface="Arial"/>
              </a:rPr>
              <a:t>25</a:t>
            </a:r>
          </a:p>
        </p:txBody>
      </p:sp>
      <p:sp>
        <p:nvSpPr>
          <p:cNvPr id="14" name="TextBox 13"/>
          <p:cNvSpPr txBox="1"/>
          <p:nvPr/>
        </p:nvSpPr>
        <p:spPr>
          <a:xfrm>
            <a:off x="5253410"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languages</a:t>
            </a:r>
          </a:p>
        </p:txBody>
      </p:sp>
      <p:sp>
        <p:nvSpPr>
          <p:cNvPr id="15" name="Rectangle 14"/>
          <p:cNvSpPr/>
          <p:nvPr/>
        </p:nvSpPr>
        <p:spPr>
          <a:xfrm>
            <a:off x="7304044"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68636" y="2194560"/>
            <a:ext cx="1684873" cy="502920"/>
          </a:xfrm>
          <a:prstGeom prst="rect">
            <a:avLst/>
          </a:prstGeom>
          <a:noFill/>
        </p:spPr>
        <p:txBody>
          <a:bodyPr wrap="square" anchor="t" lIns="0" rIns="0" tIns="0" bIns="0">
            <a:spAutoFit/>
          </a:bodyPr>
          <a:lstStyle/>
          <a:p>
            <a:pPr algn="l"/>
            <a:r>
              <a:rPr sz="3000" b="1" i="0">
                <a:solidFill>
                  <a:srgbClr val="214E88"/>
                </a:solidFill>
                <a:latin typeface="Arial"/>
              </a:rPr>
              <a:t>3,375</a:t>
            </a:r>
          </a:p>
        </p:txBody>
      </p:sp>
      <p:sp>
        <p:nvSpPr>
          <p:cNvPr id="17" name="TextBox 16"/>
          <p:cNvSpPr txBox="1"/>
          <p:nvPr/>
        </p:nvSpPr>
        <p:spPr>
          <a:xfrm>
            <a:off x="7468636"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visits</a:t>
            </a:r>
          </a:p>
        </p:txBody>
      </p:sp>
      <p:sp>
        <p:nvSpPr>
          <p:cNvPr id="18" name="Rectangle 17"/>
          <p:cNvSpPr/>
          <p:nvPr/>
        </p:nvSpPr>
        <p:spPr>
          <a:xfrm>
            <a:off x="9519269"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83861" y="2194560"/>
            <a:ext cx="1684873" cy="502920"/>
          </a:xfrm>
          <a:prstGeom prst="rect">
            <a:avLst/>
          </a:prstGeom>
          <a:noFill/>
        </p:spPr>
        <p:txBody>
          <a:bodyPr wrap="square" anchor="t" lIns="0" rIns="0" tIns="0" bIns="0">
            <a:spAutoFit/>
          </a:bodyPr>
          <a:lstStyle/>
          <a:p>
            <a:pPr algn="l"/>
            <a:r>
              <a:rPr sz="3000" b="1" i="0">
                <a:solidFill>
                  <a:srgbClr val="214E88"/>
                </a:solidFill>
                <a:latin typeface="Arial"/>
              </a:rPr>
              <a:t>71%</a:t>
            </a:r>
          </a:p>
        </p:txBody>
      </p:sp>
      <p:sp>
        <p:nvSpPr>
          <p:cNvPr id="20" name="TextBox 19"/>
          <p:cNvSpPr txBox="1"/>
          <p:nvPr/>
        </p:nvSpPr>
        <p:spPr>
          <a:xfrm>
            <a:off x="9683861"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read it on a phone</a:t>
            </a:r>
          </a:p>
        </p:txBody>
      </p:sp>
      <p:sp>
        <p:nvSpPr>
          <p:cNvPr id="21" name="TextBox 20"/>
          <p:cNvSpPr txBox="1"/>
          <p:nvPr/>
        </p:nvSpPr>
        <p:spPr>
          <a:xfrm>
            <a:off x="658368" y="3511296"/>
            <a:ext cx="5872477" cy="274320"/>
          </a:xfrm>
          <a:prstGeom prst="rect">
            <a:avLst/>
          </a:prstGeom>
          <a:noFill/>
        </p:spPr>
        <p:txBody>
          <a:bodyPr wrap="square" anchor="t" lIns="0" rIns="0" tIns="0" bIns="0">
            <a:spAutoFit/>
          </a:bodyPr>
          <a:lstStyle/>
          <a:p>
            <a:pPr algn="l"/>
            <a:r>
              <a:rPr sz="950" b="1" i="0">
                <a:solidFill>
                  <a:srgbClr val="A3A3A3"/>
                </a:solidFill>
                <a:latin typeface="Arial"/>
              </a:rPr>
              <a:t>WHAT THAT NUMBER MEANS</a:t>
            </a:r>
          </a:p>
        </p:txBody>
      </p:sp>
      <p:sp>
        <p:nvSpPr>
          <p:cNvPr id="22" name="TextBox 21"/>
          <p:cNvSpPr txBox="1"/>
          <p:nvPr/>
        </p:nvSpPr>
        <p:spPr>
          <a:xfrm>
            <a:off x="658368" y="3822191"/>
            <a:ext cx="5872477"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50" b="0" i="0">
                <a:solidFill>
                  <a:srgbClr val="525252"/>
                </a:solidFill>
                <a:latin typeface="Arial"/>
              </a:rPr>
              <a:t>A few hundred families worldwide have this diagnosis. This is the community, plus the people around it</a:t>
            </a:r>
          </a:p>
          <a:p>
            <a:pPr>
              <a:lnSpc>
                <a:spcPct val="115000"/>
              </a:lnSpc>
              <a:spcAft>
                <a:spcPts val="900"/>
              </a:spcAft>
            </a:pPr>
            <a:r>
              <a:rPr sz="800" b="1" i="0">
                <a:solidFill>
                  <a:srgbClr val="00ABCF"/>
                </a:solidFill>
                <a:latin typeface="Arial"/>
              </a:rPr>
              <a:t>● </a:t>
            </a:r>
            <a:r>
              <a:rPr sz="1350" b="0" i="0">
                <a:solidFill>
                  <a:srgbClr val="525252"/>
                </a:solidFill>
                <a:latin typeface="Arial"/>
              </a:rPr>
              <a:t>Half of all visits come from Google, so the site brings its own audience</a:t>
            </a:r>
          </a:p>
          <a:p>
            <a:pPr>
              <a:lnSpc>
                <a:spcPct val="115000"/>
              </a:lnSpc>
              <a:spcAft>
                <a:spcPts val="900"/>
              </a:spcAft>
            </a:pPr>
            <a:r>
              <a:rPr sz="800" b="1" i="0">
                <a:solidFill>
                  <a:srgbClr val="00ABCF"/>
                </a:solidFill>
                <a:latin typeface="Arial"/>
              </a:rPr>
              <a:t>● </a:t>
            </a:r>
            <a:r>
              <a:rPr sz="1350" b="0" i="0">
                <a:solidFill>
                  <a:srgbClr val="525252"/>
                </a:solidFill>
                <a:latin typeface="Arial"/>
              </a:rPr>
              <a:t>People read 2.34 pages a visit and stayed 3m 22s</a:t>
            </a:r>
          </a:p>
        </p:txBody>
      </p:sp>
      <p:sp>
        <p:nvSpPr>
          <p:cNvPr id="23" name="Rectangle 22"/>
          <p:cNvSpPr/>
          <p:nvPr/>
        </p:nvSpPr>
        <p:spPr>
          <a:xfrm>
            <a:off x="6965844" y="3511296"/>
            <a:ext cx="4567482" cy="1783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965844" y="3511296"/>
            <a:ext cx="54864" cy="1783080"/>
          </a:xfrm>
          <a:prstGeom prst="rect">
            <a:avLst/>
          </a:prstGeom>
          <a:solidFill>
            <a:srgbClr val="2B6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40164" y="3657600"/>
            <a:ext cx="4064562" cy="1508760"/>
          </a:xfrm>
          <a:prstGeom prst="rect">
            <a:avLst/>
          </a:prstGeom>
          <a:noFill/>
        </p:spPr>
        <p:txBody>
          <a:bodyPr wrap="square" anchor="ctr" lIns="0" rIns="0" tIns="0" bIns="0">
            <a:spAutoFit/>
          </a:bodyPr>
          <a:lstStyle/>
          <a:p>
            <a:pPr algn="l">
              <a:lnSpc>
                <a:spcPct val="120000"/>
              </a:lnSpc>
            </a:pPr>
            <a:r>
              <a:rPr sz="1150" b="1" i="0">
                <a:solidFill>
                  <a:srgbClr val="17375F"/>
                </a:solidFill>
                <a:latin typeface="Arial"/>
              </a:rPr>
              <a:t>Compared with other charities:  </a:t>
            </a:r>
            <a:r>
              <a:rPr sz="1150" b="0" i="0">
                <a:solidFill>
                  <a:srgbClr val="404040"/>
                </a:solidFill>
                <a:latin typeface="Arial"/>
              </a:rPr>
              <a:t>small charity websites average 1.74 pages a visit. We beat that. But the typical small charity site gets around 7,200 people a year and we get 1,000. High quality, a seventh of the volume — that is the honest size of this community.</a:t>
            </a:r>
          </a:p>
        </p:txBody>
      </p:sp>
      <p:sp>
        <p:nvSpPr>
          <p:cNvPr id="26" name="TextBox 2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Analytics · Benchmark: Wired Impact 2025, 130+ charity websites</a:t>
            </a:r>
          </a:p>
        </p:txBody>
      </p:sp>
      <p:sp>
        <p:nvSpPr>
          <p:cNvPr id="27" name="TextBox 2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1 · CAN FAMILIES FIND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We moved from page 2 of Google to page 1</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Google shows about 10 results a page. Being 15th means page two. Being 8th means page one.</a:t>
            </a:r>
          </a:p>
        </p:txBody>
      </p:sp>
      <p:sp>
        <p:nvSpPr>
          <p:cNvPr id="6" name="TextBox 5"/>
          <p:cNvSpPr txBox="1"/>
          <p:nvPr/>
        </p:nvSpPr>
        <p:spPr>
          <a:xfrm>
            <a:off x="658368" y="2048256"/>
            <a:ext cx="2743200" cy="274320"/>
          </a:xfrm>
          <a:prstGeom prst="rect">
            <a:avLst/>
          </a:prstGeom>
          <a:noFill/>
        </p:spPr>
        <p:txBody>
          <a:bodyPr wrap="square" anchor="t" lIns="0" rIns="0" tIns="0" bIns="0">
            <a:spAutoFit/>
          </a:bodyPr>
          <a:lstStyle/>
          <a:p>
            <a:pPr algn="l"/>
            <a:r>
              <a:rPr sz="900" b="1" i="0">
                <a:solidFill>
                  <a:srgbClr val="A3A3A3"/>
                </a:solidFill>
                <a:latin typeface="Arial"/>
              </a:rPr>
              <a:t>PER DAY</a:t>
            </a:r>
          </a:p>
        </p:txBody>
      </p:sp>
      <p:sp>
        <p:nvSpPr>
          <p:cNvPr id="7" name="TextBox 6"/>
          <p:cNvSpPr txBox="1"/>
          <p:nvPr/>
        </p:nvSpPr>
        <p:spPr>
          <a:xfrm>
            <a:off x="3401568" y="2048256"/>
            <a:ext cx="4065879" cy="274320"/>
          </a:xfrm>
          <a:prstGeom prst="rect">
            <a:avLst/>
          </a:prstGeom>
          <a:noFill/>
        </p:spPr>
        <p:txBody>
          <a:bodyPr wrap="square" anchor="t" lIns="0" rIns="0" tIns="0" bIns="0">
            <a:spAutoFit/>
          </a:bodyPr>
          <a:lstStyle/>
          <a:p>
            <a:pPr algn="l"/>
            <a:r>
              <a:rPr sz="900" b="1" i="0">
                <a:solidFill>
                  <a:srgbClr val="A3A3A3"/>
                </a:solidFill>
                <a:latin typeface="Arial"/>
              </a:rPr>
              <a:t>OLD SITE</a:t>
            </a:r>
          </a:p>
        </p:txBody>
      </p:sp>
      <p:sp>
        <p:nvSpPr>
          <p:cNvPr id="8" name="TextBox 7"/>
          <p:cNvSpPr txBox="1"/>
          <p:nvPr/>
        </p:nvSpPr>
        <p:spPr>
          <a:xfrm>
            <a:off x="7467447" y="2048256"/>
            <a:ext cx="4065879" cy="274320"/>
          </a:xfrm>
          <a:prstGeom prst="rect">
            <a:avLst/>
          </a:prstGeom>
          <a:noFill/>
        </p:spPr>
        <p:txBody>
          <a:bodyPr wrap="square" anchor="t" lIns="0" rIns="0" tIns="0" bIns="0">
            <a:spAutoFit/>
          </a:bodyPr>
          <a:lstStyle/>
          <a:p>
            <a:pPr algn="l"/>
            <a:r>
              <a:rPr sz="900" b="1" i="0">
                <a:solidFill>
                  <a:srgbClr val="00819C"/>
                </a:solidFill>
                <a:latin typeface="Arial"/>
              </a:rPr>
              <a:t>NEW SITE</a:t>
            </a:r>
          </a:p>
        </p:txBody>
      </p:sp>
      <p:sp>
        <p:nvSpPr>
          <p:cNvPr id="9" name="TextBox 8"/>
          <p:cNvSpPr txBox="1"/>
          <p:nvPr/>
        </p:nvSpPr>
        <p:spPr>
          <a:xfrm>
            <a:off x="658368" y="2377440"/>
            <a:ext cx="2606040" cy="402336"/>
          </a:xfrm>
          <a:prstGeom prst="rect">
            <a:avLst/>
          </a:prstGeom>
          <a:noFill/>
        </p:spPr>
        <p:txBody>
          <a:bodyPr wrap="square" anchor="ctr" lIns="0" rIns="0" tIns="0" bIns="0">
            <a:spAutoFit/>
          </a:bodyPr>
          <a:lstStyle/>
          <a:p>
            <a:pPr algn="l"/>
            <a:r>
              <a:rPr sz="1200" b="0" i="0">
                <a:solidFill>
                  <a:srgbClr val="404040"/>
                </a:solidFill>
                <a:latin typeface="Arial"/>
              </a:rPr>
              <a:t>People clicking through</a:t>
            </a:r>
          </a:p>
        </p:txBody>
      </p:sp>
      <p:sp>
        <p:nvSpPr>
          <p:cNvPr id="10" name="Rectangle 9"/>
          <p:cNvSpPr/>
          <p:nvPr/>
        </p:nvSpPr>
        <p:spPr>
          <a:xfrm>
            <a:off x="3401568" y="2423160"/>
            <a:ext cx="3069823" cy="23774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44543" y="2377440"/>
            <a:ext cx="1280160" cy="402336"/>
          </a:xfrm>
          <a:prstGeom prst="rect">
            <a:avLst/>
          </a:prstGeom>
          <a:noFill/>
        </p:spPr>
        <p:txBody>
          <a:bodyPr wrap="square" anchor="ctr" lIns="0" rIns="0" tIns="0" bIns="0">
            <a:spAutoFit/>
          </a:bodyPr>
          <a:lstStyle/>
          <a:p>
            <a:pPr algn="l"/>
            <a:r>
              <a:rPr sz="1150" b="1" i="0">
                <a:solidFill>
                  <a:srgbClr val="737373"/>
                </a:solidFill>
                <a:latin typeface="Arial"/>
              </a:rPr>
              <a:t>15.2</a:t>
            </a:r>
          </a:p>
        </p:txBody>
      </p:sp>
      <p:sp>
        <p:nvSpPr>
          <p:cNvPr id="12" name="Rectangle 11"/>
          <p:cNvSpPr/>
          <p:nvPr/>
        </p:nvSpPr>
        <p:spPr>
          <a:xfrm>
            <a:off x="7467447" y="2423160"/>
            <a:ext cx="3716102" cy="23774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256701" y="2377440"/>
            <a:ext cx="1280160" cy="402336"/>
          </a:xfrm>
          <a:prstGeom prst="rect">
            <a:avLst/>
          </a:prstGeom>
          <a:noFill/>
        </p:spPr>
        <p:txBody>
          <a:bodyPr wrap="square" anchor="ctr" lIns="0" rIns="0" tIns="0" bIns="0">
            <a:spAutoFit/>
          </a:bodyPr>
          <a:lstStyle/>
          <a:p>
            <a:pPr algn="l"/>
            <a:r>
              <a:rPr sz="1150" b="1" i="0">
                <a:solidFill>
                  <a:srgbClr val="17375F"/>
                </a:solidFill>
                <a:latin typeface="Arial"/>
              </a:rPr>
              <a:t>18.4</a:t>
            </a:r>
          </a:p>
        </p:txBody>
      </p:sp>
      <p:sp>
        <p:nvSpPr>
          <p:cNvPr id="14" name="TextBox 13"/>
          <p:cNvSpPr txBox="1"/>
          <p:nvPr/>
        </p:nvSpPr>
        <p:spPr>
          <a:xfrm>
            <a:off x="658368" y="2880360"/>
            <a:ext cx="2606040" cy="402336"/>
          </a:xfrm>
          <a:prstGeom prst="rect">
            <a:avLst/>
          </a:prstGeom>
          <a:noFill/>
        </p:spPr>
        <p:txBody>
          <a:bodyPr wrap="square" anchor="ctr" lIns="0" rIns="0" tIns="0" bIns="0">
            <a:spAutoFit/>
          </a:bodyPr>
          <a:lstStyle/>
          <a:p>
            <a:pPr algn="l"/>
            <a:r>
              <a:rPr sz="1200" b="0" i="0">
                <a:solidFill>
                  <a:srgbClr val="404040"/>
                </a:solidFill>
                <a:latin typeface="Arial"/>
              </a:rPr>
              <a:t>Clicks per 100 times seen</a:t>
            </a:r>
          </a:p>
        </p:txBody>
      </p:sp>
      <p:sp>
        <p:nvSpPr>
          <p:cNvPr id="15" name="Rectangle 14"/>
          <p:cNvSpPr/>
          <p:nvPr/>
        </p:nvSpPr>
        <p:spPr>
          <a:xfrm>
            <a:off x="3401568" y="2926080"/>
            <a:ext cx="2379113" cy="23774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3833" y="2880360"/>
            <a:ext cx="1280160" cy="402336"/>
          </a:xfrm>
          <a:prstGeom prst="rect">
            <a:avLst/>
          </a:prstGeom>
          <a:noFill/>
        </p:spPr>
        <p:txBody>
          <a:bodyPr wrap="square" anchor="ctr" lIns="0" rIns="0" tIns="0" bIns="0">
            <a:spAutoFit/>
          </a:bodyPr>
          <a:lstStyle/>
          <a:p>
            <a:pPr algn="l"/>
            <a:r>
              <a:rPr sz="1150" b="1" i="0">
                <a:solidFill>
                  <a:srgbClr val="737373"/>
                </a:solidFill>
                <a:latin typeface="Arial"/>
              </a:rPr>
              <a:t>3.1</a:t>
            </a:r>
          </a:p>
        </p:txBody>
      </p:sp>
      <p:sp>
        <p:nvSpPr>
          <p:cNvPr id="17" name="Rectangle 16"/>
          <p:cNvSpPr/>
          <p:nvPr/>
        </p:nvSpPr>
        <p:spPr>
          <a:xfrm>
            <a:off x="7467447" y="2926080"/>
            <a:ext cx="3376806" cy="23774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917405" y="2880360"/>
            <a:ext cx="1280160" cy="402336"/>
          </a:xfrm>
          <a:prstGeom prst="rect">
            <a:avLst/>
          </a:prstGeom>
          <a:noFill/>
        </p:spPr>
        <p:txBody>
          <a:bodyPr wrap="square" anchor="ctr" lIns="0" rIns="0" tIns="0" bIns="0">
            <a:spAutoFit/>
          </a:bodyPr>
          <a:lstStyle/>
          <a:p>
            <a:pPr algn="l"/>
            <a:r>
              <a:rPr sz="1150" b="1" i="0">
                <a:solidFill>
                  <a:srgbClr val="17375F"/>
                </a:solidFill>
                <a:latin typeface="Arial"/>
              </a:rPr>
              <a:t>4.4</a:t>
            </a:r>
          </a:p>
        </p:txBody>
      </p:sp>
      <p:sp>
        <p:nvSpPr>
          <p:cNvPr id="19" name="TextBox 18"/>
          <p:cNvSpPr txBox="1"/>
          <p:nvPr/>
        </p:nvSpPr>
        <p:spPr>
          <a:xfrm>
            <a:off x="658368" y="3383280"/>
            <a:ext cx="2606040" cy="402336"/>
          </a:xfrm>
          <a:prstGeom prst="rect">
            <a:avLst/>
          </a:prstGeom>
          <a:noFill/>
        </p:spPr>
        <p:txBody>
          <a:bodyPr wrap="square" anchor="ctr" lIns="0" rIns="0" tIns="0" bIns="0">
            <a:spAutoFit/>
          </a:bodyPr>
          <a:lstStyle/>
          <a:p>
            <a:pPr algn="l"/>
            <a:r>
              <a:rPr sz="1200" b="0" i="0">
                <a:solidFill>
                  <a:srgbClr val="404040"/>
                </a:solidFill>
                <a:latin typeface="Arial"/>
              </a:rPr>
              <a:t>Where we appear in Google</a:t>
            </a:r>
          </a:p>
        </p:txBody>
      </p:sp>
      <p:sp>
        <p:nvSpPr>
          <p:cNvPr id="20" name="Rectangle 19"/>
          <p:cNvSpPr/>
          <p:nvPr/>
        </p:nvSpPr>
        <p:spPr>
          <a:xfrm>
            <a:off x="3401568" y="3429000"/>
            <a:ext cx="3837279" cy="23774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311999" y="3383280"/>
            <a:ext cx="1280160" cy="402336"/>
          </a:xfrm>
          <a:prstGeom prst="rect">
            <a:avLst/>
          </a:prstGeom>
          <a:noFill/>
        </p:spPr>
        <p:txBody>
          <a:bodyPr wrap="square" anchor="ctr" lIns="0" rIns="0" tIns="0" bIns="0">
            <a:spAutoFit/>
          </a:bodyPr>
          <a:lstStyle/>
          <a:p>
            <a:pPr algn="l"/>
            <a:r>
              <a:rPr sz="1150" b="1" i="0">
                <a:solidFill>
                  <a:srgbClr val="737373"/>
                </a:solidFill>
                <a:latin typeface="Arial"/>
              </a:rPr>
              <a:t>15th</a:t>
            </a:r>
          </a:p>
        </p:txBody>
      </p:sp>
      <p:sp>
        <p:nvSpPr>
          <p:cNvPr id="22" name="Rectangle 21"/>
          <p:cNvSpPr/>
          <p:nvPr/>
        </p:nvSpPr>
        <p:spPr>
          <a:xfrm>
            <a:off x="7467447" y="3429000"/>
            <a:ext cx="1906099" cy="23774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446699" y="3383280"/>
            <a:ext cx="1280160" cy="402336"/>
          </a:xfrm>
          <a:prstGeom prst="rect">
            <a:avLst/>
          </a:prstGeom>
          <a:noFill/>
        </p:spPr>
        <p:txBody>
          <a:bodyPr wrap="square" anchor="ctr" lIns="0" rIns="0" tIns="0" bIns="0">
            <a:spAutoFit/>
          </a:bodyPr>
          <a:lstStyle/>
          <a:p>
            <a:pPr algn="l"/>
            <a:r>
              <a:rPr sz="1150" b="1" i="0">
                <a:solidFill>
                  <a:srgbClr val="17375F"/>
                </a:solidFill>
                <a:latin typeface="Arial"/>
              </a:rPr>
              <a:t>8th</a:t>
            </a:r>
          </a:p>
        </p:txBody>
      </p:sp>
      <p:sp>
        <p:nvSpPr>
          <p:cNvPr id="24" name="TextBox 23"/>
          <p:cNvSpPr txBox="1"/>
          <p:nvPr/>
        </p:nvSpPr>
        <p:spPr>
          <a:xfrm>
            <a:off x="658368" y="3886200"/>
            <a:ext cx="2606040" cy="402336"/>
          </a:xfrm>
          <a:prstGeom prst="rect">
            <a:avLst/>
          </a:prstGeom>
          <a:noFill/>
        </p:spPr>
        <p:txBody>
          <a:bodyPr wrap="square" anchor="ctr" lIns="0" rIns="0" tIns="0" bIns="0">
            <a:spAutoFit/>
          </a:bodyPr>
          <a:lstStyle/>
          <a:p>
            <a:pPr algn="l"/>
            <a:r>
              <a:rPr sz="1200" b="0" i="0">
                <a:solidFill>
                  <a:srgbClr val="404040"/>
                </a:solidFill>
                <a:latin typeface="Arial"/>
              </a:rPr>
              <a:t>Where we appear, on a phone</a:t>
            </a:r>
          </a:p>
        </p:txBody>
      </p:sp>
      <p:sp>
        <p:nvSpPr>
          <p:cNvPr id="25" name="Rectangle 24"/>
          <p:cNvSpPr/>
          <p:nvPr/>
        </p:nvSpPr>
        <p:spPr>
          <a:xfrm>
            <a:off x="3401568" y="3931920"/>
            <a:ext cx="3837279" cy="23774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1999" y="3886200"/>
            <a:ext cx="1280160" cy="402336"/>
          </a:xfrm>
          <a:prstGeom prst="rect">
            <a:avLst/>
          </a:prstGeom>
          <a:noFill/>
        </p:spPr>
        <p:txBody>
          <a:bodyPr wrap="square" anchor="ctr" lIns="0" rIns="0" tIns="0" bIns="0">
            <a:spAutoFit/>
          </a:bodyPr>
          <a:lstStyle/>
          <a:p>
            <a:pPr algn="l"/>
            <a:r>
              <a:rPr sz="1150" b="1" i="0">
                <a:solidFill>
                  <a:srgbClr val="737373"/>
                </a:solidFill>
                <a:latin typeface="Arial"/>
              </a:rPr>
              <a:t>11th</a:t>
            </a:r>
          </a:p>
        </p:txBody>
      </p:sp>
      <p:sp>
        <p:nvSpPr>
          <p:cNvPr id="27" name="Rectangle 26"/>
          <p:cNvSpPr/>
          <p:nvPr/>
        </p:nvSpPr>
        <p:spPr>
          <a:xfrm>
            <a:off x="7467447" y="3931920"/>
            <a:ext cx="1443380" cy="23774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83980" y="3886200"/>
            <a:ext cx="1280160" cy="402336"/>
          </a:xfrm>
          <a:prstGeom prst="rect">
            <a:avLst/>
          </a:prstGeom>
          <a:noFill/>
        </p:spPr>
        <p:txBody>
          <a:bodyPr wrap="square" anchor="ctr" lIns="0" rIns="0" tIns="0" bIns="0">
            <a:spAutoFit/>
          </a:bodyPr>
          <a:lstStyle/>
          <a:p>
            <a:pPr algn="l"/>
            <a:r>
              <a:rPr sz="1150" b="1" i="0">
                <a:solidFill>
                  <a:srgbClr val="17375F"/>
                </a:solidFill>
                <a:latin typeface="Arial"/>
              </a:rPr>
              <a:t>4th</a:t>
            </a:r>
          </a:p>
        </p:txBody>
      </p:sp>
      <p:sp>
        <p:nvSpPr>
          <p:cNvPr id="29" name="TextBox 28"/>
          <p:cNvSpPr txBox="1"/>
          <p:nvPr/>
        </p:nvSpPr>
        <p:spPr>
          <a:xfrm>
            <a:off x="658368" y="4462271"/>
            <a:ext cx="5981227" cy="1234440"/>
          </a:xfrm>
          <a:prstGeom prst="rect">
            <a:avLst/>
          </a:prstGeom>
          <a:noFill/>
        </p:spPr>
        <p:txBody>
          <a:bodyPr wrap="square" anchor="t" lIns="0" rIns="0" tIns="0" bIns="0">
            <a:spAutoFit/>
          </a:bodyPr>
          <a:lstStyle/>
          <a:p>
            <a:pPr algn="l">
              <a:lnSpc>
                <a:spcPct val="120000"/>
              </a:lnSpc>
            </a:pPr>
            <a:r>
              <a:rPr sz="1300" b="0" i="0">
                <a:solidFill>
                  <a:srgbClr val="525252"/>
                </a:solidFill>
                <a:latin typeface="Arial"/>
              </a:rPr>
              <a:t>Same web address, same searches, measured by Google itself. </a:t>
            </a:r>
            <a:r>
              <a:rPr sz="1300" b="1" i="0">
                <a:solidFill>
                  <a:srgbClr val="17375F"/>
                </a:solidFill>
                <a:latin typeface="Arial"/>
              </a:rPr>
              <a:t>On a phone we now appear fourth.</a:t>
            </a:r>
          </a:p>
          <a:p>
            <a:pPr>
              <a:lnSpc>
                <a:spcPct val="120000"/>
              </a:lnSpc>
              <a:spcBef>
                <a:spcPts val="800"/>
              </a:spcBef>
            </a:pPr>
            <a:r>
              <a:rPr sz="1200" b="0" i="0">
                <a:solidFill>
                  <a:srgbClr val="737373"/>
                </a:solidFill>
                <a:latin typeface="Arial"/>
              </a:rPr>
              <a:t>We are seen slightly less often than before, because we lost page-two listings nobody clicked. We are clicked 21% more. Fewer listings, better ones.</a:t>
            </a:r>
          </a:p>
        </p:txBody>
      </p:sp>
      <p:sp>
        <p:nvSpPr>
          <p:cNvPr id="30" name="Rectangle 29"/>
          <p:cNvSpPr/>
          <p:nvPr/>
        </p:nvSpPr>
        <p:spPr>
          <a:xfrm>
            <a:off x="6965844" y="4462271"/>
            <a:ext cx="4567482" cy="1417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965844" y="4462271"/>
            <a:ext cx="54864" cy="1417320"/>
          </a:xfrm>
          <a:prstGeom prst="rect">
            <a:avLst/>
          </a:prstGeom>
          <a:solidFill>
            <a:srgbClr val="2B6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240164" y="4608575"/>
            <a:ext cx="4064562" cy="1143000"/>
          </a:xfrm>
          <a:prstGeom prst="rect">
            <a:avLst/>
          </a:prstGeom>
          <a:noFill/>
        </p:spPr>
        <p:txBody>
          <a:bodyPr wrap="square" anchor="ctr" lIns="0" rIns="0" tIns="0" bIns="0">
            <a:spAutoFit/>
          </a:bodyPr>
          <a:lstStyle/>
          <a:p>
            <a:pPr algn="l">
              <a:lnSpc>
                <a:spcPct val="120000"/>
              </a:lnSpc>
            </a:pPr>
            <a:r>
              <a:rPr sz="1150" b="1" i="0">
                <a:solidFill>
                  <a:srgbClr val="17375F"/>
                </a:solidFill>
                <a:latin typeface="Arial"/>
              </a:rPr>
              <a:t>Compared with the web:  </a:t>
            </a:r>
            <a:r>
              <a:rPr sz="1150" b="0" i="0">
                <a:solidFill>
                  <a:srgbClr val="404040"/>
                </a:solidFill>
                <a:latin typeface="Arial"/>
              </a:rPr>
              <a:t>most websites get 1 to 2 clicks for every 100 times they appear, and low-profile sites get less than 1. We get 4.4 — and that rose during a year when AI answers cut everyone else's clicks.</a:t>
            </a:r>
          </a:p>
        </p:txBody>
      </p:sp>
      <p:sp>
        <p:nvSpPr>
          <p:cNvPr id="33" name="TextBox 32"/>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Search Console · old site 140 days vs new site 358 days, measured per day · Benchmarks: Ahrefs 2026, Advanced Web Ranking 2026</a:t>
            </a:r>
          </a:p>
        </p:txBody>
      </p:sp>
      <p:sp>
        <p:nvSpPr>
          <p:cNvPr id="34" name="TextBox 33"/>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1 · CAN FAMILIES FIND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People search for the condition, not for the Foundation</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Most people who find us have never heard of us. They type the words a doctor has just said to them.</a:t>
            </a:r>
          </a:p>
        </p:txBody>
      </p:sp>
      <p:sp>
        <p:nvSpPr>
          <p:cNvPr id="6" name="TextBox 5"/>
          <p:cNvSpPr txBox="1"/>
          <p:nvPr/>
        </p:nvSpPr>
        <p:spPr>
          <a:xfrm>
            <a:off x="658368" y="2048256"/>
            <a:ext cx="5002481" cy="274320"/>
          </a:xfrm>
          <a:prstGeom prst="rect">
            <a:avLst/>
          </a:prstGeom>
          <a:noFill/>
        </p:spPr>
        <p:txBody>
          <a:bodyPr wrap="square" anchor="t" lIns="0" rIns="0" tIns="0" bIns="0">
            <a:spAutoFit/>
          </a:bodyPr>
          <a:lstStyle/>
          <a:p>
            <a:pPr algn="l"/>
            <a:r>
              <a:rPr sz="950" b="1" i="0">
                <a:solidFill>
                  <a:srgbClr val="A3A3A3"/>
                </a:solidFill>
                <a:latin typeface="Arial"/>
              </a:rPr>
              <a:t>WHAT PEOPLE TYPED  ·  CLICKS IN A YEAR</a:t>
            </a:r>
          </a:p>
        </p:txBody>
      </p:sp>
      <p:sp>
        <p:nvSpPr>
          <p:cNvPr id="7" name="TextBox 6"/>
          <p:cNvSpPr txBox="1"/>
          <p:nvPr/>
        </p:nvSpPr>
        <p:spPr>
          <a:xfrm>
            <a:off x="6313346" y="2048256"/>
            <a:ext cx="5002481" cy="274320"/>
          </a:xfrm>
          <a:prstGeom prst="rect">
            <a:avLst/>
          </a:prstGeom>
          <a:noFill/>
        </p:spPr>
        <p:txBody>
          <a:bodyPr wrap="square" anchor="t" lIns="0" rIns="0" tIns="0" bIns="0">
            <a:spAutoFit/>
          </a:bodyPr>
          <a:lstStyle/>
          <a:p>
            <a:pPr algn="l"/>
            <a:r>
              <a:rPr sz="950" b="1" i="0">
                <a:solidFill>
                  <a:srgbClr val="A3A3A3"/>
                </a:solidFill>
                <a:latin typeface="Arial"/>
              </a:rPr>
              <a:t>AND THE QUIETER SEARCHES, IN EVERY LANGUAGE</a:t>
            </a:r>
          </a:p>
        </p:txBody>
      </p:sp>
      <p:sp>
        <p:nvSpPr>
          <p:cNvPr id="8" name="Rectangle 7"/>
          <p:cNvSpPr/>
          <p:nvPr/>
        </p:nvSpPr>
        <p:spPr>
          <a:xfrm>
            <a:off x="658368" y="2377440"/>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414016"/>
            <a:ext cx="3588736" cy="329184"/>
          </a:xfrm>
          <a:prstGeom prst="rect">
            <a:avLst/>
          </a:prstGeom>
          <a:noFill/>
        </p:spPr>
        <p:txBody>
          <a:bodyPr wrap="square" anchor="ctr" lIns="0" rIns="0" tIns="0" bIns="0">
            <a:spAutoFit/>
          </a:bodyPr>
          <a:lstStyle/>
          <a:p>
            <a:pPr algn="l"/>
            <a:r>
              <a:rPr sz="1150" b="0" i="0">
                <a:solidFill>
                  <a:srgbClr val="404040"/>
                </a:solidFill>
                <a:latin typeface="Arial"/>
              </a:rPr>
              <a:t>nr2f1 foundation</a:t>
            </a:r>
          </a:p>
        </p:txBody>
      </p:sp>
      <p:sp>
        <p:nvSpPr>
          <p:cNvPr id="10" name="TextBox 9"/>
          <p:cNvSpPr txBox="1"/>
          <p:nvPr/>
        </p:nvSpPr>
        <p:spPr>
          <a:xfrm>
            <a:off x="4655009" y="2414016"/>
            <a:ext cx="868680" cy="329184"/>
          </a:xfrm>
          <a:prstGeom prst="rect">
            <a:avLst/>
          </a:prstGeom>
          <a:noFill/>
        </p:spPr>
        <p:txBody>
          <a:bodyPr wrap="square" anchor="ctr" lIns="0" rIns="0" tIns="0" bIns="0">
            <a:spAutoFit/>
          </a:bodyPr>
          <a:lstStyle/>
          <a:p>
            <a:pPr algn="r"/>
            <a:r>
              <a:rPr sz="1250" b="1" i="0">
                <a:solidFill>
                  <a:srgbClr val="17375F"/>
                </a:solidFill>
                <a:latin typeface="Arial"/>
              </a:rPr>
              <a:t>739</a:t>
            </a:r>
          </a:p>
        </p:txBody>
      </p:sp>
      <p:sp>
        <p:nvSpPr>
          <p:cNvPr id="11" name="Rectangle 10"/>
          <p:cNvSpPr/>
          <p:nvPr/>
        </p:nvSpPr>
        <p:spPr>
          <a:xfrm>
            <a:off x="658368" y="2852928"/>
            <a:ext cx="5002481"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2" y="2889504"/>
            <a:ext cx="3588736" cy="329184"/>
          </a:xfrm>
          <a:prstGeom prst="rect">
            <a:avLst/>
          </a:prstGeom>
          <a:noFill/>
        </p:spPr>
        <p:txBody>
          <a:bodyPr wrap="square" anchor="ctr" lIns="0" rIns="0" tIns="0" bIns="0">
            <a:spAutoFit/>
          </a:bodyPr>
          <a:lstStyle/>
          <a:p>
            <a:pPr algn="l"/>
            <a:r>
              <a:rPr sz="1150" b="0" i="0">
                <a:solidFill>
                  <a:srgbClr val="404040"/>
                </a:solidFill>
                <a:latin typeface="Arial"/>
              </a:rPr>
              <a:t>bbsoas</a:t>
            </a:r>
          </a:p>
        </p:txBody>
      </p:sp>
      <p:sp>
        <p:nvSpPr>
          <p:cNvPr id="13" name="TextBox 12"/>
          <p:cNvSpPr txBox="1"/>
          <p:nvPr/>
        </p:nvSpPr>
        <p:spPr>
          <a:xfrm>
            <a:off x="4655009" y="2889504"/>
            <a:ext cx="868680" cy="329184"/>
          </a:xfrm>
          <a:prstGeom prst="rect">
            <a:avLst/>
          </a:prstGeom>
          <a:noFill/>
        </p:spPr>
        <p:txBody>
          <a:bodyPr wrap="square" anchor="ctr" lIns="0" rIns="0" tIns="0" bIns="0">
            <a:spAutoFit/>
          </a:bodyPr>
          <a:lstStyle/>
          <a:p>
            <a:pPr algn="r"/>
            <a:r>
              <a:rPr sz="1250" b="1" i="0">
                <a:solidFill>
                  <a:srgbClr val="17375F"/>
                </a:solidFill>
                <a:latin typeface="Arial"/>
              </a:rPr>
              <a:t>736</a:t>
            </a:r>
          </a:p>
        </p:txBody>
      </p:sp>
      <p:sp>
        <p:nvSpPr>
          <p:cNvPr id="14" name="Rectangle 13"/>
          <p:cNvSpPr/>
          <p:nvPr/>
        </p:nvSpPr>
        <p:spPr>
          <a:xfrm>
            <a:off x="658368" y="3328416"/>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4672" y="3364992"/>
            <a:ext cx="3588736" cy="329184"/>
          </a:xfrm>
          <a:prstGeom prst="rect">
            <a:avLst/>
          </a:prstGeom>
          <a:noFill/>
        </p:spPr>
        <p:txBody>
          <a:bodyPr wrap="square" anchor="ctr" lIns="0" rIns="0" tIns="0" bIns="0">
            <a:spAutoFit/>
          </a:bodyPr>
          <a:lstStyle/>
          <a:p>
            <a:pPr algn="l"/>
            <a:r>
              <a:rPr sz="1150" b="0" i="0">
                <a:solidFill>
                  <a:srgbClr val="404040"/>
                </a:solidFill>
                <a:latin typeface="Arial"/>
              </a:rPr>
              <a:t>nr2f1</a:t>
            </a:r>
          </a:p>
        </p:txBody>
      </p:sp>
      <p:sp>
        <p:nvSpPr>
          <p:cNvPr id="16" name="TextBox 15"/>
          <p:cNvSpPr txBox="1"/>
          <p:nvPr/>
        </p:nvSpPr>
        <p:spPr>
          <a:xfrm>
            <a:off x="4655009" y="3364992"/>
            <a:ext cx="868680" cy="329184"/>
          </a:xfrm>
          <a:prstGeom prst="rect">
            <a:avLst/>
          </a:prstGeom>
          <a:noFill/>
        </p:spPr>
        <p:txBody>
          <a:bodyPr wrap="square" anchor="ctr" lIns="0" rIns="0" tIns="0" bIns="0">
            <a:spAutoFit/>
          </a:bodyPr>
          <a:lstStyle/>
          <a:p>
            <a:pPr algn="r"/>
            <a:r>
              <a:rPr sz="1250" b="1" i="0">
                <a:solidFill>
                  <a:srgbClr val="17375F"/>
                </a:solidFill>
                <a:latin typeface="Arial"/>
              </a:rPr>
              <a:t>599</a:t>
            </a:r>
          </a:p>
        </p:txBody>
      </p:sp>
      <p:sp>
        <p:nvSpPr>
          <p:cNvPr id="17" name="Rectangle 16"/>
          <p:cNvSpPr/>
          <p:nvPr/>
        </p:nvSpPr>
        <p:spPr>
          <a:xfrm>
            <a:off x="658368" y="3803904"/>
            <a:ext cx="5002481"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 y="3840480"/>
            <a:ext cx="3588736" cy="329184"/>
          </a:xfrm>
          <a:prstGeom prst="rect">
            <a:avLst/>
          </a:prstGeom>
          <a:noFill/>
        </p:spPr>
        <p:txBody>
          <a:bodyPr wrap="square" anchor="ctr" lIns="0" rIns="0" tIns="0" bIns="0">
            <a:spAutoFit/>
          </a:bodyPr>
          <a:lstStyle/>
          <a:p>
            <a:pPr algn="l"/>
            <a:r>
              <a:rPr sz="1150" b="0" i="0">
                <a:solidFill>
                  <a:srgbClr val="404040"/>
                </a:solidFill>
                <a:latin typeface="Arial"/>
              </a:rPr>
              <a:t>bbsoas syndrome</a:t>
            </a:r>
          </a:p>
        </p:txBody>
      </p:sp>
      <p:sp>
        <p:nvSpPr>
          <p:cNvPr id="19" name="TextBox 18"/>
          <p:cNvSpPr txBox="1"/>
          <p:nvPr/>
        </p:nvSpPr>
        <p:spPr>
          <a:xfrm>
            <a:off x="4655009" y="3840480"/>
            <a:ext cx="868680" cy="329184"/>
          </a:xfrm>
          <a:prstGeom prst="rect">
            <a:avLst/>
          </a:prstGeom>
          <a:noFill/>
        </p:spPr>
        <p:txBody>
          <a:bodyPr wrap="square" anchor="ctr" lIns="0" rIns="0" tIns="0" bIns="0">
            <a:spAutoFit/>
          </a:bodyPr>
          <a:lstStyle/>
          <a:p>
            <a:pPr algn="r"/>
            <a:r>
              <a:rPr sz="1250" b="1" i="0">
                <a:solidFill>
                  <a:srgbClr val="17375F"/>
                </a:solidFill>
                <a:latin typeface="Arial"/>
              </a:rPr>
              <a:t>287</a:t>
            </a:r>
          </a:p>
        </p:txBody>
      </p:sp>
      <p:sp>
        <p:nvSpPr>
          <p:cNvPr id="20" name="Rectangle 19"/>
          <p:cNvSpPr/>
          <p:nvPr/>
        </p:nvSpPr>
        <p:spPr>
          <a:xfrm>
            <a:off x="658368" y="4279392"/>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315968"/>
            <a:ext cx="3588736" cy="329184"/>
          </a:xfrm>
          <a:prstGeom prst="rect">
            <a:avLst/>
          </a:prstGeom>
          <a:noFill/>
        </p:spPr>
        <p:txBody>
          <a:bodyPr wrap="square" anchor="ctr" lIns="0" rIns="0" tIns="0" bIns="0">
            <a:spAutoFit/>
          </a:bodyPr>
          <a:lstStyle/>
          <a:p>
            <a:pPr algn="l"/>
            <a:r>
              <a:rPr sz="1150" b="0" i="0">
                <a:solidFill>
                  <a:srgbClr val="404040"/>
                </a:solidFill>
                <a:latin typeface="Arial"/>
              </a:rPr>
              <a:t>bosch boonstra schaaf optic atrophy syndrome</a:t>
            </a:r>
          </a:p>
        </p:txBody>
      </p:sp>
      <p:sp>
        <p:nvSpPr>
          <p:cNvPr id="22" name="TextBox 21"/>
          <p:cNvSpPr txBox="1"/>
          <p:nvPr/>
        </p:nvSpPr>
        <p:spPr>
          <a:xfrm>
            <a:off x="4655009" y="4315968"/>
            <a:ext cx="868680" cy="329184"/>
          </a:xfrm>
          <a:prstGeom prst="rect">
            <a:avLst/>
          </a:prstGeom>
          <a:noFill/>
        </p:spPr>
        <p:txBody>
          <a:bodyPr wrap="square" anchor="ctr" lIns="0" rIns="0" tIns="0" bIns="0">
            <a:spAutoFit/>
          </a:bodyPr>
          <a:lstStyle/>
          <a:p>
            <a:pPr algn="r"/>
            <a:r>
              <a:rPr sz="1250" b="1" i="0">
                <a:solidFill>
                  <a:srgbClr val="17375F"/>
                </a:solidFill>
                <a:latin typeface="Arial"/>
              </a:rPr>
              <a:t>244</a:t>
            </a:r>
          </a:p>
        </p:txBody>
      </p:sp>
      <p:sp>
        <p:nvSpPr>
          <p:cNvPr id="23" name="Rectangle 22"/>
          <p:cNvSpPr/>
          <p:nvPr/>
        </p:nvSpPr>
        <p:spPr>
          <a:xfrm>
            <a:off x="6313346" y="2377440"/>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59650" y="2414016"/>
            <a:ext cx="2936238" cy="329184"/>
          </a:xfrm>
          <a:prstGeom prst="rect">
            <a:avLst/>
          </a:prstGeom>
          <a:noFill/>
        </p:spPr>
        <p:txBody>
          <a:bodyPr wrap="square" anchor="ctr" lIns="0" rIns="0" tIns="0" bIns="0">
            <a:spAutoFit/>
          </a:bodyPr>
          <a:lstStyle/>
          <a:p>
            <a:pPr algn="l"/>
            <a:r>
              <a:rPr sz="1150" b="0" i="0">
                <a:solidFill>
                  <a:srgbClr val="404040"/>
                </a:solidFill>
                <a:latin typeface="Arial"/>
              </a:rPr>
              <a:t>bbsoas symptoms</a:t>
            </a:r>
          </a:p>
        </p:txBody>
      </p:sp>
      <p:sp>
        <p:nvSpPr>
          <p:cNvPr id="25" name="TextBox 24"/>
          <p:cNvSpPr txBox="1"/>
          <p:nvPr/>
        </p:nvSpPr>
        <p:spPr>
          <a:xfrm>
            <a:off x="9715628" y="2414016"/>
            <a:ext cx="1463040" cy="329184"/>
          </a:xfrm>
          <a:prstGeom prst="rect">
            <a:avLst/>
          </a:prstGeom>
          <a:noFill/>
        </p:spPr>
        <p:txBody>
          <a:bodyPr wrap="square" anchor="ctr" lIns="0" rIns="0" tIns="0" bIns="0">
            <a:spAutoFit/>
          </a:bodyPr>
          <a:lstStyle/>
          <a:p>
            <a:pPr algn="r"/>
            <a:r>
              <a:rPr sz="1150" b="1" i="0">
                <a:solidFill>
                  <a:srgbClr val="00819C"/>
                </a:solidFill>
                <a:latin typeface="Arial"/>
              </a:rPr>
              <a:t>40</a:t>
            </a:r>
          </a:p>
        </p:txBody>
      </p:sp>
      <p:sp>
        <p:nvSpPr>
          <p:cNvPr id="26" name="Rectangle 25"/>
          <p:cNvSpPr/>
          <p:nvPr/>
        </p:nvSpPr>
        <p:spPr>
          <a:xfrm>
            <a:off x="6313346" y="2852928"/>
            <a:ext cx="5002481"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59650" y="2889504"/>
            <a:ext cx="2936238" cy="329184"/>
          </a:xfrm>
          <a:prstGeom prst="rect">
            <a:avLst/>
          </a:prstGeom>
          <a:noFill/>
        </p:spPr>
        <p:txBody>
          <a:bodyPr wrap="square" anchor="ctr" lIns="0" rIns="0" tIns="0" bIns="0">
            <a:spAutoFit/>
          </a:bodyPr>
          <a:lstStyle/>
          <a:p>
            <a:pPr algn="l"/>
            <a:r>
              <a:rPr sz="1150" b="0" i="0">
                <a:solidFill>
                  <a:srgbClr val="404040"/>
                </a:solidFill>
                <a:latin typeface="Arial"/>
              </a:rPr>
              <a:t>bbsoas life expectancy</a:t>
            </a:r>
          </a:p>
        </p:txBody>
      </p:sp>
      <p:sp>
        <p:nvSpPr>
          <p:cNvPr id="28" name="TextBox 27"/>
          <p:cNvSpPr txBox="1"/>
          <p:nvPr/>
        </p:nvSpPr>
        <p:spPr>
          <a:xfrm>
            <a:off x="9715628" y="2889504"/>
            <a:ext cx="1463040" cy="329184"/>
          </a:xfrm>
          <a:prstGeom prst="rect">
            <a:avLst/>
          </a:prstGeom>
          <a:noFill/>
        </p:spPr>
        <p:txBody>
          <a:bodyPr wrap="square" anchor="ctr" lIns="0" rIns="0" tIns="0" bIns="0">
            <a:spAutoFit/>
          </a:bodyPr>
          <a:lstStyle/>
          <a:p>
            <a:pPr algn="r"/>
            <a:r>
              <a:rPr sz="1150" b="1" i="0">
                <a:solidFill>
                  <a:srgbClr val="00819C"/>
                </a:solidFill>
                <a:latin typeface="Arial"/>
              </a:rPr>
              <a:t>34</a:t>
            </a:r>
          </a:p>
        </p:txBody>
      </p:sp>
      <p:sp>
        <p:nvSpPr>
          <p:cNvPr id="29" name="Rectangle 28"/>
          <p:cNvSpPr/>
          <p:nvPr/>
        </p:nvSpPr>
        <p:spPr>
          <a:xfrm>
            <a:off x="6313346" y="3328416"/>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59650" y="3364992"/>
            <a:ext cx="2936238" cy="329184"/>
          </a:xfrm>
          <a:prstGeom prst="rect">
            <a:avLst/>
          </a:prstGeom>
          <a:noFill/>
        </p:spPr>
        <p:txBody>
          <a:bodyPr wrap="square" anchor="ctr" lIns="0" rIns="0" tIns="0" bIns="0">
            <a:spAutoFit/>
          </a:bodyPr>
          <a:lstStyle/>
          <a:p>
            <a:pPr algn="l"/>
            <a:r>
              <a:rPr sz="1150" b="0" i="0">
                <a:solidFill>
                  <a:srgbClr val="404040"/>
                </a:solidFill>
                <a:latin typeface="Arial"/>
              </a:rPr>
              <a:t>syndrome de bosch boonstra schaaf</a:t>
            </a:r>
          </a:p>
        </p:txBody>
      </p:sp>
      <p:sp>
        <p:nvSpPr>
          <p:cNvPr id="31" name="TextBox 30"/>
          <p:cNvSpPr txBox="1"/>
          <p:nvPr/>
        </p:nvSpPr>
        <p:spPr>
          <a:xfrm>
            <a:off x="9715628" y="3364992"/>
            <a:ext cx="1463040" cy="329184"/>
          </a:xfrm>
          <a:prstGeom prst="rect">
            <a:avLst/>
          </a:prstGeom>
          <a:noFill/>
        </p:spPr>
        <p:txBody>
          <a:bodyPr wrap="square" anchor="ctr" lIns="0" rIns="0" tIns="0" bIns="0">
            <a:spAutoFit/>
          </a:bodyPr>
          <a:lstStyle/>
          <a:p>
            <a:pPr algn="r"/>
            <a:r>
              <a:rPr sz="1150" b="1" i="0">
                <a:solidFill>
                  <a:srgbClr val="00819C"/>
                </a:solidFill>
                <a:latin typeface="Arial"/>
              </a:rPr>
              <a:t>15th → 2nd</a:t>
            </a:r>
          </a:p>
        </p:txBody>
      </p:sp>
      <p:sp>
        <p:nvSpPr>
          <p:cNvPr id="32" name="Rectangle 31"/>
          <p:cNvSpPr/>
          <p:nvPr/>
        </p:nvSpPr>
        <p:spPr>
          <a:xfrm>
            <a:off x="6313346" y="3803904"/>
            <a:ext cx="5002481"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59650" y="3840480"/>
            <a:ext cx="2936238" cy="329184"/>
          </a:xfrm>
          <a:prstGeom prst="rect">
            <a:avLst/>
          </a:prstGeom>
          <a:noFill/>
        </p:spPr>
        <p:txBody>
          <a:bodyPr wrap="square" anchor="ctr" lIns="0" rIns="0" tIns="0" bIns="0">
            <a:spAutoFit/>
          </a:bodyPr>
          <a:lstStyle/>
          <a:p>
            <a:pPr algn="l"/>
            <a:r>
              <a:rPr sz="1150" b="0" i="0">
                <a:solidFill>
                  <a:srgbClr val="404040"/>
                </a:solidFill>
                <a:latin typeface="Arial"/>
              </a:rPr>
              <a:t>gendefekt nr2f1</a:t>
            </a:r>
          </a:p>
        </p:txBody>
      </p:sp>
      <p:sp>
        <p:nvSpPr>
          <p:cNvPr id="34" name="TextBox 33"/>
          <p:cNvSpPr txBox="1"/>
          <p:nvPr/>
        </p:nvSpPr>
        <p:spPr>
          <a:xfrm>
            <a:off x="9715628" y="3840480"/>
            <a:ext cx="1463040" cy="329184"/>
          </a:xfrm>
          <a:prstGeom prst="rect">
            <a:avLst/>
          </a:prstGeom>
          <a:noFill/>
        </p:spPr>
        <p:txBody>
          <a:bodyPr wrap="square" anchor="ctr" lIns="0" rIns="0" tIns="0" bIns="0">
            <a:spAutoFit/>
          </a:bodyPr>
          <a:lstStyle/>
          <a:p>
            <a:pPr algn="r"/>
            <a:r>
              <a:rPr sz="1150" b="1" i="0">
                <a:solidFill>
                  <a:srgbClr val="00819C"/>
                </a:solidFill>
                <a:latin typeface="Arial"/>
              </a:rPr>
              <a:t>new, now 1st</a:t>
            </a:r>
          </a:p>
        </p:txBody>
      </p:sp>
      <p:sp>
        <p:nvSpPr>
          <p:cNvPr id="35" name="Rectangle 34"/>
          <p:cNvSpPr/>
          <p:nvPr/>
        </p:nvSpPr>
        <p:spPr>
          <a:xfrm>
            <a:off x="6313346" y="4279392"/>
            <a:ext cx="5002481" cy="402336"/>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59650" y="4315968"/>
            <a:ext cx="2936238" cy="329184"/>
          </a:xfrm>
          <a:prstGeom prst="rect">
            <a:avLst/>
          </a:prstGeom>
          <a:noFill/>
        </p:spPr>
        <p:txBody>
          <a:bodyPr wrap="square" anchor="ctr" lIns="0" rIns="0" tIns="0" bIns="0">
            <a:spAutoFit/>
          </a:bodyPr>
          <a:lstStyle/>
          <a:p>
            <a:pPr algn="l"/>
            <a:r>
              <a:rPr sz="1150" b="0" i="0">
                <a:solidFill>
                  <a:srgbClr val="404040"/>
                </a:solidFill>
                <a:latin typeface="Arial"/>
              </a:rPr>
              <a:t>síndrome de bosch boonstra schaaf</a:t>
            </a:r>
          </a:p>
        </p:txBody>
      </p:sp>
      <p:sp>
        <p:nvSpPr>
          <p:cNvPr id="37" name="TextBox 36"/>
          <p:cNvSpPr txBox="1"/>
          <p:nvPr/>
        </p:nvSpPr>
        <p:spPr>
          <a:xfrm>
            <a:off x="9715628" y="4315968"/>
            <a:ext cx="1463040" cy="329184"/>
          </a:xfrm>
          <a:prstGeom prst="rect">
            <a:avLst/>
          </a:prstGeom>
          <a:noFill/>
        </p:spPr>
        <p:txBody>
          <a:bodyPr wrap="square" anchor="ctr" lIns="0" rIns="0" tIns="0" bIns="0">
            <a:spAutoFit/>
          </a:bodyPr>
          <a:lstStyle/>
          <a:p>
            <a:pPr algn="r"/>
            <a:r>
              <a:rPr sz="1150" b="1" i="0">
                <a:solidFill>
                  <a:srgbClr val="00819C"/>
                </a:solidFill>
                <a:latin typeface="Arial"/>
              </a:rPr>
              <a:t>12</a:t>
            </a:r>
          </a:p>
        </p:txBody>
      </p:sp>
      <p:sp>
        <p:nvSpPr>
          <p:cNvPr id="38" name="Rectangle 37"/>
          <p:cNvSpPr/>
          <p:nvPr/>
        </p:nvSpPr>
        <p:spPr>
          <a:xfrm>
            <a:off x="658368" y="5257800"/>
            <a:ext cx="10874959" cy="77724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58368" y="5257800"/>
            <a:ext cx="54864" cy="777240"/>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32688" y="5404104"/>
            <a:ext cx="10372039" cy="502920"/>
          </a:xfrm>
          <a:prstGeom prst="rect">
            <a:avLst/>
          </a:prstGeom>
          <a:noFill/>
        </p:spPr>
        <p:txBody>
          <a:bodyPr wrap="square" anchor="ctr" lIns="0" rIns="0" tIns="0" bIns="0">
            <a:spAutoFit/>
          </a:bodyPr>
          <a:lstStyle/>
          <a:p>
            <a:pPr algn="l">
              <a:lnSpc>
                <a:spcPct val="120000"/>
              </a:lnSpc>
            </a:pPr>
            <a:r>
              <a:rPr sz="1250" b="0" i="0">
                <a:solidFill>
                  <a:srgbClr val="404040"/>
                </a:solidFill>
                <a:latin typeface="Arial"/>
              </a:rPr>
              <a:t>Two thirds of clicks are the name of the condition, not the name of the Foundation. Searches for "bbsoas syndrome" went from one every four days to almost one a day. That is our first persona, on the evening of a diagnosis.</a:t>
            </a:r>
          </a:p>
        </p:txBody>
      </p:sp>
      <p:sp>
        <p:nvSpPr>
          <p:cNvPr id="41" name="TextBox 40"/>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Search Console · clicks, 21 September 2025 to 14 September 2026</a:t>
            </a:r>
          </a:p>
        </p:txBody>
      </p:sp>
      <p:sp>
        <p:nvSpPr>
          <p:cNvPr id="42" name="TextBox 41"/>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1 · CAN FAMILIES FIND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A third of our search results are not in English</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We publish in seven languages. The story Google shows most often is in French.</a:t>
            </a:r>
          </a:p>
        </p:txBody>
      </p:sp>
      <p:sp>
        <p:nvSpPr>
          <p:cNvPr id="6" name="TextBox 5"/>
          <p:cNvSpPr txBox="1"/>
          <p:nvPr/>
        </p:nvSpPr>
        <p:spPr>
          <a:xfrm>
            <a:off x="658368" y="2048256"/>
            <a:ext cx="5437479" cy="274320"/>
          </a:xfrm>
          <a:prstGeom prst="rect">
            <a:avLst/>
          </a:prstGeom>
          <a:noFill/>
        </p:spPr>
        <p:txBody>
          <a:bodyPr wrap="square" anchor="t" lIns="0" rIns="0" tIns="0" bIns="0">
            <a:spAutoFit/>
          </a:bodyPr>
          <a:lstStyle/>
          <a:p>
            <a:pPr algn="l"/>
            <a:r>
              <a:rPr sz="950" b="1" i="0">
                <a:solidFill>
                  <a:srgbClr val="A3A3A3"/>
                </a:solidFill>
                <a:latin typeface="Arial"/>
              </a:rPr>
              <a:t>TIMES WE APPEARED IN GOOGLE, BY LANGUAGE</a:t>
            </a:r>
          </a:p>
        </p:txBody>
      </p:sp>
      <p:sp>
        <p:nvSpPr>
          <p:cNvPr id="7" name="TextBox 6"/>
          <p:cNvSpPr txBox="1"/>
          <p:nvPr/>
        </p:nvSpPr>
        <p:spPr>
          <a:xfrm>
            <a:off x="658368" y="2377440"/>
            <a:ext cx="914400" cy="310896"/>
          </a:xfrm>
          <a:prstGeom prst="rect">
            <a:avLst/>
          </a:prstGeom>
          <a:noFill/>
        </p:spPr>
        <p:txBody>
          <a:bodyPr wrap="square" anchor="ctr" lIns="0" rIns="0" tIns="0" bIns="0">
            <a:spAutoFit/>
          </a:bodyPr>
          <a:lstStyle/>
          <a:p>
            <a:pPr algn="l"/>
            <a:r>
              <a:rPr sz="1100" b="1" i="0">
                <a:solidFill>
                  <a:srgbClr val="404040"/>
                </a:solidFill>
                <a:latin typeface="Arial"/>
              </a:rPr>
              <a:t>English</a:t>
            </a:r>
          </a:p>
        </p:txBody>
      </p:sp>
      <p:sp>
        <p:nvSpPr>
          <p:cNvPr id="8" name="Rectangle 7"/>
          <p:cNvSpPr/>
          <p:nvPr/>
        </p:nvSpPr>
        <p:spPr>
          <a:xfrm>
            <a:off x="1618488" y="2432304"/>
            <a:ext cx="3914985" cy="201168"/>
          </a:xfrm>
          <a:prstGeom prst="rect">
            <a:avLst/>
          </a:prstGeom>
          <a:solidFill>
            <a:srgbClr val="214E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79193" y="2377440"/>
            <a:ext cx="1097280" cy="310896"/>
          </a:xfrm>
          <a:prstGeom prst="rect">
            <a:avLst/>
          </a:prstGeom>
          <a:noFill/>
        </p:spPr>
        <p:txBody>
          <a:bodyPr wrap="square" anchor="ctr" lIns="0" rIns="0" tIns="0" bIns="0">
            <a:spAutoFit/>
          </a:bodyPr>
          <a:lstStyle/>
          <a:p>
            <a:pPr algn="l"/>
            <a:r>
              <a:rPr sz="1050" b="0" i="0">
                <a:solidFill>
                  <a:srgbClr val="737373"/>
                </a:solidFill>
                <a:latin typeface="Arial"/>
              </a:rPr>
              <a:t>128,973</a:t>
            </a:r>
          </a:p>
        </p:txBody>
      </p:sp>
      <p:sp>
        <p:nvSpPr>
          <p:cNvPr id="10" name="TextBox 9"/>
          <p:cNvSpPr txBox="1"/>
          <p:nvPr/>
        </p:nvSpPr>
        <p:spPr>
          <a:xfrm>
            <a:off x="658368" y="2761488"/>
            <a:ext cx="914400" cy="310896"/>
          </a:xfrm>
          <a:prstGeom prst="rect">
            <a:avLst/>
          </a:prstGeom>
          <a:noFill/>
        </p:spPr>
        <p:txBody>
          <a:bodyPr wrap="square" anchor="ctr" lIns="0" rIns="0" tIns="0" bIns="0">
            <a:spAutoFit/>
          </a:bodyPr>
          <a:lstStyle/>
          <a:p>
            <a:pPr algn="l"/>
            <a:r>
              <a:rPr sz="1100" b="1" i="0">
                <a:solidFill>
                  <a:srgbClr val="404040"/>
                </a:solidFill>
                <a:latin typeface="Arial"/>
              </a:rPr>
              <a:t>French</a:t>
            </a:r>
          </a:p>
        </p:txBody>
      </p:sp>
      <p:sp>
        <p:nvSpPr>
          <p:cNvPr id="11" name="Rectangle 10"/>
          <p:cNvSpPr/>
          <p:nvPr/>
        </p:nvSpPr>
        <p:spPr>
          <a:xfrm>
            <a:off x="1618488" y="2816352"/>
            <a:ext cx="1093511"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57719" y="2761488"/>
            <a:ext cx="1097280" cy="310896"/>
          </a:xfrm>
          <a:prstGeom prst="rect">
            <a:avLst/>
          </a:prstGeom>
          <a:noFill/>
        </p:spPr>
        <p:txBody>
          <a:bodyPr wrap="square" anchor="ctr" lIns="0" rIns="0" tIns="0" bIns="0">
            <a:spAutoFit/>
          </a:bodyPr>
          <a:lstStyle/>
          <a:p>
            <a:pPr algn="l"/>
            <a:r>
              <a:rPr sz="1050" b="0" i="0">
                <a:solidFill>
                  <a:srgbClr val="737373"/>
                </a:solidFill>
                <a:latin typeface="Arial"/>
              </a:rPr>
              <a:t>36,024</a:t>
            </a:r>
          </a:p>
        </p:txBody>
      </p:sp>
      <p:sp>
        <p:nvSpPr>
          <p:cNvPr id="13" name="TextBox 12"/>
          <p:cNvSpPr txBox="1"/>
          <p:nvPr/>
        </p:nvSpPr>
        <p:spPr>
          <a:xfrm>
            <a:off x="658368" y="3145536"/>
            <a:ext cx="914400" cy="310896"/>
          </a:xfrm>
          <a:prstGeom prst="rect">
            <a:avLst/>
          </a:prstGeom>
          <a:noFill/>
        </p:spPr>
        <p:txBody>
          <a:bodyPr wrap="square" anchor="ctr" lIns="0" rIns="0" tIns="0" bIns="0">
            <a:spAutoFit/>
          </a:bodyPr>
          <a:lstStyle/>
          <a:p>
            <a:pPr algn="l"/>
            <a:r>
              <a:rPr sz="1100" b="1" i="0">
                <a:solidFill>
                  <a:srgbClr val="404040"/>
                </a:solidFill>
                <a:latin typeface="Arial"/>
              </a:rPr>
              <a:t>German</a:t>
            </a:r>
          </a:p>
        </p:txBody>
      </p:sp>
      <p:sp>
        <p:nvSpPr>
          <p:cNvPr id="14" name="Rectangle 13"/>
          <p:cNvSpPr/>
          <p:nvPr/>
        </p:nvSpPr>
        <p:spPr>
          <a:xfrm>
            <a:off x="1618488" y="3200400"/>
            <a:ext cx="619638"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283846" y="3145536"/>
            <a:ext cx="1097280" cy="310896"/>
          </a:xfrm>
          <a:prstGeom prst="rect">
            <a:avLst/>
          </a:prstGeom>
          <a:noFill/>
        </p:spPr>
        <p:txBody>
          <a:bodyPr wrap="square" anchor="ctr" lIns="0" rIns="0" tIns="0" bIns="0">
            <a:spAutoFit/>
          </a:bodyPr>
          <a:lstStyle/>
          <a:p>
            <a:pPr algn="l"/>
            <a:r>
              <a:rPr sz="1050" b="0" i="0">
                <a:solidFill>
                  <a:srgbClr val="737373"/>
                </a:solidFill>
                <a:latin typeface="Arial"/>
              </a:rPr>
              <a:t>20,413</a:t>
            </a:r>
          </a:p>
        </p:txBody>
      </p:sp>
      <p:sp>
        <p:nvSpPr>
          <p:cNvPr id="16" name="TextBox 15"/>
          <p:cNvSpPr txBox="1"/>
          <p:nvPr/>
        </p:nvSpPr>
        <p:spPr>
          <a:xfrm>
            <a:off x="658368" y="3529584"/>
            <a:ext cx="914400" cy="310896"/>
          </a:xfrm>
          <a:prstGeom prst="rect">
            <a:avLst/>
          </a:prstGeom>
          <a:noFill/>
        </p:spPr>
        <p:txBody>
          <a:bodyPr wrap="square" anchor="ctr" lIns="0" rIns="0" tIns="0" bIns="0">
            <a:spAutoFit/>
          </a:bodyPr>
          <a:lstStyle/>
          <a:p>
            <a:pPr algn="l"/>
            <a:r>
              <a:rPr sz="1100" b="1" i="0">
                <a:solidFill>
                  <a:srgbClr val="404040"/>
                </a:solidFill>
                <a:latin typeface="Arial"/>
              </a:rPr>
              <a:t>Spanish</a:t>
            </a:r>
          </a:p>
        </p:txBody>
      </p:sp>
      <p:sp>
        <p:nvSpPr>
          <p:cNvPr id="17" name="Rectangle 16"/>
          <p:cNvSpPr/>
          <p:nvPr/>
        </p:nvSpPr>
        <p:spPr>
          <a:xfrm>
            <a:off x="1618488" y="3584448"/>
            <a:ext cx="408488"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072696" y="3529584"/>
            <a:ext cx="1097280" cy="310896"/>
          </a:xfrm>
          <a:prstGeom prst="rect">
            <a:avLst/>
          </a:prstGeom>
          <a:noFill/>
        </p:spPr>
        <p:txBody>
          <a:bodyPr wrap="square" anchor="ctr" lIns="0" rIns="0" tIns="0" bIns="0">
            <a:spAutoFit/>
          </a:bodyPr>
          <a:lstStyle/>
          <a:p>
            <a:pPr algn="l"/>
            <a:r>
              <a:rPr sz="1050" b="0" i="0">
                <a:solidFill>
                  <a:srgbClr val="737373"/>
                </a:solidFill>
                <a:latin typeface="Arial"/>
              </a:rPr>
              <a:t>13,457</a:t>
            </a:r>
          </a:p>
        </p:txBody>
      </p:sp>
      <p:sp>
        <p:nvSpPr>
          <p:cNvPr id="19" name="TextBox 18"/>
          <p:cNvSpPr txBox="1"/>
          <p:nvPr/>
        </p:nvSpPr>
        <p:spPr>
          <a:xfrm>
            <a:off x="658368" y="3913632"/>
            <a:ext cx="914400" cy="310896"/>
          </a:xfrm>
          <a:prstGeom prst="rect">
            <a:avLst/>
          </a:prstGeom>
          <a:noFill/>
        </p:spPr>
        <p:txBody>
          <a:bodyPr wrap="square" anchor="ctr" lIns="0" rIns="0" tIns="0" bIns="0">
            <a:spAutoFit/>
          </a:bodyPr>
          <a:lstStyle/>
          <a:p>
            <a:pPr algn="l"/>
            <a:r>
              <a:rPr sz="1100" b="1" i="0">
                <a:solidFill>
                  <a:srgbClr val="404040"/>
                </a:solidFill>
                <a:latin typeface="Arial"/>
              </a:rPr>
              <a:t>Chinese</a:t>
            </a:r>
          </a:p>
        </p:txBody>
      </p:sp>
      <p:sp>
        <p:nvSpPr>
          <p:cNvPr id="20" name="Rectangle 19"/>
          <p:cNvSpPr/>
          <p:nvPr/>
        </p:nvSpPr>
        <p:spPr>
          <a:xfrm>
            <a:off x="1618488" y="3968496"/>
            <a:ext cx="342223"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006431" y="3913632"/>
            <a:ext cx="1097280" cy="310896"/>
          </a:xfrm>
          <a:prstGeom prst="rect">
            <a:avLst/>
          </a:prstGeom>
          <a:noFill/>
        </p:spPr>
        <p:txBody>
          <a:bodyPr wrap="square" anchor="ctr" lIns="0" rIns="0" tIns="0" bIns="0">
            <a:spAutoFit/>
          </a:bodyPr>
          <a:lstStyle/>
          <a:p>
            <a:pPr algn="l"/>
            <a:r>
              <a:rPr sz="1050" b="0" i="0">
                <a:solidFill>
                  <a:srgbClr val="737373"/>
                </a:solidFill>
                <a:latin typeface="Arial"/>
              </a:rPr>
              <a:t>11,274</a:t>
            </a:r>
          </a:p>
        </p:txBody>
      </p:sp>
      <p:sp>
        <p:nvSpPr>
          <p:cNvPr id="22" name="TextBox 21"/>
          <p:cNvSpPr txBox="1"/>
          <p:nvPr/>
        </p:nvSpPr>
        <p:spPr>
          <a:xfrm>
            <a:off x="658368" y="4297680"/>
            <a:ext cx="914400" cy="310896"/>
          </a:xfrm>
          <a:prstGeom prst="rect">
            <a:avLst/>
          </a:prstGeom>
          <a:noFill/>
        </p:spPr>
        <p:txBody>
          <a:bodyPr wrap="square" anchor="ctr" lIns="0" rIns="0" tIns="0" bIns="0">
            <a:spAutoFit/>
          </a:bodyPr>
          <a:lstStyle/>
          <a:p>
            <a:pPr algn="l"/>
            <a:r>
              <a:rPr sz="1100" b="1" i="0">
                <a:solidFill>
                  <a:srgbClr val="404040"/>
                </a:solidFill>
                <a:latin typeface="Arial"/>
              </a:rPr>
              <a:t>Portuguese</a:t>
            </a:r>
          </a:p>
        </p:txBody>
      </p:sp>
      <p:sp>
        <p:nvSpPr>
          <p:cNvPr id="23" name="Rectangle 22"/>
          <p:cNvSpPr/>
          <p:nvPr/>
        </p:nvSpPr>
        <p:spPr>
          <a:xfrm>
            <a:off x="1618488" y="4352544"/>
            <a:ext cx="196852"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861060" y="4297680"/>
            <a:ext cx="1097280" cy="310896"/>
          </a:xfrm>
          <a:prstGeom prst="rect">
            <a:avLst/>
          </a:prstGeom>
          <a:noFill/>
        </p:spPr>
        <p:txBody>
          <a:bodyPr wrap="square" anchor="ctr" lIns="0" rIns="0" tIns="0" bIns="0">
            <a:spAutoFit/>
          </a:bodyPr>
          <a:lstStyle/>
          <a:p>
            <a:pPr algn="l"/>
            <a:r>
              <a:rPr sz="1050" b="0" i="0">
                <a:solidFill>
                  <a:srgbClr val="737373"/>
                </a:solidFill>
                <a:latin typeface="Arial"/>
              </a:rPr>
              <a:t>6,485</a:t>
            </a:r>
          </a:p>
        </p:txBody>
      </p:sp>
      <p:sp>
        <p:nvSpPr>
          <p:cNvPr id="25" name="TextBox 24"/>
          <p:cNvSpPr txBox="1"/>
          <p:nvPr/>
        </p:nvSpPr>
        <p:spPr>
          <a:xfrm>
            <a:off x="658368" y="4681728"/>
            <a:ext cx="914400" cy="310896"/>
          </a:xfrm>
          <a:prstGeom prst="rect">
            <a:avLst/>
          </a:prstGeom>
          <a:noFill/>
        </p:spPr>
        <p:txBody>
          <a:bodyPr wrap="square" anchor="ctr" lIns="0" rIns="0" tIns="0" bIns="0">
            <a:spAutoFit/>
          </a:bodyPr>
          <a:lstStyle/>
          <a:p>
            <a:pPr algn="l"/>
            <a:r>
              <a:rPr sz="1100" b="1" i="0">
                <a:solidFill>
                  <a:srgbClr val="404040"/>
                </a:solidFill>
                <a:latin typeface="Arial"/>
              </a:rPr>
              <a:t>Italian</a:t>
            </a:r>
          </a:p>
        </p:txBody>
      </p:sp>
      <p:sp>
        <p:nvSpPr>
          <p:cNvPr id="26" name="Rectangle 25"/>
          <p:cNvSpPr/>
          <p:nvPr/>
        </p:nvSpPr>
        <p:spPr>
          <a:xfrm>
            <a:off x="1618488" y="4736592"/>
            <a:ext cx="187564" cy="201168"/>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851772" y="4681728"/>
            <a:ext cx="1097280" cy="310896"/>
          </a:xfrm>
          <a:prstGeom prst="rect">
            <a:avLst/>
          </a:prstGeom>
          <a:noFill/>
        </p:spPr>
        <p:txBody>
          <a:bodyPr wrap="square" anchor="ctr" lIns="0" rIns="0" tIns="0" bIns="0">
            <a:spAutoFit/>
          </a:bodyPr>
          <a:lstStyle/>
          <a:p>
            <a:pPr algn="l"/>
            <a:r>
              <a:rPr sz="1050" b="0" i="0">
                <a:solidFill>
                  <a:srgbClr val="737373"/>
                </a:solidFill>
                <a:latin typeface="Arial"/>
              </a:rPr>
              <a:t>6,179</a:t>
            </a:r>
          </a:p>
        </p:txBody>
      </p:sp>
      <p:sp>
        <p:nvSpPr>
          <p:cNvPr id="28" name="TextBox 27"/>
          <p:cNvSpPr txBox="1"/>
          <p:nvPr/>
        </p:nvSpPr>
        <p:spPr>
          <a:xfrm>
            <a:off x="6639595" y="2048256"/>
            <a:ext cx="4893731" cy="274320"/>
          </a:xfrm>
          <a:prstGeom prst="rect">
            <a:avLst/>
          </a:prstGeom>
          <a:noFill/>
        </p:spPr>
        <p:txBody>
          <a:bodyPr wrap="square" anchor="t" lIns="0" rIns="0" tIns="0" bIns="0">
            <a:spAutoFit/>
          </a:bodyPr>
          <a:lstStyle/>
          <a:p>
            <a:pPr algn="l"/>
            <a:r>
              <a:rPr sz="950" b="1" i="0">
                <a:solidFill>
                  <a:srgbClr val="A3A3A3"/>
                </a:solidFill>
                <a:latin typeface="Arial"/>
              </a:rPr>
              <a:t>DAILY CLICKS FROM GOOGLE  ·  OLD SITE → NEW SITE</a:t>
            </a:r>
          </a:p>
        </p:txBody>
      </p:sp>
      <p:sp>
        <p:nvSpPr>
          <p:cNvPr id="29" name="TextBox 28"/>
          <p:cNvSpPr txBox="1"/>
          <p:nvPr/>
        </p:nvSpPr>
        <p:spPr>
          <a:xfrm>
            <a:off x="6639595" y="2377440"/>
            <a:ext cx="1737360" cy="310896"/>
          </a:xfrm>
          <a:prstGeom prst="rect">
            <a:avLst/>
          </a:prstGeom>
          <a:noFill/>
        </p:spPr>
        <p:txBody>
          <a:bodyPr wrap="square" anchor="ctr" lIns="0" rIns="0" tIns="0" bIns="0">
            <a:spAutoFit/>
          </a:bodyPr>
          <a:lstStyle/>
          <a:p>
            <a:pPr algn="l"/>
            <a:r>
              <a:rPr sz="1150" b="0" i="0">
                <a:solidFill>
                  <a:srgbClr val="404040"/>
                </a:solidFill>
                <a:latin typeface="Arial"/>
              </a:rPr>
              <a:t>France</a:t>
            </a:r>
          </a:p>
        </p:txBody>
      </p:sp>
      <p:sp>
        <p:nvSpPr>
          <p:cNvPr id="30" name="TextBox 29"/>
          <p:cNvSpPr txBox="1"/>
          <p:nvPr/>
        </p:nvSpPr>
        <p:spPr>
          <a:xfrm>
            <a:off x="8376955" y="2377440"/>
            <a:ext cx="548640" cy="310896"/>
          </a:xfrm>
          <a:prstGeom prst="rect">
            <a:avLst/>
          </a:prstGeom>
          <a:noFill/>
        </p:spPr>
        <p:txBody>
          <a:bodyPr wrap="square" anchor="ctr" lIns="0" rIns="0" tIns="0" bIns="0">
            <a:spAutoFit/>
          </a:bodyPr>
          <a:lstStyle/>
          <a:p>
            <a:pPr algn="l"/>
            <a:r>
              <a:rPr sz="1150" b="0" i="0">
                <a:solidFill>
                  <a:srgbClr val="A3A3A3"/>
                </a:solidFill>
                <a:latin typeface="Arial"/>
              </a:rPr>
              <a:t>0.7</a:t>
            </a:r>
          </a:p>
        </p:txBody>
      </p:sp>
      <p:sp>
        <p:nvSpPr>
          <p:cNvPr id="31" name="TextBox 30"/>
          <p:cNvSpPr txBox="1"/>
          <p:nvPr/>
        </p:nvSpPr>
        <p:spPr>
          <a:xfrm>
            <a:off x="8925595" y="2377440"/>
            <a:ext cx="365760" cy="310896"/>
          </a:xfrm>
          <a:prstGeom prst="rect">
            <a:avLst/>
          </a:prstGeom>
          <a:noFill/>
        </p:spPr>
        <p:txBody>
          <a:bodyPr wrap="square" anchor="ctr" lIns="0" rIns="0" tIns="0" bIns="0">
            <a:spAutoFit/>
          </a:bodyPr>
          <a:lstStyle/>
          <a:p>
            <a:pPr algn="l"/>
            <a:r>
              <a:rPr sz="1000" b="0" i="0">
                <a:solidFill>
                  <a:srgbClr val="D4D4D4"/>
                </a:solidFill>
                <a:latin typeface="Arial"/>
              </a:rPr>
              <a:t>to</a:t>
            </a:r>
          </a:p>
        </p:txBody>
      </p:sp>
      <p:sp>
        <p:nvSpPr>
          <p:cNvPr id="32" name="TextBox 31"/>
          <p:cNvSpPr txBox="1"/>
          <p:nvPr/>
        </p:nvSpPr>
        <p:spPr>
          <a:xfrm>
            <a:off x="9291355" y="2377440"/>
            <a:ext cx="640080" cy="310896"/>
          </a:xfrm>
          <a:prstGeom prst="rect">
            <a:avLst/>
          </a:prstGeom>
          <a:noFill/>
        </p:spPr>
        <p:txBody>
          <a:bodyPr wrap="square" anchor="ctr" lIns="0" rIns="0" tIns="0" bIns="0">
            <a:spAutoFit/>
          </a:bodyPr>
          <a:lstStyle/>
          <a:p>
            <a:pPr algn="l"/>
            <a:r>
              <a:rPr sz="1250" b="1" i="0">
                <a:solidFill>
                  <a:srgbClr val="00819C"/>
                </a:solidFill>
                <a:latin typeface="Arial"/>
              </a:rPr>
              <a:t>1.9</a:t>
            </a:r>
          </a:p>
        </p:txBody>
      </p:sp>
      <p:sp>
        <p:nvSpPr>
          <p:cNvPr id="33" name="TextBox 32"/>
          <p:cNvSpPr txBox="1"/>
          <p:nvPr/>
        </p:nvSpPr>
        <p:spPr>
          <a:xfrm>
            <a:off x="6639595" y="2761488"/>
            <a:ext cx="1737360" cy="310896"/>
          </a:xfrm>
          <a:prstGeom prst="rect">
            <a:avLst/>
          </a:prstGeom>
          <a:noFill/>
        </p:spPr>
        <p:txBody>
          <a:bodyPr wrap="square" anchor="ctr" lIns="0" rIns="0" tIns="0" bIns="0">
            <a:spAutoFit/>
          </a:bodyPr>
          <a:lstStyle/>
          <a:p>
            <a:pPr algn="l"/>
            <a:r>
              <a:rPr sz="1150" b="0" i="0">
                <a:solidFill>
                  <a:srgbClr val="404040"/>
                </a:solidFill>
                <a:latin typeface="Arial"/>
              </a:rPr>
              <a:t>Germany</a:t>
            </a:r>
          </a:p>
        </p:txBody>
      </p:sp>
      <p:sp>
        <p:nvSpPr>
          <p:cNvPr id="34" name="TextBox 33"/>
          <p:cNvSpPr txBox="1"/>
          <p:nvPr/>
        </p:nvSpPr>
        <p:spPr>
          <a:xfrm>
            <a:off x="8376955" y="2761488"/>
            <a:ext cx="548640" cy="310896"/>
          </a:xfrm>
          <a:prstGeom prst="rect">
            <a:avLst/>
          </a:prstGeom>
          <a:noFill/>
        </p:spPr>
        <p:txBody>
          <a:bodyPr wrap="square" anchor="ctr" lIns="0" rIns="0" tIns="0" bIns="0">
            <a:spAutoFit/>
          </a:bodyPr>
          <a:lstStyle/>
          <a:p>
            <a:pPr algn="l"/>
            <a:r>
              <a:rPr sz="1150" b="0" i="0">
                <a:solidFill>
                  <a:srgbClr val="A3A3A3"/>
                </a:solidFill>
                <a:latin typeface="Arial"/>
              </a:rPr>
              <a:t>0.75</a:t>
            </a:r>
          </a:p>
        </p:txBody>
      </p:sp>
      <p:sp>
        <p:nvSpPr>
          <p:cNvPr id="35" name="TextBox 34"/>
          <p:cNvSpPr txBox="1"/>
          <p:nvPr/>
        </p:nvSpPr>
        <p:spPr>
          <a:xfrm>
            <a:off x="8925595" y="2761488"/>
            <a:ext cx="365760" cy="310896"/>
          </a:xfrm>
          <a:prstGeom prst="rect">
            <a:avLst/>
          </a:prstGeom>
          <a:noFill/>
        </p:spPr>
        <p:txBody>
          <a:bodyPr wrap="square" anchor="ctr" lIns="0" rIns="0" tIns="0" bIns="0">
            <a:spAutoFit/>
          </a:bodyPr>
          <a:lstStyle/>
          <a:p>
            <a:pPr algn="l"/>
            <a:r>
              <a:rPr sz="1000" b="0" i="0">
                <a:solidFill>
                  <a:srgbClr val="D4D4D4"/>
                </a:solidFill>
                <a:latin typeface="Arial"/>
              </a:rPr>
              <a:t>to</a:t>
            </a:r>
          </a:p>
        </p:txBody>
      </p:sp>
      <p:sp>
        <p:nvSpPr>
          <p:cNvPr id="36" name="TextBox 35"/>
          <p:cNvSpPr txBox="1"/>
          <p:nvPr/>
        </p:nvSpPr>
        <p:spPr>
          <a:xfrm>
            <a:off x="9291355" y="2761488"/>
            <a:ext cx="640080" cy="310896"/>
          </a:xfrm>
          <a:prstGeom prst="rect">
            <a:avLst/>
          </a:prstGeom>
          <a:noFill/>
        </p:spPr>
        <p:txBody>
          <a:bodyPr wrap="square" anchor="ctr" lIns="0" rIns="0" tIns="0" bIns="0">
            <a:spAutoFit/>
          </a:bodyPr>
          <a:lstStyle/>
          <a:p>
            <a:pPr algn="l"/>
            <a:r>
              <a:rPr sz="1250" b="1" i="0">
                <a:solidFill>
                  <a:srgbClr val="00819C"/>
                </a:solidFill>
                <a:latin typeface="Arial"/>
              </a:rPr>
              <a:t>1.6</a:t>
            </a:r>
          </a:p>
        </p:txBody>
      </p:sp>
      <p:sp>
        <p:nvSpPr>
          <p:cNvPr id="37" name="TextBox 36"/>
          <p:cNvSpPr txBox="1"/>
          <p:nvPr/>
        </p:nvSpPr>
        <p:spPr>
          <a:xfrm>
            <a:off x="6639595" y="3145536"/>
            <a:ext cx="1737360" cy="310896"/>
          </a:xfrm>
          <a:prstGeom prst="rect">
            <a:avLst/>
          </a:prstGeom>
          <a:noFill/>
        </p:spPr>
        <p:txBody>
          <a:bodyPr wrap="square" anchor="ctr" lIns="0" rIns="0" tIns="0" bIns="0">
            <a:spAutoFit/>
          </a:bodyPr>
          <a:lstStyle/>
          <a:p>
            <a:pPr algn="l"/>
            <a:r>
              <a:rPr sz="1150" b="0" i="0">
                <a:solidFill>
                  <a:srgbClr val="404040"/>
                </a:solidFill>
                <a:latin typeface="Arial"/>
              </a:rPr>
              <a:t>United Kingdom</a:t>
            </a:r>
          </a:p>
        </p:txBody>
      </p:sp>
      <p:sp>
        <p:nvSpPr>
          <p:cNvPr id="38" name="TextBox 37"/>
          <p:cNvSpPr txBox="1"/>
          <p:nvPr/>
        </p:nvSpPr>
        <p:spPr>
          <a:xfrm>
            <a:off x="8376955" y="3145536"/>
            <a:ext cx="548640" cy="310896"/>
          </a:xfrm>
          <a:prstGeom prst="rect">
            <a:avLst/>
          </a:prstGeom>
          <a:noFill/>
        </p:spPr>
        <p:txBody>
          <a:bodyPr wrap="square" anchor="ctr" lIns="0" rIns="0" tIns="0" bIns="0">
            <a:spAutoFit/>
          </a:bodyPr>
          <a:lstStyle/>
          <a:p>
            <a:pPr algn="l"/>
            <a:r>
              <a:rPr sz="1150" b="0" i="0">
                <a:solidFill>
                  <a:srgbClr val="A3A3A3"/>
                </a:solidFill>
                <a:latin typeface="Arial"/>
              </a:rPr>
              <a:t>1.7</a:t>
            </a:r>
          </a:p>
        </p:txBody>
      </p:sp>
      <p:sp>
        <p:nvSpPr>
          <p:cNvPr id="39" name="TextBox 38"/>
          <p:cNvSpPr txBox="1"/>
          <p:nvPr/>
        </p:nvSpPr>
        <p:spPr>
          <a:xfrm>
            <a:off x="8925595" y="3145536"/>
            <a:ext cx="365760" cy="310896"/>
          </a:xfrm>
          <a:prstGeom prst="rect">
            <a:avLst/>
          </a:prstGeom>
          <a:noFill/>
        </p:spPr>
        <p:txBody>
          <a:bodyPr wrap="square" anchor="ctr" lIns="0" rIns="0" tIns="0" bIns="0">
            <a:spAutoFit/>
          </a:bodyPr>
          <a:lstStyle/>
          <a:p>
            <a:pPr algn="l"/>
            <a:r>
              <a:rPr sz="1000" b="0" i="0">
                <a:solidFill>
                  <a:srgbClr val="D4D4D4"/>
                </a:solidFill>
                <a:latin typeface="Arial"/>
              </a:rPr>
              <a:t>to</a:t>
            </a:r>
          </a:p>
        </p:txBody>
      </p:sp>
      <p:sp>
        <p:nvSpPr>
          <p:cNvPr id="40" name="TextBox 39"/>
          <p:cNvSpPr txBox="1"/>
          <p:nvPr/>
        </p:nvSpPr>
        <p:spPr>
          <a:xfrm>
            <a:off x="9291355" y="3145536"/>
            <a:ext cx="640080" cy="310896"/>
          </a:xfrm>
          <a:prstGeom prst="rect">
            <a:avLst/>
          </a:prstGeom>
          <a:noFill/>
        </p:spPr>
        <p:txBody>
          <a:bodyPr wrap="square" anchor="ctr" lIns="0" rIns="0" tIns="0" bIns="0">
            <a:spAutoFit/>
          </a:bodyPr>
          <a:lstStyle/>
          <a:p>
            <a:pPr algn="l"/>
            <a:r>
              <a:rPr sz="1250" b="1" i="0">
                <a:solidFill>
                  <a:srgbClr val="00819C"/>
                </a:solidFill>
                <a:latin typeface="Arial"/>
              </a:rPr>
              <a:t>2.8</a:t>
            </a:r>
          </a:p>
        </p:txBody>
      </p:sp>
      <p:sp>
        <p:nvSpPr>
          <p:cNvPr id="41" name="TextBox 40"/>
          <p:cNvSpPr txBox="1"/>
          <p:nvPr/>
        </p:nvSpPr>
        <p:spPr>
          <a:xfrm>
            <a:off x="6639595" y="3529584"/>
            <a:ext cx="1737360" cy="310896"/>
          </a:xfrm>
          <a:prstGeom prst="rect">
            <a:avLst/>
          </a:prstGeom>
          <a:noFill/>
        </p:spPr>
        <p:txBody>
          <a:bodyPr wrap="square" anchor="ctr" lIns="0" rIns="0" tIns="0" bIns="0">
            <a:spAutoFit/>
          </a:bodyPr>
          <a:lstStyle/>
          <a:p>
            <a:pPr algn="l"/>
            <a:r>
              <a:rPr sz="1150" b="0" i="0">
                <a:solidFill>
                  <a:srgbClr val="404040"/>
                </a:solidFill>
                <a:latin typeface="Arial"/>
              </a:rPr>
              <a:t>United States</a:t>
            </a:r>
          </a:p>
        </p:txBody>
      </p:sp>
      <p:sp>
        <p:nvSpPr>
          <p:cNvPr id="42" name="TextBox 41"/>
          <p:cNvSpPr txBox="1"/>
          <p:nvPr/>
        </p:nvSpPr>
        <p:spPr>
          <a:xfrm>
            <a:off x="8376955" y="3529584"/>
            <a:ext cx="548640" cy="310896"/>
          </a:xfrm>
          <a:prstGeom prst="rect">
            <a:avLst/>
          </a:prstGeom>
          <a:noFill/>
        </p:spPr>
        <p:txBody>
          <a:bodyPr wrap="square" anchor="ctr" lIns="0" rIns="0" tIns="0" bIns="0">
            <a:spAutoFit/>
          </a:bodyPr>
          <a:lstStyle/>
          <a:p>
            <a:pPr algn="l"/>
            <a:r>
              <a:rPr sz="1150" b="0" i="0">
                <a:solidFill>
                  <a:srgbClr val="A3A3A3"/>
                </a:solidFill>
                <a:latin typeface="Arial"/>
              </a:rPr>
              <a:t>6.2</a:t>
            </a:r>
          </a:p>
        </p:txBody>
      </p:sp>
      <p:sp>
        <p:nvSpPr>
          <p:cNvPr id="43" name="TextBox 42"/>
          <p:cNvSpPr txBox="1"/>
          <p:nvPr/>
        </p:nvSpPr>
        <p:spPr>
          <a:xfrm>
            <a:off x="8925595" y="3529584"/>
            <a:ext cx="365760" cy="310896"/>
          </a:xfrm>
          <a:prstGeom prst="rect">
            <a:avLst/>
          </a:prstGeom>
          <a:noFill/>
        </p:spPr>
        <p:txBody>
          <a:bodyPr wrap="square" anchor="ctr" lIns="0" rIns="0" tIns="0" bIns="0">
            <a:spAutoFit/>
          </a:bodyPr>
          <a:lstStyle/>
          <a:p>
            <a:pPr algn="l"/>
            <a:r>
              <a:rPr sz="1000" b="0" i="0">
                <a:solidFill>
                  <a:srgbClr val="D4D4D4"/>
                </a:solidFill>
                <a:latin typeface="Arial"/>
              </a:rPr>
              <a:t>to</a:t>
            </a:r>
          </a:p>
        </p:txBody>
      </p:sp>
      <p:sp>
        <p:nvSpPr>
          <p:cNvPr id="44" name="TextBox 43"/>
          <p:cNvSpPr txBox="1"/>
          <p:nvPr/>
        </p:nvSpPr>
        <p:spPr>
          <a:xfrm>
            <a:off x="9291355" y="3529584"/>
            <a:ext cx="640080" cy="310896"/>
          </a:xfrm>
          <a:prstGeom prst="rect">
            <a:avLst/>
          </a:prstGeom>
          <a:noFill/>
        </p:spPr>
        <p:txBody>
          <a:bodyPr wrap="square" anchor="ctr" lIns="0" rIns="0" tIns="0" bIns="0">
            <a:spAutoFit/>
          </a:bodyPr>
          <a:lstStyle/>
          <a:p>
            <a:pPr algn="l"/>
            <a:r>
              <a:rPr sz="1250" b="1" i="0">
                <a:solidFill>
                  <a:srgbClr val="00819C"/>
                </a:solidFill>
                <a:latin typeface="Arial"/>
              </a:rPr>
              <a:t>7.0</a:t>
            </a:r>
          </a:p>
        </p:txBody>
      </p:sp>
      <p:sp>
        <p:nvSpPr>
          <p:cNvPr id="45" name="TextBox 44"/>
          <p:cNvSpPr txBox="1"/>
          <p:nvPr/>
        </p:nvSpPr>
        <p:spPr>
          <a:xfrm>
            <a:off x="6639595" y="3913632"/>
            <a:ext cx="1737360" cy="310896"/>
          </a:xfrm>
          <a:prstGeom prst="rect">
            <a:avLst/>
          </a:prstGeom>
          <a:noFill/>
        </p:spPr>
        <p:txBody>
          <a:bodyPr wrap="square" anchor="ctr" lIns="0" rIns="0" tIns="0" bIns="0">
            <a:spAutoFit/>
          </a:bodyPr>
          <a:lstStyle/>
          <a:p>
            <a:pPr algn="l"/>
            <a:r>
              <a:rPr sz="1150" b="0" i="0">
                <a:solidFill>
                  <a:srgbClr val="404040"/>
                </a:solidFill>
                <a:latin typeface="Arial"/>
              </a:rPr>
              <a:t>Italy</a:t>
            </a:r>
          </a:p>
        </p:txBody>
      </p:sp>
      <p:sp>
        <p:nvSpPr>
          <p:cNvPr id="46" name="TextBox 45"/>
          <p:cNvSpPr txBox="1"/>
          <p:nvPr/>
        </p:nvSpPr>
        <p:spPr>
          <a:xfrm>
            <a:off x="8376955" y="3913632"/>
            <a:ext cx="548640" cy="310896"/>
          </a:xfrm>
          <a:prstGeom prst="rect">
            <a:avLst/>
          </a:prstGeom>
          <a:noFill/>
        </p:spPr>
        <p:txBody>
          <a:bodyPr wrap="square" anchor="ctr" lIns="0" rIns="0" tIns="0" bIns="0">
            <a:spAutoFit/>
          </a:bodyPr>
          <a:lstStyle/>
          <a:p>
            <a:pPr algn="l"/>
            <a:r>
              <a:rPr sz="1150" b="0" i="0">
                <a:solidFill>
                  <a:srgbClr val="A3A3A3"/>
                </a:solidFill>
                <a:latin typeface="Arial"/>
              </a:rPr>
              <a:t>1.5</a:t>
            </a:r>
          </a:p>
        </p:txBody>
      </p:sp>
      <p:sp>
        <p:nvSpPr>
          <p:cNvPr id="47" name="TextBox 46"/>
          <p:cNvSpPr txBox="1"/>
          <p:nvPr/>
        </p:nvSpPr>
        <p:spPr>
          <a:xfrm>
            <a:off x="8925595" y="3913632"/>
            <a:ext cx="365760" cy="310896"/>
          </a:xfrm>
          <a:prstGeom prst="rect">
            <a:avLst/>
          </a:prstGeom>
          <a:noFill/>
        </p:spPr>
        <p:txBody>
          <a:bodyPr wrap="square" anchor="ctr" lIns="0" rIns="0" tIns="0" bIns="0">
            <a:spAutoFit/>
          </a:bodyPr>
          <a:lstStyle/>
          <a:p>
            <a:pPr algn="l"/>
            <a:r>
              <a:rPr sz="1000" b="0" i="0">
                <a:solidFill>
                  <a:srgbClr val="D4D4D4"/>
                </a:solidFill>
                <a:latin typeface="Arial"/>
              </a:rPr>
              <a:t>to</a:t>
            </a:r>
          </a:p>
        </p:txBody>
      </p:sp>
      <p:sp>
        <p:nvSpPr>
          <p:cNvPr id="48" name="TextBox 47"/>
          <p:cNvSpPr txBox="1"/>
          <p:nvPr/>
        </p:nvSpPr>
        <p:spPr>
          <a:xfrm>
            <a:off x="9291355" y="3913632"/>
            <a:ext cx="640080" cy="310896"/>
          </a:xfrm>
          <a:prstGeom prst="rect">
            <a:avLst/>
          </a:prstGeom>
          <a:noFill/>
        </p:spPr>
        <p:txBody>
          <a:bodyPr wrap="square" anchor="ctr" lIns="0" rIns="0" tIns="0" bIns="0">
            <a:spAutoFit/>
          </a:bodyPr>
          <a:lstStyle/>
          <a:p>
            <a:pPr algn="l"/>
            <a:r>
              <a:rPr sz="1250" b="1" i="0">
                <a:solidFill>
                  <a:srgbClr val="D7001C"/>
                </a:solidFill>
                <a:latin typeface="Arial"/>
              </a:rPr>
              <a:t>0.7</a:t>
            </a:r>
          </a:p>
        </p:txBody>
      </p:sp>
      <p:sp>
        <p:nvSpPr>
          <p:cNvPr id="49" name="Rectangle 48"/>
          <p:cNvSpPr/>
          <p:nvPr/>
        </p:nvSpPr>
        <p:spPr>
          <a:xfrm>
            <a:off x="658368" y="5120640"/>
            <a:ext cx="6742474" cy="9144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58368" y="5120640"/>
            <a:ext cx="54864" cy="914400"/>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32688" y="5266944"/>
            <a:ext cx="6239554" cy="640080"/>
          </a:xfrm>
          <a:prstGeom prst="rect">
            <a:avLst/>
          </a:prstGeom>
          <a:noFill/>
        </p:spPr>
        <p:txBody>
          <a:bodyPr wrap="square" anchor="ctr" lIns="0" rIns="0" tIns="0" bIns="0">
            <a:spAutoFit/>
          </a:bodyPr>
          <a:lstStyle/>
          <a:p>
            <a:pPr algn="l">
              <a:lnSpc>
                <a:spcPct val="120000"/>
              </a:lnSpc>
            </a:pPr>
            <a:r>
              <a:rPr sz="1200" b="0" i="0">
                <a:solidFill>
                  <a:srgbClr val="404040"/>
                </a:solidFill>
                <a:latin typeface="Arial"/>
              </a:rPr>
              <a:t>French and German families get roughly twice as many results as they did. The French community now links to us from their own site.</a:t>
            </a:r>
          </a:p>
        </p:txBody>
      </p:sp>
      <p:sp>
        <p:nvSpPr>
          <p:cNvPr id="52" name="Rectangle 51"/>
          <p:cNvSpPr/>
          <p:nvPr/>
        </p:nvSpPr>
        <p:spPr>
          <a:xfrm>
            <a:off x="7835841" y="5120640"/>
            <a:ext cx="3697486" cy="914400"/>
          </a:xfrm>
          <a:prstGeom prst="rect">
            <a:avLst/>
          </a:prstGeom>
          <a:solidFill>
            <a:srgbClr val="FFD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7835841" y="5120640"/>
            <a:ext cx="54864" cy="914400"/>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110161" y="5266944"/>
            <a:ext cx="3194566" cy="640080"/>
          </a:xfrm>
          <a:prstGeom prst="rect">
            <a:avLst/>
          </a:prstGeom>
          <a:noFill/>
        </p:spPr>
        <p:txBody>
          <a:bodyPr wrap="square" anchor="ctr" lIns="0" rIns="0" tIns="0" bIns="0">
            <a:spAutoFit/>
          </a:bodyPr>
          <a:lstStyle/>
          <a:p>
            <a:pPr algn="l">
              <a:lnSpc>
                <a:spcPct val="120000"/>
              </a:lnSpc>
            </a:pPr>
            <a:r>
              <a:rPr sz="1200" b="1" i="0">
                <a:solidFill>
                  <a:srgbClr val="17375F"/>
                </a:solidFill>
                <a:latin typeface="Arial"/>
              </a:rPr>
              <a:t>One exception:  </a:t>
            </a:r>
            <a:r>
              <a:rPr sz="1200" b="0" i="0">
                <a:solidFill>
                  <a:srgbClr val="404040"/>
                </a:solidFill>
                <a:latin typeface="Arial"/>
              </a:rPr>
              <a:t>Italy halved. Its readers came from a PDF we no longer publish.</a:t>
            </a:r>
          </a:p>
        </p:txBody>
      </p:sp>
      <p:sp>
        <p:nvSpPr>
          <p:cNvPr id="55" name="TextBox 54"/>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Search Console · language taken from the page address</a:t>
            </a:r>
          </a:p>
        </p:txBody>
      </p:sp>
      <p:sp>
        <p:nvSpPr>
          <p:cNvPr id="56" name="TextBox 5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1 · CAN FAMILIES FIND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Half of all visits come from Google</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"Direct" means someone typed the address in, or followed a link from an email, WhatsApp or Facebook.</a:t>
            </a:r>
          </a:p>
        </p:txBody>
      </p:sp>
      <p:sp>
        <p:nvSpPr>
          <p:cNvPr id="6" name="TextBox 5"/>
          <p:cNvSpPr txBox="1"/>
          <p:nvPr/>
        </p:nvSpPr>
        <p:spPr>
          <a:xfrm>
            <a:off x="658368" y="2048256"/>
            <a:ext cx="2011680" cy="365760"/>
          </a:xfrm>
          <a:prstGeom prst="rect">
            <a:avLst/>
          </a:prstGeom>
          <a:noFill/>
        </p:spPr>
        <p:txBody>
          <a:bodyPr wrap="square" anchor="ctr" lIns="0" rIns="0" tIns="0" bIns="0">
            <a:spAutoFit/>
          </a:bodyPr>
          <a:lstStyle/>
          <a:p>
            <a:pPr algn="l"/>
            <a:r>
              <a:rPr sz="1200" b="0" i="0">
                <a:solidFill>
                  <a:srgbClr val="404040"/>
                </a:solidFill>
                <a:latin typeface="Arial"/>
              </a:rPr>
              <a:t>Google and other search</a:t>
            </a:r>
          </a:p>
        </p:txBody>
      </p:sp>
      <p:sp>
        <p:nvSpPr>
          <p:cNvPr id="7" name="Rectangle 6"/>
          <p:cNvSpPr/>
          <p:nvPr/>
        </p:nvSpPr>
        <p:spPr>
          <a:xfrm>
            <a:off x="2715768" y="2121408"/>
            <a:ext cx="3914985" cy="237744"/>
          </a:xfrm>
          <a:prstGeom prst="rect">
            <a:avLst/>
          </a:prstGeom>
          <a:solidFill>
            <a:srgbClr val="214E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03905" y="2048256"/>
            <a:ext cx="1645920" cy="365760"/>
          </a:xfrm>
          <a:prstGeom prst="rect">
            <a:avLst/>
          </a:prstGeom>
          <a:noFill/>
        </p:spPr>
        <p:txBody>
          <a:bodyPr wrap="square" anchor="ctr" lIns="0" rIns="0" tIns="0" bIns="0">
            <a:spAutoFit/>
          </a:bodyPr>
          <a:lstStyle/>
          <a:p>
            <a:pPr algn="l"/>
            <a:r>
              <a:rPr sz="1200" b="1" i="0">
                <a:solidFill>
                  <a:srgbClr val="17375F"/>
                </a:solidFill>
                <a:latin typeface="Arial"/>
              </a:rPr>
              <a:t>1,623  </a:t>
            </a:r>
            <a:r>
              <a:rPr sz="1100" b="0" i="0">
                <a:solidFill>
                  <a:srgbClr val="737373"/>
                </a:solidFill>
                <a:latin typeface="Arial"/>
              </a:rPr>
              <a:t>48%</a:t>
            </a:r>
          </a:p>
        </p:txBody>
      </p:sp>
      <p:sp>
        <p:nvSpPr>
          <p:cNvPr id="9" name="TextBox 8"/>
          <p:cNvSpPr txBox="1"/>
          <p:nvPr/>
        </p:nvSpPr>
        <p:spPr>
          <a:xfrm>
            <a:off x="658368" y="2615184"/>
            <a:ext cx="2011680" cy="365760"/>
          </a:xfrm>
          <a:prstGeom prst="rect">
            <a:avLst/>
          </a:prstGeom>
          <a:noFill/>
        </p:spPr>
        <p:txBody>
          <a:bodyPr wrap="square" anchor="ctr" lIns="0" rIns="0" tIns="0" bIns="0">
            <a:spAutoFit/>
          </a:bodyPr>
          <a:lstStyle/>
          <a:p>
            <a:pPr algn="l"/>
            <a:r>
              <a:rPr sz="1200" b="0" i="0">
                <a:solidFill>
                  <a:srgbClr val="404040"/>
                </a:solidFill>
                <a:latin typeface="Arial"/>
              </a:rPr>
              <a:t>Direct</a:t>
            </a:r>
          </a:p>
        </p:txBody>
      </p:sp>
      <p:sp>
        <p:nvSpPr>
          <p:cNvPr id="10" name="Rectangle 9"/>
          <p:cNvSpPr/>
          <p:nvPr/>
        </p:nvSpPr>
        <p:spPr>
          <a:xfrm>
            <a:off x="2715768" y="2688336"/>
            <a:ext cx="3152733" cy="23774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1653" y="2615184"/>
            <a:ext cx="1645920" cy="365760"/>
          </a:xfrm>
          <a:prstGeom prst="rect">
            <a:avLst/>
          </a:prstGeom>
          <a:noFill/>
        </p:spPr>
        <p:txBody>
          <a:bodyPr wrap="square" anchor="ctr" lIns="0" rIns="0" tIns="0" bIns="0">
            <a:spAutoFit/>
          </a:bodyPr>
          <a:lstStyle/>
          <a:p>
            <a:pPr algn="l"/>
            <a:r>
              <a:rPr sz="1200" b="1" i="0">
                <a:solidFill>
                  <a:srgbClr val="17375F"/>
                </a:solidFill>
                <a:latin typeface="Arial"/>
              </a:rPr>
              <a:t>1,307  </a:t>
            </a:r>
            <a:r>
              <a:rPr sz="1100" b="0" i="0">
                <a:solidFill>
                  <a:srgbClr val="737373"/>
                </a:solidFill>
                <a:latin typeface="Arial"/>
              </a:rPr>
              <a:t>39%</a:t>
            </a:r>
          </a:p>
        </p:txBody>
      </p:sp>
      <p:sp>
        <p:nvSpPr>
          <p:cNvPr id="12" name="TextBox 11"/>
          <p:cNvSpPr txBox="1"/>
          <p:nvPr/>
        </p:nvSpPr>
        <p:spPr>
          <a:xfrm>
            <a:off x="658368" y="3182112"/>
            <a:ext cx="2011680" cy="365760"/>
          </a:xfrm>
          <a:prstGeom prst="rect">
            <a:avLst/>
          </a:prstGeom>
          <a:noFill/>
        </p:spPr>
        <p:txBody>
          <a:bodyPr wrap="square" anchor="ctr" lIns="0" rIns="0" tIns="0" bIns="0">
            <a:spAutoFit/>
          </a:bodyPr>
          <a:lstStyle/>
          <a:p>
            <a:pPr algn="l"/>
            <a:r>
              <a:rPr sz="1200" b="0" i="0">
                <a:solidFill>
                  <a:srgbClr val="404040"/>
                </a:solidFill>
                <a:latin typeface="Arial"/>
              </a:rPr>
              <a:t>Links from other sites</a:t>
            </a:r>
          </a:p>
        </p:txBody>
      </p:sp>
      <p:sp>
        <p:nvSpPr>
          <p:cNvPr id="13" name="Rectangle 12"/>
          <p:cNvSpPr/>
          <p:nvPr/>
        </p:nvSpPr>
        <p:spPr>
          <a:xfrm>
            <a:off x="2715768" y="3255264"/>
            <a:ext cx="699535" cy="237744"/>
          </a:xfrm>
          <a:prstGeom prst="rect">
            <a:avLst/>
          </a:prstGeom>
          <a:solidFill>
            <a:srgbClr val="BAD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88455" y="3182112"/>
            <a:ext cx="1645920" cy="365760"/>
          </a:xfrm>
          <a:prstGeom prst="rect">
            <a:avLst/>
          </a:prstGeom>
          <a:noFill/>
        </p:spPr>
        <p:txBody>
          <a:bodyPr wrap="square" anchor="ctr" lIns="0" rIns="0" tIns="0" bIns="0">
            <a:spAutoFit/>
          </a:bodyPr>
          <a:lstStyle/>
          <a:p>
            <a:pPr algn="l"/>
            <a:r>
              <a:rPr sz="1200" b="1" i="0">
                <a:solidFill>
                  <a:srgbClr val="17375F"/>
                </a:solidFill>
                <a:latin typeface="Arial"/>
              </a:rPr>
              <a:t>290  </a:t>
            </a:r>
            <a:r>
              <a:rPr sz="1100" b="0" i="0">
                <a:solidFill>
                  <a:srgbClr val="737373"/>
                </a:solidFill>
                <a:latin typeface="Arial"/>
              </a:rPr>
              <a:t>9%</a:t>
            </a:r>
          </a:p>
        </p:txBody>
      </p:sp>
      <p:sp>
        <p:nvSpPr>
          <p:cNvPr id="15" name="TextBox 14"/>
          <p:cNvSpPr txBox="1"/>
          <p:nvPr/>
        </p:nvSpPr>
        <p:spPr>
          <a:xfrm>
            <a:off x="658368" y="3749039"/>
            <a:ext cx="2011680" cy="365760"/>
          </a:xfrm>
          <a:prstGeom prst="rect">
            <a:avLst/>
          </a:prstGeom>
          <a:noFill/>
        </p:spPr>
        <p:txBody>
          <a:bodyPr wrap="square" anchor="ctr" lIns="0" rIns="0" tIns="0" bIns="0">
            <a:spAutoFit/>
          </a:bodyPr>
          <a:lstStyle/>
          <a:p>
            <a:pPr algn="l"/>
            <a:r>
              <a:rPr sz="1200" b="0" i="0">
                <a:solidFill>
                  <a:srgbClr val="404040"/>
                </a:solidFill>
                <a:latin typeface="Arial"/>
              </a:rPr>
              <a:t>Social media</a:t>
            </a:r>
          </a:p>
        </p:txBody>
      </p:sp>
      <p:sp>
        <p:nvSpPr>
          <p:cNvPr id="16" name="Rectangle 15"/>
          <p:cNvSpPr/>
          <p:nvPr/>
        </p:nvSpPr>
        <p:spPr>
          <a:xfrm>
            <a:off x="2715768" y="3822191"/>
            <a:ext cx="231570" cy="237744"/>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020490" y="3749039"/>
            <a:ext cx="1645920" cy="365760"/>
          </a:xfrm>
          <a:prstGeom prst="rect">
            <a:avLst/>
          </a:prstGeom>
          <a:noFill/>
        </p:spPr>
        <p:txBody>
          <a:bodyPr wrap="square" anchor="ctr" lIns="0" rIns="0" tIns="0" bIns="0">
            <a:spAutoFit/>
          </a:bodyPr>
          <a:lstStyle/>
          <a:p>
            <a:pPr algn="l"/>
            <a:r>
              <a:rPr sz="1200" b="1" i="0">
                <a:solidFill>
                  <a:srgbClr val="17375F"/>
                </a:solidFill>
                <a:latin typeface="Arial"/>
              </a:rPr>
              <a:t>96  </a:t>
            </a:r>
            <a:r>
              <a:rPr sz="1100" b="0" i="0">
                <a:solidFill>
                  <a:srgbClr val="737373"/>
                </a:solidFill>
                <a:latin typeface="Arial"/>
              </a:rPr>
              <a:t>3%</a:t>
            </a:r>
          </a:p>
        </p:txBody>
      </p:sp>
      <p:sp>
        <p:nvSpPr>
          <p:cNvPr id="18" name="TextBox 17"/>
          <p:cNvSpPr txBox="1"/>
          <p:nvPr/>
        </p:nvSpPr>
        <p:spPr>
          <a:xfrm>
            <a:off x="658368" y="4315968"/>
            <a:ext cx="2011680" cy="365760"/>
          </a:xfrm>
          <a:prstGeom prst="rect">
            <a:avLst/>
          </a:prstGeom>
          <a:noFill/>
        </p:spPr>
        <p:txBody>
          <a:bodyPr wrap="square" anchor="ctr" lIns="0" rIns="0" tIns="0" bIns="0">
            <a:spAutoFit/>
          </a:bodyPr>
          <a:lstStyle/>
          <a:p>
            <a:pPr algn="l"/>
            <a:r>
              <a:rPr sz="1200" b="0" i="0">
                <a:solidFill>
                  <a:srgbClr val="404040"/>
                </a:solidFill>
                <a:latin typeface="Arial"/>
              </a:rPr>
              <a:t>AI chatbots</a:t>
            </a:r>
          </a:p>
        </p:txBody>
      </p:sp>
      <p:sp>
        <p:nvSpPr>
          <p:cNvPr id="19" name="Rectangle 18"/>
          <p:cNvSpPr/>
          <p:nvPr/>
        </p:nvSpPr>
        <p:spPr>
          <a:xfrm>
            <a:off x="2715768" y="4389120"/>
            <a:ext cx="91440" cy="237744"/>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880360" y="4315968"/>
            <a:ext cx="1645920" cy="365760"/>
          </a:xfrm>
          <a:prstGeom prst="rect">
            <a:avLst/>
          </a:prstGeom>
          <a:noFill/>
        </p:spPr>
        <p:txBody>
          <a:bodyPr wrap="square" anchor="ctr" lIns="0" rIns="0" tIns="0" bIns="0">
            <a:spAutoFit/>
          </a:bodyPr>
          <a:lstStyle/>
          <a:p>
            <a:pPr algn="l"/>
            <a:r>
              <a:rPr sz="1200" b="1" i="0">
                <a:solidFill>
                  <a:srgbClr val="17375F"/>
                </a:solidFill>
                <a:latin typeface="Arial"/>
              </a:rPr>
              <a:t>12  </a:t>
            </a:r>
            <a:r>
              <a:rPr sz="1100" b="0" i="0">
                <a:solidFill>
                  <a:srgbClr val="737373"/>
                </a:solidFill>
                <a:latin typeface="Arial"/>
              </a:rPr>
              <a:t>under 1%</a:t>
            </a:r>
          </a:p>
        </p:txBody>
      </p:sp>
      <p:sp>
        <p:nvSpPr>
          <p:cNvPr id="21" name="TextBox 20"/>
          <p:cNvSpPr txBox="1"/>
          <p:nvPr/>
        </p:nvSpPr>
        <p:spPr>
          <a:xfrm>
            <a:off x="6965844" y="2048256"/>
            <a:ext cx="4567482" cy="274320"/>
          </a:xfrm>
          <a:prstGeom prst="rect">
            <a:avLst/>
          </a:prstGeom>
          <a:noFill/>
        </p:spPr>
        <p:txBody>
          <a:bodyPr wrap="square" anchor="t" lIns="0" rIns="0" tIns="0" bIns="0">
            <a:spAutoFit/>
          </a:bodyPr>
          <a:lstStyle/>
          <a:p>
            <a:pPr algn="l"/>
            <a:r>
              <a:rPr sz="950" b="1" i="0">
                <a:solidFill>
                  <a:srgbClr val="A3A3A3"/>
                </a:solidFill>
                <a:latin typeface="Arial"/>
              </a:rPr>
              <a:t>WHO SENDS US PEOPLE</a:t>
            </a:r>
          </a:p>
        </p:txBody>
      </p:sp>
      <p:sp>
        <p:nvSpPr>
          <p:cNvPr id="22" name="TextBox 21"/>
          <p:cNvSpPr txBox="1"/>
          <p:nvPr/>
        </p:nvSpPr>
        <p:spPr>
          <a:xfrm>
            <a:off x="6965844" y="2359152"/>
            <a:ext cx="4567482"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150" b="0" i="0">
                <a:solidFill>
                  <a:srgbClr val="525252"/>
                </a:solidFill>
                <a:latin typeface="Arial"/>
              </a:rPr>
              <a:t>Givebutter, our donation platform — 223 visits. Donors come here to find out why they should care</a:t>
            </a:r>
          </a:p>
          <a:p>
            <a:pPr>
              <a:lnSpc>
                <a:spcPct val="115000"/>
              </a:lnSpc>
              <a:spcAft>
                <a:spcPts val="900"/>
              </a:spcAft>
            </a:pPr>
            <a:r>
              <a:rPr sz="800" b="1" i="0">
                <a:solidFill>
                  <a:srgbClr val="00ABCF"/>
                </a:solidFill>
                <a:latin typeface="Arial"/>
              </a:rPr>
              <a:t>● </a:t>
            </a:r>
            <a:r>
              <a:rPr sz="1150" b="0" i="0">
                <a:solidFill>
                  <a:srgbClr val="525252"/>
                </a:solidFill>
                <a:latin typeface="Arial"/>
              </a:rPr>
              <a:t>Global Genes, NORD, the NIH and EyeWiki — the rare disease world links to us</a:t>
            </a:r>
          </a:p>
          <a:p>
            <a:pPr>
              <a:lnSpc>
                <a:spcPct val="115000"/>
              </a:lnSpc>
              <a:spcAft>
                <a:spcPts val="900"/>
              </a:spcAft>
            </a:pPr>
            <a:r>
              <a:rPr sz="800" b="1" i="0">
                <a:solidFill>
                  <a:srgbClr val="00ABCF"/>
                </a:solidFill>
                <a:latin typeface="Arial"/>
              </a:rPr>
              <a:t>● </a:t>
            </a:r>
            <a:r>
              <a:rPr sz="1150" b="0" i="0">
                <a:solidFill>
                  <a:srgbClr val="525252"/>
                </a:solidFill>
                <a:latin typeface="Arial"/>
              </a:rPr>
              <a:t>nr2f1france.wordpress.com — the French community sends people our way</a:t>
            </a:r>
          </a:p>
          <a:p>
            <a:pPr>
              <a:lnSpc>
                <a:spcPct val="115000"/>
              </a:lnSpc>
              <a:spcAft>
                <a:spcPts val="900"/>
              </a:spcAft>
            </a:pPr>
            <a:r>
              <a:rPr sz="800" b="1" i="0">
                <a:solidFill>
                  <a:srgbClr val="00ABCF"/>
                </a:solidFill>
                <a:latin typeface="Arial"/>
              </a:rPr>
              <a:t>● </a:t>
            </a:r>
            <a:r>
              <a:rPr sz="1150" b="0" i="0">
                <a:solidFill>
                  <a:srgbClr val="525252"/>
                </a:solidFill>
                <a:latin typeface="Arial"/>
              </a:rPr>
              <a:t>ChatGPT, Gemini and Claude — a route that did not exist a year ago</a:t>
            </a:r>
          </a:p>
        </p:txBody>
      </p:sp>
      <p:sp>
        <p:nvSpPr>
          <p:cNvPr id="23" name="Rectangle 22"/>
          <p:cNvSpPr/>
          <p:nvPr/>
        </p:nvSpPr>
        <p:spPr>
          <a:xfrm>
            <a:off x="658368" y="5394960"/>
            <a:ext cx="10874959" cy="7315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58368" y="5394960"/>
            <a:ext cx="54864" cy="731520"/>
          </a:xfrm>
          <a:prstGeom prst="rect">
            <a:avLst/>
          </a:prstGeom>
          <a:solidFill>
            <a:srgbClr val="2B6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541264"/>
            <a:ext cx="10372039" cy="457200"/>
          </a:xfrm>
          <a:prstGeom prst="rect">
            <a:avLst/>
          </a:prstGeom>
          <a:noFill/>
        </p:spPr>
        <p:txBody>
          <a:bodyPr wrap="square" anchor="ctr" lIns="0" rIns="0" tIns="0" bIns="0">
            <a:spAutoFit/>
          </a:bodyPr>
          <a:lstStyle/>
          <a:p>
            <a:pPr algn="l">
              <a:lnSpc>
                <a:spcPct val="120000"/>
              </a:lnSpc>
            </a:pPr>
            <a:r>
              <a:rPr sz="1200" b="1" i="0">
                <a:solidFill>
                  <a:srgbClr val="17375F"/>
                </a:solidFill>
                <a:latin typeface="Arial"/>
              </a:rPr>
              <a:t>Compared with other charities:  </a:t>
            </a:r>
            <a:r>
              <a:rPr sz="1200" b="0" i="0">
                <a:solidFill>
                  <a:srgbClr val="404040"/>
                </a:solidFill>
                <a:latin typeface="Arial"/>
              </a:rPr>
              <a:t>charity websites get 37 to 39% of their visits from search, and that share fell across the sector last year. Ours is 48%.</a:t>
            </a:r>
          </a:p>
        </p:txBody>
      </p:sp>
      <p:sp>
        <p:nvSpPr>
          <p:cNvPr id="26" name="TextBox 2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Analytics · visits by channel and referring site</a:t>
            </a:r>
          </a:p>
        </p:txBody>
      </p:sp>
      <p:sp>
        <p:nvSpPr>
          <p:cNvPr id="27" name="TextBox 2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2331720"/>
            <a:ext cx="10874959" cy="457200"/>
          </a:xfrm>
          <a:prstGeom prst="rect">
            <a:avLst/>
          </a:prstGeom>
          <a:noFill/>
        </p:spPr>
        <p:txBody>
          <a:bodyPr wrap="square" anchor="t" lIns="0" rIns="0" tIns="0" bIns="0">
            <a:spAutoFit/>
          </a:bodyPr>
          <a:lstStyle/>
          <a:p>
            <a:pPr algn="l"/>
            <a:r>
              <a:rPr sz="1300" b="1" i="0">
                <a:solidFill>
                  <a:srgbClr val="03D3FF"/>
                </a:solidFill>
                <a:latin typeface="Arial"/>
              </a:rPr>
              <a:t>PART 2</a:t>
            </a:r>
          </a:p>
        </p:txBody>
      </p:sp>
      <p:sp>
        <p:nvSpPr>
          <p:cNvPr id="4" name="TextBox 3"/>
          <p:cNvSpPr txBox="1"/>
          <p:nvPr/>
        </p:nvSpPr>
        <p:spPr>
          <a:xfrm>
            <a:off x="658368" y="2743200"/>
            <a:ext cx="8699967" cy="914400"/>
          </a:xfrm>
          <a:prstGeom prst="rect">
            <a:avLst/>
          </a:prstGeom>
          <a:noFill/>
        </p:spPr>
        <p:txBody>
          <a:bodyPr wrap="square" anchor="t" lIns="0" rIns="0" tIns="0" bIns="0">
            <a:spAutoFit/>
          </a:bodyPr>
          <a:lstStyle/>
          <a:p>
            <a:pPr algn="l"/>
            <a:r>
              <a:rPr sz="4600" b="1" i="0">
                <a:solidFill>
                  <a:srgbClr val="FFFFFF"/>
                </a:solidFill>
                <a:latin typeface="Arial"/>
              </a:rPr>
              <a:t>Do families register?</a:t>
            </a:r>
          </a:p>
        </p:txBody>
      </p:sp>
      <p:sp>
        <p:nvSpPr>
          <p:cNvPr id="5" name="TextBox 4"/>
          <p:cNvSpPr txBox="1"/>
          <p:nvPr/>
        </p:nvSpPr>
        <p:spPr>
          <a:xfrm>
            <a:off x="658368" y="3886200"/>
            <a:ext cx="6742474" cy="731520"/>
          </a:xfrm>
          <a:prstGeom prst="rect">
            <a:avLst/>
          </a:prstGeom>
          <a:noFill/>
        </p:spPr>
        <p:txBody>
          <a:bodyPr wrap="square" anchor="t" lIns="0" rIns="0" tIns="0" bIns="0">
            <a:spAutoFit/>
          </a:bodyPr>
          <a:lstStyle/>
          <a:p>
            <a:pPr algn="l">
              <a:lnSpc>
                <a:spcPct val="125000"/>
              </a:lnSpc>
            </a:pPr>
            <a:r>
              <a:rPr sz="1600" b="0" i="0">
                <a:solidFill>
                  <a:srgbClr val="BAD1EE"/>
                </a:solidFill>
                <a:latin typeface="Arial"/>
              </a:rPr>
              <a:t>The registry is what makes research possible. Getting families into it is the Foundation's first ask.</a:t>
            </a:r>
          </a:p>
        </p:txBody>
      </p:sp>
      <p:sp>
        <p:nvSpPr>
          <p:cNvPr id="6" name="TextBox 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2B66B1"/>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2 · DO FAMILIES REGISTER?</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A family registers every 3 days</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 patient registry is the Foundation's record of diagnosed families. Researchers need it to run studies.</a:t>
            </a:r>
          </a:p>
        </p:txBody>
      </p:sp>
      <p:sp>
        <p:nvSpPr>
          <p:cNvPr id="6" name="Rectangle 5"/>
          <p:cNvSpPr/>
          <p:nvPr/>
        </p:nvSpPr>
        <p:spPr>
          <a:xfrm>
            <a:off x="658368"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194560"/>
            <a:ext cx="1684873" cy="502920"/>
          </a:xfrm>
          <a:prstGeom prst="rect">
            <a:avLst/>
          </a:prstGeom>
          <a:noFill/>
        </p:spPr>
        <p:txBody>
          <a:bodyPr wrap="square" anchor="t" lIns="0" rIns="0" tIns="0" bIns="0">
            <a:spAutoFit/>
          </a:bodyPr>
          <a:lstStyle/>
          <a:p>
            <a:pPr algn="l"/>
            <a:r>
              <a:rPr sz="3000" b="1" i="0">
                <a:solidFill>
                  <a:srgbClr val="00819C"/>
                </a:solidFill>
                <a:latin typeface="Arial"/>
              </a:rPr>
              <a:t>127</a:t>
            </a:r>
          </a:p>
        </p:txBody>
      </p:sp>
      <p:sp>
        <p:nvSpPr>
          <p:cNvPr id="8" name="TextBox 7"/>
          <p:cNvSpPr txBox="1"/>
          <p:nvPr/>
        </p:nvSpPr>
        <p:spPr>
          <a:xfrm>
            <a:off x="822959"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families registered</a:t>
            </a:r>
          </a:p>
        </p:txBody>
      </p:sp>
      <p:sp>
        <p:nvSpPr>
          <p:cNvPr id="9" name="Rectangle 8"/>
          <p:cNvSpPr/>
          <p:nvPr/>
        </p:nvSpPr>
        <p:spPr>
          <a:xfrm>
            <a:off x="2873593"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038185" y="2194560"/>
            <a:ext cx="1684873" cy="502920"/>
          </a:xfrm>
          <a:prstGeom prst="rect">
            <a:avLst/>
          </a:prstGeom>
          <a:noFill/>
        </p:spPr>
        <p:txBody>
          <a:bodyPr wrap="square" anchor="t" lIns="0" rIns="0" tIns="0" bIns="0">
            <a:spAutoFit/>
          </a:bodyPr>
          <a:lstStyle/>
          <a:p>
            <a:pPr algn="l"/>
            <a:r>
              <a:rPr sz="3000" b="1" i="0">
                <a:solidFill>
                  <a:srgbClr val="00819C"/>
                </a:solidFill>
                <a:latin typeface="Arial"/>
              </a:rPr>
              <a:t>113</a:t>
            </a:r>
          </a:p>
        </p:txBody>
      </p:sp>
      <p:sp>
        <p:nvSpPr>
          <p:cNvPr id="11" name="TextBox 10"/>
          <p:cNvSpPr txBox="1"/>
          <p:nvPr/>
        </p:nvSpPr>
        <p:spPr>
          <a:xfrm>
            <a:off x="3038185"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given a patient number</a:t>
            </a:r>
          </a:p>
        </p:txBody>
      </p:sp>
      <p:sp>
        <p:nvSpPr>
          <p:cNvPr id="12" name="Rectangle 11"/>
          <p:cNvSpPr/>
          <p:nvPr/>
        </p:nvSpPr>
        <p:spPr>
          <a:xfrm>
            <a:off x="5088818"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253410" y="2194560"/>
            <a:ext cx="1684873" cy="502920"/>
          </a:xfrm>
          <a:prstGeom prst="rect">
            <a:avLst/>
          </a:prstGeom>
          <a:noFill/>
        </p:spPr>
        <p:txBody>
          <a:bodyPr wrap="square" anchor="t" lIns="0" rIns="0" tIns="0" bIns="0">
            <a:spAutoFit/>
          </a:bodyPr>
          <a:lstStyle/>
          <a:p>
            <a:pPr algn="l"/>
            <a:r>
              <a:rPr sz="3000" b="1" i="0">
                <a:solidFill>
                  <a:srgbClr val="00819C"/>
                </a:solidFill>
                <a:latin typeface="Arial"/>
              </a:rPr>
              <a:t>24</a:t>
            </a:r>
          </a:p>
        </p:txBody>
      </p:sp>
      <p:sp>
        <p:nvSpPr>
          <p:cNvPr id="14" name="TextBox 13"/>
          <p:cNvSpPr txBox="1"/>
          <p:nvPr/>
        </p:nvSpPr>
        <p:spPr>
          <a:xfrm>
            <a:off x="5253410"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countries</a:t>
            </a:r>
          </a:p>
        </p:txBody>
      </p:sp>
      <p:sp>
        <p:nvSpPr>
          <p:cNvPr id="15" name="Rectangle 14"/>
          <p:cNvSpPr/>
          <p:nvPr/>
        </p:nvSpPr>
        <p:spPr>
          <a:xfrm>
            <a:off x="7304044"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68636" y="2194560"/>
            <a:ext cx="1684873" cy="502920"/>
          </a:xfrm>
          <a:prstGeom prst="rect">
            <a:avLst/>
          </a:prstGeom>
          <a:noFill/>
        </p:spPr>
        <p:txBody>
          <a:bodyPr wrap="square" anchor="t" lIns="0" rIns="0" tIns="0" bIns="0">
            <a:spAutoFit/>
          </a:bodyPr>
          <a:lstStyle/>
          <a:p>
            <a:pPr algn="l"/>
            <a:r>
              <a:rPr sz="3000" b="1" i="0">
                <a:solidFill>
                  <a:srgbClr val="00819C"/>
                </a:solidFill>
                <a:latin typeface="Arial"/>
              </a:rPr>
              <a:t>112 of 113</a:t>
            </a:r>
          </a:p>
        </p:txBody>
      </p:sp>
      <p:sp>
        <p:nvSpPr>
          <p:cNvPr id="17" name="TextBox 16"/>
          <p:cNvSpPr txBox="1"/>
          <p:nvPr/>
        </p:nvSpPr>
        <p:spPr>
          <a:xfrm>
            <a:off x="7468636"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signed up on the website</a:t>
            </a:r>
          </a:p>
        </p:txBody>
      </p:sp>
      <p:sp>
        <p:nvSpPr>
          <p:cNvPr id="18" name="Rectangle 17"/>
          <p:cNvSpPr/>
          <p:nvPr/>
        </p:nvSpPr>
        <p:spPr>
          <a:xfrm>
            <a:off x="9519269" y="2048256"/>
            <a:ext cx="2014057" cy="11430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83861" y="2194560"/>
            <a:ext cx="1684873" cy="502920"/>
          </a:xfrm>
          <a:prstGeom prst="rect">
            <a:avLst/>
          </a:prstGeom>
          <a:noFill/>
        </p:spPr>
        <p:txBody>
          <a:bodyPr wrap="square" anchor="t" lIns="0" rIns="0" tIns="0" bIns="0">
            <a:spAutoFit/>
          </a:bodyPr>
          <a:lstStyle/>
          <a:p>
            <a:pPr algn="l"/>
            <a:r>
              <a:rPr sz="3000" b="1" i="0">
                <a:solidFill>
                  <a:srgbClr val="00819C"/>
                </a:solidFill>
                <a:latin typeface="Arial"/>
              </a:rPr>
              <a:t>567</a:t>
            </a:r>
          </a:p>
        </p:txBody>
      </p:sp>
      <p:sp>
        <p:nvSpPr>
          <p:cNvPr id="20" name="TextBox 19"/>
          <p:cNvSpPr txBox="1"/>
          <p:nvPr/>
        </p:nvSpPr>
        <p:spPr>
          <a:xfrm>
            <a:off x="9683861" y="2724912"/>
            <a:ext cx="1684873" cy="411480"/>
          </a:xfrm>
          <a:prstGeom prst="rect">
            <a:avLst/>
          </a:prstGeom>
          <a:noFill/>
        </p:spPr>
        <p:txBody>
          <a:bodyPr wrap="square" anchor="t" lIns="0" rIns="0" tIns="0" bIns="0">
            <a:spAutoFit/>
          </a:bodyPr>
          <a:lstStyle/>
          <a:p>
            <a:pPr algn="l"/>
            <a:r>
              <a:rPr sz="1050" b="0" i="0">
                <a:solidFill>
                  <a:srgbClr val="737373"/>
                </a:solidFill>
                <a:latin typeface="Arial"/>
              </a:rPr>
              <a:t>patients in the registry</a:t>
            </a:r>
          </a:p>
        </p:txBody>
      </p:sp>
      <p:sp>
        <p:nvSpPr>
          <p:cNvPr id="21" name="TextBox 20"/>
          <p:cNvSpPr txBox="1"/>
          <p:nvPr/>
        </p:nvSpPr>
        <p:spPr>
          <a:xfrm>
            <a:off x="658368" y="3557016"/>
            <a:ext cx="6089977" cy="274320"/>
          </a:xfrm>
          <a:prstGeom prst="rect">
            <a:avLst/>
          </a:prstGeom>
          <a:noFill/>
        </p:spPr>
        <p:txBody>
          <a:bodyPr wrap="square" anchor="t" lIns="0" rIns="0" tIns="0" bIns="0">
            <a:spAutoFit/>
          </a:bodyPr>
          <a:lstStyle/>
          <a:p>
            <a:pPr algn="l"/>
            <a:r>
              <a:rPr sz="950" b="1" i="0">
                <a:solidFill>
                  <a:srgbClr val="A3A3A3"/>
                </a:solidFill>
                <a:latin typeface="Arial"/>
              </a:rPr>
              <a:t>WHAT HAPPENED</a:t>
            </a:r>
          </a:p>
        </p:txBody>
      </p:sp>
      <p:sp>
        <p:nvSpPr>
          <p:cNvPr id="22" name="TextBox 21"/>
          <p:cNvSpPr txBox="1"/>
          <p:nvPr/>
        </p:nvSpPr>
        <p:spPr>
          <a:xfrm>
            <a:off x="658368" y="3867912"/>
            <a:ext cx="6089977"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50" b="0" i="0">
                <a:solidFill>
                  <a:srgbClr val="525252"/>
                </a:solidFill>
                <a:latin typeface="Arial"/>
              </a:rPr>
              <a:t>Of the 113 families given a patient number, 112 came through the form we built</a:t>
            </a:r>
          </a:p>
          <a:p>
            <a:pPr>
              <a:lnSpc>
                <a:spcPct val="115000"/>
              </a:lnSpc>
              <a:spcAft>
                <a:spcPts val="900"/>
              </a:spcAft>
            </a:pPr>
            <a:r>
              <a:rPr sz="800" b="1" i="0">
                <a:solidFill>
                  <a:srgbClr val="00ABCF"/>
                </a:solidFill>
                <a:latin typeface="Arial"/>
              </a:rPr>
              <a:t>● </a:t>
            </a:r>
            <a:r>
              <a:rPr sz="1350" b="0" i="0">
                <a:solidFill>
                  <a:srgbClr val="525252"/>
                </a:solidFill>
                <a:latin typeface="Arial"/>
              </a:rPr>
              <a:t>The registration page was read about 280 times across seven languages. Roughly half of those became a registration</a:t>
            </a:r>
          </a:p>
          <a:p>
            <a:pPr>
              <a:lnSpc>
                <a:spcPct val="115000"/>
              </a:lnSpc>
              <a:spcAft>
                <a:spcPts val="900"/>
              </a:spcAft>
            </a:pPr>
            <a:r>
              <a:rPr sz="800" b="1" i="0">
                <a:solidFill>
                  <a:srgbClr val="00ABCF"/>
                </a:solidFill>
                <a:latin typeface="Arial"/>
              </a:rPr>
              <a:t>● </a:t>
            </a:r>
            <a:r>
              <a:rPr sz="1350" b="0" i="0">
                <a:solidFill>
                  <a:srgbClr val="525252"/>
                </a:solidFill>
                <a:latin typeface="Arial"/>
              </a:rPr>
              <a:t>This is the first thing the Foundation needs from persona one, and it now happens on the site</a:t>
            </a:r>
          </a:p>
        </p:txBody>
      </p:sp>
      <p:sp>
        <p:nvSpPr>
          <p:cNvPr id="23" name="Rectangle 22"/>
          <p:cNvSpPr/>
          <p:nvPr/>
        </p:nvSpPr>
        <p:spPr>
          <a:xfrm>
            <a:off x="7183343" y="3557016"/>
            <a:ext cx="4349983" cy="146304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183343" y="3557016"/>
            <a:ext cx="54864" cy="1463040"/>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57663" y="3703320"/>
            <a:ext cx="3847063" cy="1188720"/>
          </a:xfrm>
          <a:prstGeom prst="rect">
            <a:avLst/>
          </a:prstGeom>
          <a:noFill/>
        </p:spPr>
        <p:txBody>
          <a:bodyPr wrap="square" anchor="ctr" lIns="0" rIns="0" tIns="0" bIns="0">
            <a:spAutoFit/>
          </a:bodyPr>
          <a:lstStyle/>
          <a:p>
            <a:pPr algn="l">
              <a:lnSpc>
                <a:spcPct val="120000"/>
              </a:lnSpc>
            </a:pPr>
            <a:r>
              <a:rPr sz="1150" b="1" i="0">
                <a:solidFill>
                  <a:srgbClr val="17375F"/>
                </a:solidFill>
                <a:latin typeface="Arial"/>
              </a:rPr>
              <a:t>Where they are:  </a:t>
            </a:r>
            <a:r>
              <a:rPr sz="1150" b="0" i="0">
                <a:solidFill>
                  <a:srgbClr val="404040"/>
                </a:solidFill>
                <a:latin typeface="Arial"/>
              </a:rPr>
              <a:t>families registered from Denmark, Finland, Sweden, Poland, Colombia and Mexico for the first time, alongside the United States, the UK, Germany, Spain, Australia, France and Canada.</a:t>
            </a:r>
          </a:p>
        </p:txBody>
      </p:sp>
      <p:sp>
        <p:nvSpPr>
          <p:cNvPr id="26" name="TextBox 2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Givebutter API, 3,428 contacts · counted by the date each family was added</a:t>
            </a:r>
          </a:p>
        </p:txBody>
      </p:sp>
      <p:sp>
        <p:nvSpPr>
          <p:cNvPr id="27" name="TextBox 2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2 · DO FAMILIES REGISTER?</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Registrations did not go up. They became steady.</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Roughly the same number of families as the year before — but arriving every month instead of in bursts.</a:t>
            </a:r>
          </a:p>
        </p:txBody>
      </p:sp>
      <p:sp>
        <p:nvSpPr>
          <p:cNvPr id="6" name="TextBox 5"/>
          <p:cNvSpPr txBox="1"/>
          <p:nvPr/>
        </p:nvSpPr>
        <p:spPr>
          <a:xfrm>
            <a:off x="658368" y="2121408"/>
            <a:ext cx="4023360" cy="274320"/>
          </a:xfrm>
          <a:prstGeom prst="rect">
            <a:avLst/>
          </a:prstGeom>
          <a:noFill/>
        </p:spPr>
        <p:txBody>
          <a:bodyPr wrap="square" anchor="t" lIns="0" rIns="0" tIns="0" bIns="0">
            <a:spAutoFit/>
          </a:bodyPr>
          <a:lstStyle/>
          <a:p>
            <a:pPr algn="l"/>
            <a:r>
              <a:rPr sz="950" b="1" i="0">
                <a:solidFill>
                  <a:srgbClr val="A3A3A3"/>
                </a:solidFill>
                <a:latin typeface="Arial"/>
              </a:rPr>
              <a:t>FAMILIES REGISTERING EACH MONTH</a:t>
            </a:r>
          </a:p>
        </p:txBody>
      </p:sp>
      <p:sp>
        <p:nvSpPr>
          <p:cNvPr id="7" name="Rectangle 6"/>
          <p:cNvSpPr/>
          <p:nvPr/>
        </p:nvSpPr>
        <p:spPr>
          <a:xfrm>
            <a:off x="658368" y="3651110"/>
            <a:ext cx="301752" cy="491121"/>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28700" y="3705679"/>
            <a:ext cx="301752" cy="436552"/>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399032" y="3978524"/>
            <a:ext cx="301752" cy="163707"/>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769364" y="2996282"/>
            <a:ext cx="301752" cy="1145949"/>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139696" y="3760248"/>
            <a:ext cx="301752" cy="381983"/>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510028" y="3923955"/>
            <a:ext cx="301752" cy="218276"/>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880360" y="2450592"/>
            <a:ext cx="301752" cy="1691640"/>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250691" y="3869386"/>
            <a:ext cx="301752" cy="272845"/>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21024" y="3596541"/>
            <a:ext cx="301752" cy="545690"/>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991356" y="3760248"/>
            <a:ext cx="301752" cy="381983"/>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61688" y="3432834"/>
            <a:ext cx="301752" cy="709397"/>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732020" y="3432834"/>
            <a:ext cx="301752" cy="709397"/>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29784" y="2340864"/>
            <a:ext cx="20116" cy="1965960"/>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18304" y="2066544"/>
            <a:ext cx="1463040" cy="228600"/>
          </a:xfrm>
          <a:prstGeom prst="rect">
            <a:avLst/>
          </a:prstGeom>
          <a:noFill/>
        </p:spPr>
        <p:txBody>
          <a:bodyPr wrap="square" anchor="t" lIns="0" rIns="0" tIns="0" bIns="0">
            <a:spAutoFit/>
          </a:bodyPr>
          <a:lstStyle/>
          <a:p>
            <a:pPr algn="l"/>
            <a:r>
              <a:rPr sz="850" b="1" i="0">
                <a:solidFill>
                  <a:srgbClr val="D7001C"/>
                </a:solidFill>
                <a:latin typeface="Arial"/>
              </a:rPr>
              <a:t>NEW SITE</a:t>
            </a:r>
          </a:p>
        </p:txBody>
      </p:sp>
      <p:sp>
        <p:nvSpPr>
          <p:cNvPr id="21" name="Rectangle 20"/>
          <p:cNvSpPr/>
          <p:nvPr/>
        </p:nvSpPr>
        <p:spPr>
          <a:xfrm>
            <a:off x="5230368" y="3541972"/>
            <a:ext cx="301752" cy="600259"/>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00700" y="3596541"/>
            <a:ext cx="301752" cy="545690"/>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971031" y="3541972"/>
            <a:ext cx="301752" cy="600259"/>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341364" y="3760248"/>
            <a:ext cx="301752" cy="381983"/>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711696" y="3050851"/>
            <a:ext cx="301752" cy="1091380"/>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082028" y="3541972"/>
            <a:ext cx="301752" cy="600259"/>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452360" y="3596541"/>
            <a:ext cx="301752" cy="545690"/>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822692" y="3541972"/>
            <a:ext cx="301752" cy="600259"/>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193024" y="3651110"/>
            <a:ext cx="301752" cy="491121"/>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563356" y="3651110"/>
            <a:ext cx="301752" cy="491121"/>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933688" y="3596541"/>
            <a:ext cx="301752" cy="545690"/>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304020" y="3596541"/>
            <a:ext cx="301752" cy="545690"/>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674352" y="3814817"/>
            <a:ext cx="301752" cy="327414"/>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8368" y="4215384"/>
            <a:ext cx="4023360" cy="274320"/>
          </a:xfrm>
          <a:prstGeom prst="rect">
            <a:avLst/>
          </a:prstGeom>
          <a:noFill/>
        </p:spPr>
        <p:txBody>
          <a:bodyPr wrap="square" anchor="t" lIns="0" rIns="0" tIns="0" bIns="0">
            <a:spAutoFit/>
          </a:bodyPr>
          <a:lstStyle/>
          <a:p>
            <a:pPr algn="l"/>
            <a:r>
              <a:rPr sz="950" b="0" i="0">
                <a:solidFill>
                  <a:srgbClr val="737373"/>
                </a:solidFill>
                <a:latin typeface="Arial"/>
              </a:rPr>
              <a:t>Sep 2024 to Sep 2025  ·  old site</a:t>
            </a:r>
          </a:p>
        </p:txBody>
      </p:sp>
      <p:sp>
        <p:nvSpPr>
          <p:cNvPr id="35" name="TextBox 34"/>
          <p:cNvSpPr txBox="1"/>
          <p:nvPr/>
        </p:nvSpPr>
        <p:spPr>
          <a:xfrm>
            <a:off x="5230368" y="4215384"/>
            <a:ext cx="4023360" cy="274320"/>
          </a:xfrm>
          <a:prstGeom prst="rect">
            <a:avLst/>
          </a:prstGeom>
          <a:noFill/>
        </p:spPr>
        <p:txBody>
          <a:bodyPr wrap="square" anchor="t" lIns="0" rIns="0" tIns="0" bIns="0">
            <a:spAutoFit/>
          </a:bodyPr>
          <a:lstStyle/>
          <a:p>
            <a:pPr algn="l"/>
            <a:r>
              <a:rPr sz="950" b="1" i="0">
                <a:solidFill>
                  <a:srgbClr val="00819C"/>
                </a:solidFill>
                <a:latin typeface="Arial"/>
              </a:rPr>
              <a:t>Sep 2025 to Sep 2026  ·  new site</a:t>
            </a:r>
          </a:p>
        </p:txBody>
      </p:sp>
      <p:sp>
        <p:nvSpPr>
          <p:cNvPr id="36" name="TextBox 35"/>
          <p:cNvSpPr txBox="1"/>
          <p:nvPr/>
        </p:nvSpPr>
        <p:spPr>
          <a:xfrm>
            <a:off x="2761487" y="2066544"/>
            <a:ext cx="2194560" cy="274320"/>
          </a:xfrm>
          <a:prstGeom prst="rect">
            <a:avLst/>
          </a:prstGeom>
          <a:noFill/>
        </p:spPr>
        <p:txBody>
          <a:bodyPr wrap="square" anchor="t" lIns="0" rIns="0" tIns="0" bIns="0">
            <a:spAutoFit/>
          </a:bodyPr>
          <a:lstStyle/>
          <a:p>
            <a:pPr algn="l"/>
            <a:r>
              <a:rPr sz="850" b="1" i="0">
                <a:solidFill>
                  <a:srgbClr val="737373"/>
                </a:solidFill>
                <a:latin typeface="Arial"/>
              </a:rPr>
              <a:t>two days in March: 24 families</a:t>
            </a:r>
          </a:p>
        </p:txBody>
      </p:sp>
      <p:graphicFrame>
        <p:nvGraphicFramePr>
          <p:cNvPr id="37" name="Table 36"/>
          <p:cNvGraphicFramePr>
            <a:graphicFrameLocks noGrp="1"/>
          </p:cNvGraphicFramePr>
          <p:nvPr/>
        </p:nvGraphicFramePr>
        <p:xfrm>
          <a:off x="658368" y="4645152"/>
          <a:ext cx="5654977" cy="1316736"/>
        </p:xfrm>
        <a:graphic>
          <a:graphicData uri="http://schemas.openxmlformats.org/drawingml/2006/table">
            <a:tbl>
              <a:tblPr firstRow="1">
                <a:tableStyleId>{5C22544A-7EE6-4342-B048-85BDC9FD1C3A}</a:tableStyleId>
              </a:tblPr>
              <a:tblGrid>
                <a:gridCol w="2918698"/>
                <a:gridCol w="1459349"/>
                <a:gridCol w="1276930"/>
              </a:tblGrid>
              <a:tr h="329184">
                <a:tc>
                  <a:txBody>
                    <a:bodyPr wrap="square"/>
                    <a:lstStyle/>
                    <a:p>
                      <a:r>
                        <a:rPr sz="1100" b="1" i="0">
                          <a:solidFill>
                            <a:srgbClr val="FFFFFF"/>
                          </a:solidFill>
                          <a:latin typeface="Arial"/>
                        </a:rPr>
                        <a:t/>
                      </a:r>
                    </a:p>
                  </a:txBody>
                  <a:tcPr marL="109728" marR="73152" marT="45720" marB="45720" anchor="ctr">
                    <a:solidFill>
                      <a:srgbClr val="17375F"/>
                    </a:solidFill>
                  </a:tcPr>
                </a:tc>
                <a:tc>
                  <a:txBody>
                    <a:bodyPr wrap="square"/>
                    <a:lstStyle/>
                    <a:p>
                      <a:pPr algn="r"/>
                      <a:r>
                        <a:rPr sz="1100" b="1" i="0">
                          <a:solidFill>
                            <a:srgbClr val="FFFFFF"/>
                          </a:solidFill>
                          <a:latin typeface="Arial"/>
                        </a:rPr>
                        <a:t>Year before</a:t>
                      </a:r>
                    </a:p>
                  </a:txBody>
                  <a:tcPr marL="109728" marR="73152" marT="45720" marB="45720" anchor="ctr">
                    <a:solidFill>
                      <a:srgbClr val="17375F"/>
                    </a:solidFill>
                  </a:tcPr>
                </a:tc>
                <a:tc>
                  <a:txBody>
                    <a:bodyPr wrap="square"/>
                    <a:lstStyle/>
                    <a:p>
                      <a:pPr algn="r"/>
                      <a:r>
                        <a:rPr sz="1100" b="1" i="0">
                          <a:solidFill>
                            <a:srgbClr val="FFFFFF"/>
                          </a:solidFill>
                          <a:latin typeface="Arial"/>
                        </a:rPr>
                        <a:t>Year one</a:t>
                      </a:r>
                    </a:p>
                  </a:txBody>
                  <a:tcPr marL="109728" marR="73152" marT="45720" marB="45720" anchor="ctr">
                    <a:solidFill>
                      <a:srgbClr val="17375F"/>
                    </a:solidFill>
                  </a:tcPr>
                </a:tc>
              </a:tr>
              <a:tr h="329184">
                <a:tc>
                  <a:txBody>
                    <a:bodyPr wrap="square"/>
                    <a:lstStyle/>
                    <a:p>
                      <a:r>
                        <a:rPr sz="1150" b="0" i="0">
                          <a:solidFill>
                            <a:srgbClr val="404040"/>
                          </a:solidFill>
                          <a:latin typeface="Arial"/>
                        </a:rPr>
                        <a:t>Families registered</a:t>
                      </a:r>
                    </a:p>
                  </a:txBody>
                  <a:tcPr marL="109728" marR="73152" marT="36576" marB="36576" anchor="ctr">
                    <a:solidFill>
                      <a:srgbClr val="FFFFFF"/>
                    </a:solidFill>
                  </a:tcPr>
                </a:tc>
                <a:tc>
                  <a:txBody>
                    <a:bodyPr wrap="square"/>
                    <a:lstStyle/>
                    <a:p>
                      <a:pPr algn="r"/>
                      <a:r>
                        <a:rPr sz="1150" b="0" i="0">
                          <a:solidFill>
                            <a:srgbClr val="404040"/>
                          </a:solidFill>
                          <a:latin typeface="Arial"/>
                        </a:rPr>
                        <a:t>133</a:t>
                      </a:r>
                    </a:p>
                  </a:txBody>
                  <a:tcPr marL="109728" marR="73152" marT="36576" marB="36576" anchor="ctr">
                    <a:solidFill>
                      <a:srgbClr val="FFFFFF"/>
                    </a:solidFill>
                  </a:tcPr>
                </a:tc>
                <a:tc>
                  <a:txBody>
                    <a:bodyPr wrap="square"/>
                    <a:lstStyle/>
                    <a:p>
                      <a:pPr algn="r"/>
                      <a:r>
                        <a:rPr sz="1150" b="1" i="0">
                          <a:solidFill>
                            <a:srgbClr val="17375F"/>
                          </a:solidFill>
                          <a:latin typeface="Arial"/>
                        </a:rPr>
                        <a:t>127</a:t>
                      </a:r>
                    </a:p>
                  </a:txBody>
                  <a:tcPr marL="109728" marR="73152" marT="36576" marB="36576" anchor="ctr">
                    <a:solidFill>
                      <a:srgbClr val="FFFFFF"/>
                    </a:solidFill>
                  </a:tcPr>
                </a:tc>
              </a:tr>
              <a:tr h="329184">
                <a:tc>
                  <a:txBody>
                    <a:bodyPr wrap="square"/>
                    <a:lstStyle/>
                    <a:p>
                      <a:r>
                        <a:rPr sz="1150" b="0" i="0">
                          <a:solidFill>
                            <a:srgbClr val="404040"/>
                          </a:solidFill>
                          <a:latin typeface="Arial"/>
                        </a:rPr>
                        <a:t>Most in a single two-day period</a:t>
                      </a:r>
                    </a:p>
                  </a:txBody>
                  <a:tcPr marL="109728" marR="73152" marT="36576" marB="36576" anchor="ctr">
                    <a:solidFill>
                      <a:srgbClr val="F5F5F5"/>
                    </a:solidFill>
                  </a:tcPr>
                </a:tc>
                <a:tc>
                  <a:txBody>
                    <a:bodyPr wrap="square"/>
                    <a:lstStyle/>
                    <a:p>
                      <a:pPr algn="r"/>
                      <a:r>
                        <a:rPr sz="1150" b="0" i="0">
                          <a:solidFill>
                            <a:srgbClr val="404040"/>
                          </a:solidFill>
                          <a:latin typeface="Arial"/>
                        </a:rPr>
                        <a:t>24 (an event)</a:t>
                      </a:r>
                    </a:p>
                  </a:txBody>
                  <a:tcPr marL="109728" marR="73152" marT="36576" marB="36576" anchor="ctr">
                    <a:solidFill>
                      <a:srgbClr val="F5F5F5"/>
                    </a:solidFill>
                  </a:tcPr>
                </a:tc>
                <a:tc>
                  <a:txBody>
                    <a:bodyPr wrap="square"/>
                    <a:lstStyle/>
                    <a:p>
                      <a:pPr algn="r"/>
                      <a:r>
                        <a:rPr sz="1150" b="1" i="0">
                          <a:solidFill>
                            <a:srgbClr val="17375F"/>
                          </a:solidFill>
                          <a:latin typeface="Arial"/>
                        </a:rPr>
                        <a:t>3</a:t>
                      </a:r>
                    </a:p>
                  </a:txBody>
                  <a:tcPr marL="109728" marR="73152" marT="36576" marB="36576" anchor="ctr">
                    <a:solidFill>
                      <a:srgbClr val="F5F5F5"/>
                    </a:solidFill>
                  </a:tcPr>
                </a:tc>
              </a:tr>
              <a:tr h="329184">
                <a:tc>
                  <a:txBody>
                    <a:bodyPr wrap="square"/>
                    <a:lstStyle/>
                    <a:p>
                      <a:r>
                        <a:rPr sz="1150" b="0" i="0">
                          <a:solidFill>
                            <a:srgbClr val="404040"/>
                          </a:solidFill>
                          <a:latin typeface="Arial"/>
                        </a:rPr>
                        <a:t>Months with fewer than 5</a:t>
                      </a:r>
                    </a:p>
                  </a:txBody>
                  <a:tcPr marL="109728" marR="73152" marT="36576" marB="36576" anchor="ctr">
                    <a:solidFill>
                      <a:srgbClr val="FFFFFF"/>
                    </a:solidFill>
                  </a:tcPr>
                </a:tc>
                <a:tc>
                  <a:txBody>
                    <a:bodyPr wrap="square"/>
                    <a:lstStyle/>
                    <a:p>
                      <a:pPr algn="r"/>
                      <a:r>
                        <a:rPr sz="1150" b="0" i="0">
                          <a:solidFill>
                            <a:srgbClr val="404040"/>
                          </a:solidFill>
                          <a:latin typeface="Arial"/>
                        </a:rPr>
                        <a:t>3</a:t>
                      </a:r>
                    </a:p>
                  </a:txBody>
                  <a:tcPr marL="109728" marR="73152" marT="36576" marB="36576" anchor="ctr">
                    <a:solidFill>
                      <a:srgbClr val="FFFFFF"/>
                    </a:solidFill>
                  </a:tcPr>
                </a:tc>
                <a:tc>
                  <a:txBody>
                    <a:bodyPr wrap="square"/>
                    <a:lstStyle/>
                    <a:p>
                      <a:pPr algn="r"/>
                      <a:r>
                        <a:rPr sz="1150" b="1" i="0">
                          <a:solidFill>
                            <a:srgbClr val="17375F"/>
                          </a:solidFill>
                          <a:latin typeface="Arial"/>
                        </a:rPr>
                        <a:t>0</a:t>
                      </a:r>
                    </a:p>
                  </a:txBody>
                  <a:tcPr marL="109728" marR="73152" marT="36576" marB="36576" anchor="ctr">
                    <a:solidFill>
                      <a:srgbClr val="FFFFFF"/>
                    </a:solidFill>
                  </a:tcPr>
                </a:tc>
              </a:tr>
            </a:tbl>
          </a:graphicData>
        </a:graphic>
      </p:graphicFrame>
      <p:sp>
        <p:nvSpPr>
          <p:cNvPr id="38" name="TextBox 37"/>
          <p:cNvSpPr txBox="1"/>
          <p:nvPr/>
        </p:nvSpPr>
        <p:spPr>
          <a:xfrm>
            <a:off x="6857094" y="4645152"/>
            <a:ext cx="4676232" cy="1737360"/>
          </a:xfrm>
          <a:prstGeom prst="rect">
            <a:avLst/>
          </a:prstGeom>
          <a:noFill/>
        </p:spPr>
        <p:txBody>
          <a:bodyPr wrap="square" anchor="t" lIns="0" rIns="0" tIns="0" bIns="0">
            <a:spAutoFit/>
          </a:bodyPr>
          <a:lstStyle/>
          <a:p>
            <a:pPr algn="l">
              <a:lnSpc>
                <a:spcPct val="125000"/>
              </a:lnSpc>
            </a:pPr>
            <a:r>
              <a:rPr sz="1300" b="1" i="0">
                <a:solidFill>
                  <a:srgbClr val="17375F"/>
                </a:solidFill>
                <a:latin typeface="Arial"/>
              </a:rPr>
              <a:t>The website did not make more families register. </a:t>
            </a:r>
            <a:r>
              <a:rPr sz="1300" b="1" i="0">
                <a:solidFill>
                  <a:srgbClr val="17375F"/>
                </a:solidFill>
                <a:latin typeface="Arial"/>
              </a:rPr>
              <a:t>That follows diagnoses, and a website does not diagnose anyone.</a:t>
            </a:r>
          </a:p>
          <a:p>
            <a:pPr>
              <a:lnSpc>
                <a:spcPct val="125000"/>
              </a:lnSpc>
              <a:spcBef>
                <a:spcPts val="900"/>
              </a:spcBef>
            </a:pPr>
            <a:r>
              <a:rPr sz="1250" b="0" i="0">
                <a:solidFill>
                  <a:srgbClr val="525252"/>
                </a:solidFill>
                <a:latin typeface="Arial"/>
              </a:rPr>
              <a:t>What changed is how they arrive. Before, registrations came in bursts around events — 18% of the whole year landed in two days in March. Now nine to eleven arrive every month, in seven languages.</a:t>
            </a:r>
          </a:p>
          <a:p>
            <a:pPr>
              <a:lnSpc>
                <a:spcPct val="125000"/>
              </a:lnSpc>
              <a:spcBef>
                <a:spcPts val="900"/>
              </a:spcBef>
            </a:pPr>
            <a:r>
              <a:rPr sz="1250" b="1" i="0">
                <a:solidFill>
                  <a:srgbClr val="00819C"/>
                </a:solidFill>
                <a:latin typeface="Arial"/>
              </a:rPr>
              <a:t>For the first time the registry does not depend on the events calendar.</a:t>
            </a:r>
          </a:p>
        </p:txBody>
      </p:sp>
      <p:sp>
        <p:nvSpPr>
          <p:cNvPr id="39" name="TextBox 38"/>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Givebutter API · families counted by the date they were added</a:t>
            </a:r>
          </a:p>
        </p:txBody>
      </p:sp>
      <p:sp>
        <p:nvSpPr>
          <p:cNvPr id="40" name="TextBox 39"/>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2331720"/>
            <a:ext cx="10874959" cy="457200"/>
          </a:xfrm>
          <a:prstGeom prst="rect">
            <a:avLst/>
          </a:prstGeom>
          <a:noFill/>
        </p:spPr>
        <p:txBody>
          <a:bodyPr wrap="square" anchor="t" lIns="0" rIns="0" tIns="0" bIns="0">
            <a:spAutoFit/>
          </a:bodyPr>
          <a:lstStyle/>
          <a:p>
            <a:pPr algn="l"/>
            <a:r>
              <a:rPr sz="1300" b="1" i="0">
                <a:solidFill>
                  <a:srgbClr val="03D3FF"/>
                </a:solidFill>
                <a:latin typeface="Arial"/>
              </a:rPr>
              <a:t>PART 3</a:t>
            </a:r>
          </a:p>
        </p:txBody>
      </p:sp>
      <p:sp>
        <p:nvSpPr>
          <p:cNvPr id="4" name="TextBox 3"/>
          <p:cNvSpPr txBox="1"/>
          <p:nvPr/>
        </p:nvSpPr>
        <p:spPr>
          <a:xfrm>
            <a:off x="658368" y="2743200"/>
            <a:ext cx="8699967" cy="914400"/>
          </a:xfrm>
          <a:prstGeom prst="rect">
            <a:avLst/>
          </a:prstGeom>
          <a:noFill/>
        </p:spPr>
        <p:txBody>
          <a:bodyPr wrap="square" anchor="t" lIns="0" rIns="0" tIns="0" bIns="0">
            <a:spAutoFit/>
          </a:bodyPr>
          <a:lstStyle/>
          <a:p>
            <a:pPr algn="l"/>
            <a:r>
              <a:rPr sz="4600" b="1" i="0">
                <a:solidFill>
                  <a:srgbClr val="FFFFFF"/>
                </a:solidFill>
                <a:latin typeface="Arial"/>
              </a:rPr>
              <a:t>Do supporters give?</a:t>
            </a:r>
          </a:p>
        </p:txBody>
      </p:sp>
      <p:sp>
        <p:nvSpPr>
          <p:cNvPr id="5" name="TextBox 4"/>
          <p:cNvSpPr txBox="1"/>
          <p:nvPr/>
        </p:nvSpPr>
        <p:spPr>
          <a:xfrm>
            <a:off x="658368" y="3886200"/>
            <a:ext cx="6742474" cy="731520"/>
          </a:xfrm>
          <a:prstGeom prst="rect">
            <a:avLst/>
          </a:prstGeom>
          <a:noFill/>
        </p:spPr>
        <p:txBody>
          <a:bodyPr wrap="square" anchor="t" lIns="0" rIns="0" tIns="0" bIns="0">
            <a:spAutoFit/>
          </a:bodyPr>
          <a:lstStyle/>
          <a:p>
            <a:pPr algn="l">
              <a:lnSpc>
                <a:spcPct val="125000"/>
              </a:lnSpc>
            </a:pPr>
            <a:r>
              <a:rPr sz="1600" b="0" i="0">
                <a:solidFill>
                  <a:srgbClr val="BAD1EE"/>
                </a:solidFill>
                <a:latin typeface="Arial"/>
              </a:rPr>
              <a:t>Two waves of generosity — and one number we did not move.</a:t>
            </a:r>
          </a:p>
        </p:txBody>
      </p:sp>
      <p:sp>
        <p:nvSpPr>
          <p:cNvPr id="6" name="TextBox 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2B66B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3 · DO SUPPORTERS GIVE?</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431 people donated in the first year</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They gave $88,000 between them. The middle donation was $55.</a:t>
            </a:r>
          </a:p>
        </p:txBody>
      </p:sp>
      <p:sp>
        <p:nvSpPr>
          <p:cNvPr id="6" name="TextBox 5"/>
          <p:cNvSpPr txBox="1"/>
          <p:nvPr/>
        </p:nvSpPr>
        <p:spPr>
          <a:xfrm>
            <a:off x="658368" y="2048256"/>
            <a:ext cx="3657600" cy="274320"/>
          </a:xfrm>
          <a:prstGeom prst="rect">
            <a:avLst/>
          </a:prstGeom>
          <a:noFill/>
        </p:spPr>
        <p:txBody>
          <a:bodyPr wrap="square" anchor="t" lIns="0" rIns="0" tIns="0" bIns="0">
            <a:spAutoFit/>
          </a:bodyPr>
          <a:lstStyle/>
          <a:p>
            <a:pPr algn="l"/>
            <a:r>
              <a:rPr sz="950" b="1" i="0">
                <a:solidFill>
                  <a:srgbClr val="A3A3A3"/>
                </a:solidFill>
                <a:latin typeface="Arial"/>
              </a:rPr>
              <a:t>NEW DONORS EACH MONTH</a:t>
            </a:r>
          </a:p>
        </p:txBody>
      </p:sp>
      <p:sp>
        <p:nvSpPr>
          <p:cNvPr id="7" name="Rectangle 6"/>
          <p:cNvSpPr/>
          <p:nvPr/>
        </p:nvSpPr>
        <p:spPr>
          <a:xfrm>
            <a:off x="658368"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66928"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Sep</a:t>
            </a:r>
          </a:p>
        </p:txBody>
      </p:sp>
      <p:sp>
        <p:nvSpPr>
          <p:cNvPr id="9" name="Rectangle 8"/>
          <p:cNvSpPr/>
          <p:nvPr/>
        </p:nvSpPr>
        <p:spPr>
          <a:xfrm>
            <a:off x="1444752"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53312"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Oct</a:t>
            </a:r>
          </a:p>
        </p:txBody>
      </p:sp>
      <p:sp>
        <p:nvSpPr>
          <p:cNvPr id="11" name="Rectangle 10"/>
          <p:cNvSpPr/>
          <p:nvPr/>
        </p:nvSpPr>
        <p:spPr>
          <a:xfrm>
            <a:off x="2231136"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9696"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Nov</a:t>
            </a:r>
          </a:p>
        </p:txBody>
      </p:sp>
      <p:sp>
        <p:nvSpPr>
          <p:cNvPr id="13" name="Rectangle 12"/>
          <p:cNvSpPr/>
          <p:nvPr/>
        </p:nvSpPr>
        <p:spPr>
          <a:xfrm>
            <a:off x="3017520" y="2359152"/>
            <a:ext cx="566928" cy="1554480"/>
          </a:xfrm>
          <a:prstGeom prst="rect">
            <a:avLst/>
          </a:prstGeom>
          <a:solidFill>
            <a:srgbClr val="214E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26079" y="2084832"/>
            <a:ext cx="749808" cy="256032"/>
          </a:xfrm>
          <a:prstGeom prst="rect">
            <a:avLst/>
          </a:prstGeom>
          <a:noFill/>
        </p:spPr>
        <p:txBody>
          <a:bodyPr wrap="square" anchor="t" lIns="0" rIns="0" tIns="0" bIns="0">
            <a:spAutoFit/>
          </a:bodyPr>
          <a:lstStyle/>
          <a:p>
            <a:pPr algn="ctr"/>
            <a:r>
              <a:rPr sz="1050" b="1" i="0">
                <a:solidFill>
                  <a:srgbClr val="17375F"/>
                </a:solidFill>
                <a:latin typeface="Arial"/>
              </a:rPr>
              <a:t>137</a:t>
            </a:r>
          </a:p>
        </p:txBody>
      </p:sp>
      <p:sp>
        <p:nvSpPr>
          <p:cNvPr id="15" name="TextBox 14"/>
          <p:cNvSpPr txBox="1"/>
          <p:nvPr/>
        </p:nvSpPr>
        <p:spPr>
          <a:xfrm>
            <a:off x="2926079"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Dec</a:t>
            </a:r>
          </a:p>
        </p:txBody>
      </p:sp>
      <p:sp>
        <p:nvSpPr>
          <p:cNvPr id="16" name="Rectangle 15"/>
          <p:cNvSpPr/>
          <p:nvPr/>
        </p:nvSpPr>
        <p:spPr>
          <a:xfrm>
            <a:off x="3803904"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712464"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Jan</a:t>
            </a:r>
          </a:p>
        </p:txBody>
      </p:sp>
      <p:sp>
        <p:nvSpPr>
          <p:cNvPr id="18" name="Rectangle 17"/>
          <p:cNvSpPr/>
          <p:nvPr/>
        </p:nvSpPr>
        <p:spPr>
          <a:xfrm>
            <a:off x="4590288"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98848"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Feb</a:t>
            </a:r>
          </a:p>
        </p:txBody>
      </p:sp>
      <p:sp>
        <p:nvSpPr>
          <p:cNvPr id="20" name="Rectangle 19"/>
          <p:cNvSpPr/>
          <p:nvPr/>
        </p:nvSpPr>
        <p:spPr>
          <a:xfrm>
            <a:off x="5376672" y="3368996"/>
            <a:ext cx="566928" cy="544635"/>
          </a:xfrm>
          <a:prstGeom prst="rect">
            <a:avLst/>
          </a:prstGeom>
          <a:solidFill>
            <a:srgbClr val="00AB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2" y="3094676"/>
            <a:ext cx="749808" cy="256032"/>
          </a:xfrm>
          <a:prstGeom prst="rect">
            <a:avLst/>
          </a:prstGeom>
          <a:noFill/>
        </p:spPr>
        <p:txBody>
          <a:bodyPr wrap="square" anchor="t" lIns="0" rIns="0" tIns="0" bIns="0">
            <a:spAutoFit/>
          </a:bodyPr>
          <a:lstStyle/>
          <a:p>
            <a:pPr algn="ctr"/>
            <a:r>
              <a:rPr sz="1050" b="1" i="0">
                <a:solidFill>
                  <a:srgbClr val="17375F"/>
                </a:solidFill>
                <a:latin typeface="Arial"/>
              </a:rPr>
              <a:t>48</a:t>
            </a:r>
          </a:p>
        </p:txBody>
      </p:sp>
      <p:sp>
        <p:nvSpPr>
          <p:cNvPr id="22" name="TextBox 21"/>
          <p:cNvSpPr txBox="1"/>
          <p:nvPr/>
        </p:nvSpPr>
        <p:spPr>
          <a:xfrm>
            <a:off x="5285232"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Mar</a:t>
            </a:r>
          </a:p>
        </p:txBody>
      </p:sp>
      <p:sp>
        <p:nvSpPr>
          <p:cNvPr id="23" name="Rectangle 22"/>
          <p:cNvSpPr/>
          <p:nvPr/>
        </p:nvSpPr>
        <p:spPr>
          <a:xfrm>
            <a:off x="6163055"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071616"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Apr</a:t>
            </a:r>
          </a:p>
        </p:txBody>
      </p:sp>
      <p:sp>
        <p:nvSpPr>
          <p:cNvPr id="25" name="Rectangle 24"/>
          <p:cNvSpPr/>
          <p:nvPr/>
        </p:nvSpPr>
        <p:spPr>
          <a:xfrm>
            <a:off x="6949440" y="3187451"/>
            <a:ext cx="566928" cy="726180"/>
          </a:xfrm>
          <a:prstGeom prst="rect">
            <a:avLst/>
          </a:prstGeom>
          <a:solidFill>
            <a:srgbClr val="214E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2913131"/>
            <a:ext cx="749808" cy="256032"/>
          </a:xfrm>
          <a:prstGeom prst="rect">
            <a:avLst/>
          </a:prstGeom>
          <a:noFill/>
        </p:spPr>
        <p:txBody>
          <a:bodyPr wrap="square" anchor="t" lIns="0" rIns="0" tIns="0" bIns="0">
            <a:spAutoFit/>
          </a:bodyPr>
          <a:lstStyle/>
          <a:p>
            <a:pPr algn="ctr"/>
            <a:r>
              <a:rPr sz="1050" b="1" i="0">
                <a:solidFill>
                  <a:srgbClr val="17375F"/>
                </a:solidFill>
                <a:latin typeface="Arial"/>
              </a:rPr>
              <a:t>64</a:t>
            </a:r>
          </a:p>
        </p:txBody>
      </p:sp>
      <p:sp>
        <p:nvSpPr>
          <p:cNvPr id="27" name="TextBox 26"/>
          <p:cNvSpPr txBox="1"/>
          <p:nvPr/>
        </p:nvSpPr>
        <p:spPr>
          <a:xfrm>
            <a:off x="6858000"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May</a:t>
            </a:r>
          </a:p>
        </p:txBody>
      </p:sp>
      <p:sp>
        <p:nvSpPr>
          <p:cNvPr id="28" name="Rectangle 27"/>
          <p:cNvSpPr/>
          <p:nvPr/>
        </p:nvSpPr>
        <p:spPr>
          <a:xfrm>
            <a:off x="7735824" y="3039946"/>
            <a:ext cx="566928" cy="873685"/>
          </a:xfrm>
          <a:prstGeom prst="rect">
            <a:avLst/>
          </a:prstGeom>
          <a:solidFill>
            <a:srgbClr val="214E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44384" y="2765626"/>
            <a:ext cx="749808" cy="256032"/>
          </a:xfrm>
          <a:prstGeom prst="rect">
            <a:avLst/>
          </a:prstGeom>
          <a:noFill/>
        </p:spPr>
        <p:txBody>
          <a:bodyPr wrap="square" anchor="t" lIns="0" rIns="0" tIns="0" bIns="0">
            <a:spAutoFit/>
          </a:bodyPr>
          <a:lstStyle/>
          <a:p>
            <a:pPr algn="ctr"/>
            <a:r>
              <a:rPr sz="1050" b="1" i="0">
                <a:solidFill>
                  <a:srgbClr val="17375F"/>
                </a:solidFill>
                <a:latin typeface="Arial"/>
              </a:rPr>
              <a:t>77</a:t>
            </a:r>
          </a:p>
        </p:txBody>
      </p:sp>
      <p:sp>
        <p:nvSpPr>
          <p:cNvPr id="30" name="TextBox 29"/>
          <p:cNvSpPr txBox="1"/>
          <p:nvPr/>
        </p:nvSpPr>
        <p:spPr>
          <a:xfrm>
            <a:off x="7644384"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Jun</a:t>
            </a:r>
          </a:p>
        </p:txBody>
      </p:sp>
      <p:sp>
        <p:nvSpPr>
          <p:cNvPr id="31" name="Rectangle 30"/>
          <p:cNvSpPr/>
          <p:nvPr/>
        </p:nvSpPr>
        <p:spPr>
          <a:xfrm>
            <a:off x="8522208"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430768"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Jul</a:t>
            </a:r>
          </a:p>
        </p:txBody>
      </p:sp>
      <p:sp>
        <p:nvSpPr>
          <p:cNvPr id="33" name="Rectangle 32"/>
          <p:cNvSpPr/>
          <p:nvPr/>
        </p:nvSpPr>
        <p:spPr>
          <a:xfrm>
            <a:off x="9308592"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17152"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Aug</a:t>
            </a:r>
          </a:p>
        </p:txBody>
      </p:sp>
      <p:sp>
        <p:nvSpPr>
          <p:cNvPr id="35" name="Rectangle 34"/>
          <p:cNvSpPr/>
          <p:nvPr/>
        </p:nvSpPr>
        <p:spPr>
          <a:xfrm>
            <a:off x="10094976" y="3886200"/>
            <a:ext cx="566928" cy="27432"/>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03536" y="3968496"/>
            <a:ext cx="749808" cy="228600"/>
          </a:xfrm>
          <a:prstGeom prst="rect">
            <a:avLst/>
          </a:prstGeom>
          <a:noFill/>
        </p:spPr>
        <p:txBody>
          <a:bodyPr wrap="square" anchor="t" lIns="0" rIns="0" tIns="0" bIns="0">
            <a:spAutoFit/>
          </a:bodyPr>
          <a:lstStyle/>
          <a:p>
            <a:pPr algn="ctr"/>
            <a:r>
              <a:rPr sz="900" b="0" i="0">
                <a:solidFill>
                  <a:srgbClr val="737373"/>
                </a:solidFill>
                <a:latin typeface="Arial"/>
              </a:rPr>
              <a:t>Sep</a:t>
            </a:r>
          </a:p>
        </p:txBody>
      </p:sp>
      <p:sp>
        <p:nvSpPr>
          <p:cNvPr id="37" name="Rectangle 36"/>
          <p:cNvSpPr/>
          <p:nvPr/>
        </p:nvSpPr>
        <p:spPr>
          <a:xfrm>
            <a:off x="658368" y="4325112"/>
            <a:ext cx="2014057" cy="9601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22959" y="4471416"/>
            <a:ext cx="1684873" cy="502920"/>
          </a:xfrm>
          <a:prstGeom prst="rect">
            <a:avLst/>
          </a:prstGeom>
          <a:noFill/>
        </p:spPr>
        <p:txBody>
          <a:bodyPr wrap="square" anchor="t" lIns="0" rIns="0" tIns="0" bIns="0">
            <a:spAutoFit/>
          </a:bodyPr>
          <a:lstStyle/>
          <a:p>
            <a:pPr algn="l"/>
            <a:r>
              <a:rPr sz="3000" b="1" i="0">
                <a:solidFill>
                  <a:srgbClr val="214E88"/>
                </a:solidFill>
                <a:latin typeface="Arial"/>
              </a:rPr>
              <a:t>431</a:t>
            </a:r>
          </a:p>
        </p:txBody>
      </p:sp>
      <p:sp>
        <p:nvSpPr>
          <p:cNvPr id="39" name="TextBox 38"/>
          <p:cNvSpPr txBox="1"/>
          <p:nvPr/>
        </p:nvSpPr>
        <p:spPr>
          <a:xfrm>
            <a:off x="822959" y="5001768"/>
            <a:ext cx="1684873" cy="411480"/>
          </a:xfrm>
          <a:prstGeom prst="rect">
            <a:avLst/>
          </a:prstGeom>
          <a:noFill/>
        </p:spPr>
        <p:txBody>
          <a:bodyPr wrap="square" anchor="t" lIns="0" rIns="0" tIns="0" bIns="0">
            <a:spAutoFit/>
          </a:bodyPr>
          <a:lstStyle/>
          <a:p>
            <a:pPr algn="l"/>
            <a:r>
              <a:rPr sz="1050" b="0" i="0">
                <a:solidFill>
                  <a:srgbClr val="737373"/>
                </a:solidFill>
                <a:latin typeface="Arial"/>
              </a:rPr>
              <a:t>people gave</a:t>
            </a:r>
          </a:p>
        </p:txBody>
      </p:sp>
      <p:sp>
        <p:nvSpPr>
          <p:cNvPr id="40" name="Rectangle 39"/>
          <p:cNvSpPr/>
          <p:nvPr/>
        </p:nvSpPr>
        <p:spPr>
          <a:xfrm>
            <a:off x="2873593" y="4325112"/>
            <a:ext cx="2014057" cy="9601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3038185" y="4471416"/>
            <a:ext cx="1684873" cy="502920"/>
          </a:xfrm>
          <a:prstGeom prst="rect">
            <a:avLst/>
          </a:prstGeom>
          <a:noFill/>
        </p:spPr>
        <p:txBody>
          <a:bodyPr wrap="square" anchor="t" lIns="0" rIns="0" tIns="0" bIns="0">
            <a:spAutoFit/>
          </a:bodyPr>
          <a:lstStyle/>
          <a:p>
            <a:pPr algn="l"/>
            <a:r>
              <a:rPr sz="3000" b="1" i="0">
                <a:solidFill>
                  <a:srgbClr val="214E88"/>
                </a:solidFill>
                <a:latin typeface="Arial"/>
              </a:rPr>
              <a:t>$88,000</a:t>
            </a:r>
          </a:p>
        </p:txBody>
      </p:sp>
      <p:sp>
        <p:nvSpPr>
          <p:cNvPr id="42" name="TextBox 41"/>
          <p:cNvSpPr txBox="1"/>
          <p:nvPr/>
        </p:nvSpPr>
        <p:spPr>
          <a:xfrm>
            <a:off x="3038185" y="5001768"/>
            <a:ext cx="1684873" cy="411480"/>
          </a:xfrm>
          <a:prstGeom prst="rect">
            <a:avLst/>
          </a:prstGeom>
          <a:noFill/>
        </p:spPr>
        <p:txBody>
          <a:bodyPr wrap="square" anchor="t" lIns="0" rIns="0" tIns="0" bIns="0">
            <a:spAutoFit/>
          </a:bodyPr>
          <a:lstStyle/>
          <a:p>
            <a:pPr algn="l"/>
            <a:r>
              <a:rPr sz="1050" b="0" i="0">
                <a:solidFill>
                  <a:srgbClr val="737373"/>
                </a:solidFill>
                <a:latin typeface="Arial"/>
              </a:rPr>
              <a:t>raised</a:t>
            </a:r>
          </a:p>
        </p:txBody>
      </p:sp>
      <p:sp>
        <p:nvSpPr>
          <p:cNvPr id="43" name="Rectangle 42"/>
          <p:cNvSpPr/>
          <p:nvPr/>
        </p:nvSpPr>
        <p:spPr>
          <a:xfrm>
            <a:off x="5088818" y="4325112"/>
            <a:ext cx="2014057" cy="9601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253410" y="4471416"/>
            <a:ext cx="1684873" cy="502920"/>
          </a:xfrm>
          <a:prstGeom prst="rect">
            <a:avLst/>
          </a:prstGeom>
          <a:noFill/>
        </p:spPr>
        <p:txBody>
          <a:bodyPr wrap="square" anchor="t" lIns="0" rIns="0" tIns="0" bIns="0">
            <a:spAutoFit/>
          </a:bodyPr>
          <a:lstStyle/>
          <a:p>
            <a:pPr algn="l"/>
            <a:r>
              <a:rPr sz="3000" b="1" i="0">
                <a:solidFill>
                  <a:srgbClr val="214E88"/>
                </a:solidFill>
                <a:latin typeface="Arial"/>
              </a:rPr>
              <a:t>$55</a:t>
            </a:r>
          </a:p>
        </p:txBody>
      </p:sp>
      <p:sp>
        <p:nvSpPr>
          <p:cNvPr id="45" name="TextBox 44"/>
          <p:cNvSpPr txBox="1"/>
          <p:nvPr/>
        </p:nvSpPr>
        <p:spPr>
          <a:xfrm>
            <a:off x="5253410" y="5001768"/>
            <a:ext cx="1684873" cy="411480"/>
          </a:xfrm>
          <a:prstGeom prst="rect">
            <a:avLst/>
          </a:prstGeom>
          <a:noFill/>
        </p:spPr>
        <p:txBody>
          <a:bodyPr wrap="square" anchor="t" lIns="0" rIns="0" tIns="0" bIns="0">
            <a:spAutoFit/>
          </a:bodyPr>
          <a:lstStyle/>
          <a:p>
            <a:pPr algn="l"/>
            <a:r>
              <a:rPr sz="1050" b="0" i="0">
                <a:solidFill>
                  <a:srgbClr val="737373"/>
                </a:solidFill>
                <a:latin typeface="Arial"/>
              </a:rPr>
              <a:t>middle donation</a:t>
            </a:r>
          </a:p>
        </p:txBody>
      </p:sp>
      <p:sp>
        <p:nvSpPr>
          <p:cNvPr id="46" name="Rectangle 45"/>
          <p:cNvSpPr/>
          <p:nvPr/>
        </p:nvSpPr>
        <p:spPr>
          <a:xfrm>
            <a:off x="7304044" y="4325112"/>
            <a:ext cx="2014057" cy="9601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468636" y="4471416"/>
            <a:ext cx="1684873" cy="502920"/>
          </a:xfrm>
          <a:prstGeom prst="rect">
            <a:avLst/>
          </a:prstGeom>
          <a:noFill/>
        </p:spPr>
        <p:txBody>
          <a:bodyPr wrap="square" anchor="t" lIns="0" rIns="0" tIns="0" bIns="0">
            <a:spAutoFit/>
          </a:bodyPr>
          <a:lstStyle/>
          <a:p>
            <a:pPr algn="l"/>
            <a:r>
              <a:rPr sz="3000" b="1" i="0">
                <a:solidFill>
                  <a:srgbClr val="214E88"/>
                </a:solidFill>
                <a:latin typeface="Arial"/>
              </a:rPr>
              <a:t>15</a:t>
            </a:r>
          </a:p>
        </p:txBody>
      </p:sp>
      <p:sp>
        <p:nvSpPr>
          <p:cNvPr id="48" name="TextBox 47"/>
          <p:cNvSpPr txBox="1"/>
          <p:nvPr/>
        </p:nvSpPr>
        <p:spPr>
          <a:xfrm>
            <a:off x="7468636" y="5001768"/>
            <a:ext cx="1684873" cy="411480"/>
          </a:xfrm>
          <a:prstGeom prst="rect">
            <a:avLst/>
          </a:prstGeom>
          <a:noFill/>
        </p:spPr>
        <p:txBody>
          <a:bodyPr wrap="square" anchor="t" lIns="0" rIns="0" tIns="0" bIns="0">
            <a:spAutoFit/>
          </a:bodyPr>
          <a:lstStyle/>
          <a:p>
            <a:pPr algn="l"/>
            <a:r>
              <a:rPr sz="1050" b="0" i="0">
                <a:solidFill>
                  <a:srgbClr val="737373"/>
                </a:solidFill>
                <a:latin typeface="Arial"/>
              </a:rPr>
              <a:t>gave $1,000 or more</a:t>
            </a:r>
          </a:p>
        </p:txBody>
      </p:sp>
      <p:sp>
        <p:nvSpPr>
          <p:cNvPr id="49" name="Rectangle 48"/>
          <p:cNvSpPr/>
          <p:nvPr/>
        </p:nvSpPr>
        <p:spPr>
          <a:xfrm>
            <a:off x="9519269" y="4325112"/>
            <a:ext cx="2014057" cy="96012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683861" y="4471416"/>
            <a:ext cx="1684873" cy="502920"/>
          </a:xfrm>
          <a:prstGeom prst="rect">
            <a:avLst/>
          </a:prstGeom>
          <a:noFill/>
        </p:spPr>
        <p:txBody>
          <a:bodyPr wrap="square" anchor="t" lIns="0" rIns="0" tIns="0" bIns="0">
            <a:spAutoFit/>
          </a:bodyPr>
          <a:lstStyle/>
          <a:p>
            <a:pPr algn="l"/>
            <a:r>
              <a:rPr sz="3000" b="1" i="0">
                <a:solidFill>
                  <a:srgbClr val="214E88"/>
                </a:solidFill>
                <a:latin typeface="Arial"/>
              </a:rPr>
              <a:t>$20,000</a:t>
            </a:r>
          </a:p>
        </p:txBody>
      </p:sp>
      <p:sp>
        <p:nvSpPr>
          <p:cNvPr id="51" name="TextBox 50"/>
          <p:cNvSpPr txBox="1"/>
          <p:nvPr/>
        </p:nvSpPr>
        <p:spPr>
          <a:xfrm>
            <a:off x="9683861" y="5001768"/>
            <a:ext cx="1684873" cy="411480"/>
          </a:xfrm>
          <a:prstGeom prst="rect">
            <a:avLst/>
          </a:prstGeom>
          <a:noFill/>
        </p:spPr>
        <p:txBody>
          <a:bodyPr wrap="square" anchor="t" lIns="0" rIns="0" tIns="0" bIns="0">
            <a:spAutoFit/>
          </a:bodyPr>
          <a:lstStyle/>
          <a:p>
            <a:pPr algn="l"/>
            <a:r>
              <a:rPr sz="1050" b="0" i="0">
                <a:solidFill>
                  <a:srgbClr val="737373"/>
                </a:solidFill>
                <a:latin typeface="Arial"/>
              </a:rPr>
              <a:t>largest single gift</a:t>
            </a:r>
          </a:p>
        </p:txBody>
      </p:sp>
      <p:sp>
        <p:nvSpPr>
          <p:cNvPr id="52" name="TextBox 51"/>
          <p:cNvSpPr txBox="1"/>
          <p:nvPr/>
        </p:nvSpPr>
        <p:spPr>
          <a:xfrm>
            <a:off x="658368" y="5577840"/>
            <a:ext cx="5872477" cy="914400"/>
          </a:xfrm>
          <a:prstGeom prst="rect">
            <a:avLst/>
          </a:prstGeom>
          <a:noFill/>
        </p:spPr>
        <p:txBody>
          <a:bodyPr wrap="square" anchor="t" lIns="0" rIns="0" tIns="0" bIns="0">
            <a:spAutoFit/>
          </a:bodyPr>
          <a:lstStyle/>
          <a:p>
            <a:pPr algn="l">
              <a:lnSpc>
                <a:spcPct val="120000"/>
              </a:lnSpc>
            </a:pPr>
            <a:r>
              <a:rPr sz="1250" b="1" i="0">
                <a:solidFill>
                  <a:srgbClr val="17375F"/>
                </a:solidFill>
                <a:latin typeface="Arial"/>
              </a:rPr>
              <a:t>December 2025: </a:t>
            </a:r>
            <a:r>
              <a:rPr sz="1250" b="0" i="0">
                <a:solidFill>
                  <a:srgbClr val="525252"/>
                </a:solidFill>
                <a:latin typeface="Arial"/>
              </a:rPr>
              <a:t>137 people, $20,000 — year-end giving in the US and UK.   </a:t>
            </a:r>
            <a:r>
              <a:rPr sz="1250" b="1" i="0">
                <a:solidFill>
                  <a:srgbClr val="17375F"/>
                </a:solidFill>
                <a:latin typeface="Arial"/>
              </a:rPr>
              <a:t>May and June 2026: </a:t>
            </a:r>
            <a:r>
              <a:rPr sz="1250" b="0" i="0">
                <a:solidFill>
                  <a:srgbClr val="525252"/>
                </a:solidFill>
                <a:latin typeface="Arial"/>
              </a:rPr>
              <a:t>141 people, $34,000, and 132 of them British.</a:t>
            </a:r>
          </a:p>
        </p:txBody>
      </p:sp>
      <p:sp>
        <p:nvSpPr>
          <p:cNvPr id="53" name="Rectangle 52"/>
          <p:cNvSpPr/>
          <p:nvPr/>
        </p:nvSpPr>
        <p:spPr>
          <a:xfrm>
            <a:off x="6965844" y="5577840"/>
            <a:ext cx="4567482" cy="914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965844" y="5577840"/>
            <a:ext cx="54864" cy="914400"/>
          </a:xfrm>
          <a:prstGeom prst="rect">
            <a:avLst/>
          </a:prstGeom>
          <a:solidFill>
            <a:srgbClr val="2B66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240164" y="5724144"/>
            <a:ext cx="4064562" cy="640080"/>
          </a:xfrm>
          <a:prstGeom prst="rect">
            <a:avLst/>
          </a:prstGeom>
          <a:noFill/>
        </p:spPr>
        <p:txBody>
          <a:bodyPr wrap="square" anchor="ctr" lIns="0" rIns="0" tIns="0" bIns="0">
            <a:spAutoFit/>
          </a:bodyPr>
          <a:lstStyle/>
          <a:p>
            <a:pPr algn="l">
              <a:lnSpc>
                <a:spcPct val="120000"/>
              </a:lnSpc>
            </a:pPr>
            <a:r>
              <a:rPr sz="1150" b="1" i="0">
                <a:solidFill>
                  <a:srgbClr val="17375F"/>
                </a:solidFill>
                <a:latin typeface="Arial"/>
              </a:rPr>
              <a:t>Compared with other charities:  </a:t>
            </a:r>
            <a:r>
              <a:rPr sz="1150" b="0" i="0">
                <a:solidFill>
                  <a:srgbClr val="404040"/>
                </a:solidFill>
                <a:latin typeface="Arial"/>
              </a:rPr>
              <a:t>charities take 37% of their online income in December. We took 23% then, and 38% in a British spring campaign. We depend on Christmas less than most.</a:t>
            </a:r>
          </a:p>
        </p:txBody>
      </p:sp>
      <p:sp>
        <p:nvSpPr>
          <p:cNvPr id="56" name="TextBox 5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Givebutter API · people added between 21 September 2025 and 14 September 2026 · Benchmark: M+R Benchmarks 2026</a:t>
            </a:r>
          </a:p>
        </p:txBody>
      </p:sp>
      <p:sp>
        <p:nvSpPr>
          <p:cNvPr id="57" name="TextBox 5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3 · DO SUPPORTERS GIVE?</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Only 5 people set up a monthly donation</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Out of 431 people who gave. This is the one thing the persona work asked for that we did not deliver.</a:t>
            </a:r>
          </a:p>
        </p:txBody>
      </p:sp>
      <p:sp>
        <p:nvSpPr>
          <p:cNvPr id="6" name="Rectangle 5"/>
          <p:cNvSpPr/>
          <p:nvPr/>
        </p:nvSpPr>
        <p:spPr>
          <a:xfrm>
            <a:off x="658368" y="2139696"/>
            <a:ext cx="4349983" cy="251460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 y="2368296"/>
            <a:ext cx="4349983" cy="1554480"/>
          </a:xfrm>
          <a:prstGeom prst="rect">
            <a:avLst/>
          </a:prstGeom>
          <a:noFill/>
        </p:spPr>
        <p:txBody>
          <a:bodyPr wrap="square" anchor="ctr" lIns="0" rIns="0" tIns="0" bIns="0">
            <a:spAutoFit/>
          </a:bodyPr>
          <a:lstStyle/>
          <a:p>
            <a:pPr algn="ctr"/>
            <a:r>
              <a:rPr sz="11200" b="1" i="0">
                <a:solidFill>
                  <a:srgbClr val="D7001C"/>
                </a:solidFill>
                <a:latin typeface="Arial"/>
              </a:rPr>
              <a:t>5</a:t>
            </a:r>
          </a:p>
        </p:txBody>
      </p:sp>
      <p:sp>
        <p:nvSpPr>
          <p:cNvPr id="8" name="TextBox 7"/>
          <p:cNvSpPr txBox="1"/>
          <p:nvPr/>
        </p:nvSpPr>
        <p:spPr>
          <a:xfrm>
            <a:off x="658368" y="4014216"/>
            <a:ext cx="4349983" cy="640080"/>
          </a:xfrm>
          <a:prstGeom prst="rect">
            <a:avLst/>
          </a:prstGeom>
          <a:noFill/>
        </p:spPr>
        <p:txBody>
          <a:bodyPr wrap="square" anchor="t" lIns="0" rIns="0" tIns="0" bIns="0">
            <a:spAutoFit/>
          </a:bodyPr>
          <a:lstStyle/>
          <a:p>
            <a:pPr algn="ctr">
              <a:lnSpc>
                <a:spcPct val="115000"/>
              </a:lnSpc>
            </a:pPr>
            <a:r>
              <a:rPr sz="1500" b="1" i="0">
                <a:solidFill>
                  <a:srgbClr val="17375F"/>
                </a:solidFill>
                <a:latin typeface="Arial"/>
              </a:rPr>
              <a:t>people give every month</a:t>
            </a:r>
          </a:p>
        </p:txBody>
      </p:sp>
      <p:sp>
        <p:nvSpPr>
          <p:cNvPr id="9" name="TextBox 8"/>
          <p:cNvSpPr txBox="1"/>
          <p:nvPr/>
        </p:nvSpPr>
        <p:spPr>
          <a:xfrm>
            <a:off x="5660849" y="2276856"/>
            <a:ext cx="5872477" cy="274320"/>
          </a:xfrm>
          <a:prstGeom prst="rect">
            <a:avLst/>
          </a:prstGeom>
          <a:noFill/>
        </p:spPr>
        <p:txBody>
          <a:bodyPr wrap="square" anchor="t" lIns="0" rIns="0" tIns="0" bIns="0">
            <a:spAutoFit/>
          </a:bodyPr>
          <a:lstStyle/>
          <a:p>
            <a:pPr algn="l"/>
            <a:r>
              <a:rPr sz="950" b="1" i="0">
                <a:solidFill>
                  <a:srgbClr val="A3A3A3"/>
                </a:solidFill>
                <a:latin typeface="Arial"/>
              </a:rPr>
              <a:t>WHY IT MATTERS</a:t>
            </a:r>
          </a:p>
        </p:txBody>
      </p:sp>
      <p:sp>
        <p:nvSpPr>
          <p:cNvPr id="10" name="TextBox 9"/>
          <p:cNvSpPr txBox="1"/>
          <p:nvPr/>
        </p:nvSpPr>
        <p:spPr>
          <a:xfrm>
            <a:off x="5660849" y="2587752"/>
            <a:ext cx="5872477"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00" b="0" i="0">
                <a:solidFill>
                  <a:srgbClr val="525252"/>
                </a:solidFill>
                <a:latin typeface="Arial"/>
              </a:rPr>
              <a:t>The persona board asked for exactly this: donations the Foundation can count on month to month</a:t>
            </a:r>
          </a:p>
          <a:p>
            <a:pPr>
              <a:lnSpc>
                <a:spcPct val="115000"/>
              </a:lnSpc>
              <a:spcAft>
                <a:spcPts val="900"/>
              </a:spcAft>
            </a:pPr>
            <a:r>
              <a:rPr sz="800" b="1" i="0">
                <a:solidFill>
                  <a:srgbClr val="00ABCF"/>
                </a:solidFill>
                <a:latin typeface="Arial"/>
              </a:rPr>
              <a:t>● </a:t>
            </a:r>
            <a:r>
              <a:rPr sz="1300" b="0" i="0">
                <a:solidFill>
                  <a:srgbClr val="525252"/>
                </a:solidFill>
                <a:latin typeface="Arial"/>
              </a:rPr>
              <a:t>At small charities, a fifth of online income comes from monthly giving. Ours is about 1 in 80 donors</a:t>
            </a:r>
          </a:p>
          <a:p>
            <a:pPr>
              <a:lnSpc>
                <a:spcPct val="115000"/>
              </a:lnSpc>
              <a:spcAft>
                <a:spcPts val="900"/>
              </a:spcAft>
            </a:pPr>
            <a:r>
              <a:rPr sz="800" b="1" i="0">
                <a:solidFill>
                  <a:srgbClr val="00ABCF"/>
                </a:solidFill>
                <a:latin typeface="Arial"/>
              </a:rPr>
              <a:t>● </a:t>
            </a:r>
            <a:r>
              <a:rPr sz="1300" b="0" i="0">
                <a:solidFill>
                  <a:srgbClr val="525252"/>
                </a:solidFill>
                <a:latin typeface="Arial"/>
              </a:rPr>
              <a:t>The typical monthly gift is $24 to $27. The amount is not the barrier — finding the option is</a:t>
            </a:r>
          </a:p>
          <a:p>
            <a:pPr>
              <a:lnSpc>
                <a:spcPct val="115000"/>
              </a:lnSpc>
              <a:spcAft>
                <a:spcPts val="900"/>
              </a:spcAft>
            </a:pPr>
            <a:r>
              <a:rPr sz="800" b="1" i="0">
                <a:solidFill>
                  <a:srgbClr val="00ABCF"/>
                </a:solidFill>
                <a:latin typeface="Arial"/>
              </a:rPr>
              <a:t>● </a:t>
            </a:r>
            <a:r>
              <a:rPr sz="1300" b="0" i="0">
                <a:solidFill>
                  <a:srgbClr val="525252"/>
                </a:solidFill>
                <a:latin typeface="Arial"/>
              </a:rPr>
              <a:t>71% of our visitors are on a phone, and small charities convert only 4% of phone visitors who reach a donation page</a:t>
            </a:r>
          </a:p>
        </p:txBody>
      </p:sp>
      <p:sp>
        <p:nvSpPr>
          <p:cNvPr id="11" name="Rectangle 10"/>
          <p:cNvSpPr/>
          <p:nvPr/>
        </p:nvSpPr>
        <p:spPr>
          <a:xfrm>
            <a:off x="5660849" y="4197096"/>
            <a:ext cx="5872477" cy="640080"/>
          </a:xfrm>
          <a:prstGeom prst="rect">
            <a:avLst/>
          </a:prstGeom>
          <a:solidFill>
            <a:srgbClr val="FFD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660849" y="4197096"/>
            <a:ext cx="54864" cy="640080"/>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935169" y="4343400"/>
            <a:ext cx="5369557" cy="365759"/>
          </a:xfrm>
          <a:prstGeom prst="rect">
            <a:avLst/>
          </a:prstGeom>
          <a:noFill/>
        </p:spPr>
        <p:txBody>
          <a:bodyPr wrap="square" anchor="ctr" lIns="0" rIns="0" tIns="0" bIns="0">
            <a:spAutoFit/>
          </a:bodyPr>
          <a:lstStyle/>
          <a:p>
            <a:pPr algn="l">
              <a:lnSpc>
                <a:spcPct val="120000"/>
              </a:lnSpc>
            </a:pPr>
            <a:r>
              <a:rPr sz="1300" b="1" i="0">
                <a:solidFill>
                  <a:srgbClr val="17375F"/>
                </a:solidFill>
                <a:latin typeface="Arial"/>
              </a:rPr>
              <a:t>What to do:  </a:t>
            </a:r>
            <a:r>
              <a:rPr sz="1300" b="0" i="0">
                <a:solidFill>
                  <a:srgbClr val="404040"/>
                </a:solidFill>
                <a:latin typeface="Arial"/>
              </a:rPr>
              <a:t>put monthly giving front and centre on the donate page, and design it for a phone first.</a:t>
            </a:r>
          </a:p>
        </p:txBody>
      </p:sp>
      <p:sp>
        <p:nvSpPr>
          <p:cNvPr id="14" name="TextBox 13"/>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Givebutter API · Benchmarks: M+R Benchmarks 2026, 180 charities</a:t>
            </a:r>
          </a:p>
        </p:txBody>
      </p:sp>
      <p:sp>
        <p:nvSpPr>
          <p:cNvPr id="15" name="TextBox 14"/>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2331720"/>
            <a:ext cx="10874959" cy="457200"/>
          </a:xfrm>
          <a:prstGeom prst="rect">
            <a:avLst/>
          </a:prstGeom>
          <a:noFill/>
        </p:spPr>
        <p:txBody>
          <a:bodyPr wrap="square" anchor="t" lIns="0" rIns="0" tIns="0" bIns="0">
            <a:spAutoFit/>
          </a:bodyPr>
          <a:lstStyle/>
          <a:p>
            <a:pPr algn="l"/>
            <a:r>
              <a:rPr sz="1300" b="1" i="0">
                <a:solidFill>
                  <a:srgbClr val="03D3FF"/>
                </a:solidFill>
                <a:latin typeface="Arial"/>
              </a:rPr>
              <a:t>PART 4</a:t>
            </a:r>
          </a:p>
        </p:txBody>
      </p:sp>
      <p:sp>
        <p:nvSpPr>
          <p:cNvPr id="4" name="TextBox 3"/>
          <p:cNvSpPr txBox="1"/>
          <p:nvPr/>
        </p:nvSpPr>
        <p:spPr>
          <a:xfrm>
            <a:off x="658368" y="2743200"/>
            <a:ext cx="8699967" cy="914400"/>
          </a:xfrm>
          <a:prstGeom prst="rect">
            <a:avLst/>
          </a:prstGeom>
          <a:noFill/>
        </p:spPr>
        <p:txBody>
          <a:bodyPr wrap="square" anchor="t" lIns="0" rIns="0" tIns="0" bIns="0">
            <a:spAutoFit/>
          </a:bodyPr>
          <a:lstStyle/>
          <a:p>
            <a:pPr algn="l"/>
            <a:r>
              <a:rPr sz="4600" b="1" i="0">
                <a:solidFill>
                  <a:srgbClr val="FFFFFF"/>
                </a:solidFill>
                <a:latin typeface="Arial"/>
              </a:rPr>
              <a:t>Can professionals rely on us?</a:t>
            </a:r>
          </a:p>
        </p:txBody>
      </p:sp>
      <p:sp>
        <p:nvSpPr>
          <p:cNvPr id="5" name="TextBox 4"/>
          <p:cNvSpPr txBox="1"/>
          <p:nvPr/>
        </p:nvSpPr>
        <p:spPr>
          <a:xfrm>
            <a:off x="658368" y="3886200"/>
            <a:ext cx="6742474" cy="731520"/>
          </a:xfrm>
          <a:prstGeom prst="rect">
            <a:avLst/>
          </a:prstGeom>
          <a:noFill/>
        </p:spPr>
        <p:txBody>
          <a:bodyPr wrap="square" anchor="t" lIns="0" rIns="0" tIns="0" bIns="0">
            <a:spAutoFit/>
          </a:bodyPr>
          <a:lstStyle/>
          <a:p>
            <a:pPr algn="l">
              <a:lnSpc>
                <a:spcPct val="125000"/>
              </a:lnSpc>
            </a:pPr>
            <a:r>
              <a:rPr sz="1600" b="0" i="0">
                <a:solidFill>
                  <a:srgbClr val="BAD1EE"/>
                </a:solidFill>
                <a:latin typeface="Arial"/>
              </a:rPr>
              <a:t>Doctors who have never met this condition, and researchers who need the numbers.</a:t>
            </a:r>
          </a:p>
        </p:txBody>
      </p:sp>
      <p:sp>
        <p:nvSpPr>
          <p:cNvPr id="6" name="TextBox 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2B66B1"/>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4 · CAN PROFESSIONALS RELY ON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Doctors can now find us in the first few results</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 persona asked for one thing: be in the top five results. On a phone we are fourth.</a:t>
            </a:r>
          </a:p>
        </p:txBody>
      </p:sp>
      <p:sp>
        <p:nvSpPr>
          <p:cNvPr id="6" name="Rectangle 5"/>
          <p:cNvSpPr/>
          <p:nvPr/>
        </p:nvSpPr>
        <p:spPr>
          <a:xfrm>
            <a:off x="658368" y="2048256"/>
            <a:ext cx="2567863" cy="109728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194560"/>
            <a:ext cx="2238679" cy="502920"/>
          </a:xfrm>
          <a:prstGeom prst="rect">
            <a:avLst/>
          </a:prstGeom>
          <a:noFill/>
        </p:spPr>
        <p:txBody>
          <a:bodyPr wrap="square" anchor="t" lIns="0" rIns="0" tIns="0" bIns="0">
            <a:spAutoFit/>
          </a:bodyPr>
          <a:lstStyle/>
          <a:p>
            <a:pPr algn="l"/>
            <a:r>
              <a:rPr sz="3000" b="1" i="0">
                <a:solidFill>
                  <a:srgbClr val="214E88"/>
                </a:solidFill>
                <a:latin typeface="Arial"/>
              </a:rPr>
              <a:t>8th</a:t>
            </a:r>
          </a:p>
        </p:txBody>
      </p:sp>
      <p:sp>
        <p:nvSpPr>
          <p:cNvPr id="8" name="TextBox 7"/>
          <p:cNvSpPr txBox="1"/>
          <p:nvPr/>
        </p:nvSpPr>
        <p:spPr>
          <a:xfrm>
            <a:off x="822959" y="2724912"/>
            <a:ext cx="2238679" cy="411480"/>
          </a:xfrm>
          <a:prstGeom prst="rect">
            <a:avLst/>
          </a:prstGeom>
          <a:noFill/>
        </p:spPr>
        <p:txBody>
          <a:bodyPr wrap="square" anchor="t" lIns="0" rIns="0" tIns="0" bIns="0">
            <a:spAutoFit/>
          </a:bodyPr>
          <a:lstStyle/>
          <a:p>
            <a:pPr algn="l"/>
            <a:r>
              <a:rPr sz="1050" b="0" i="0">
                <a:solidFill>
                  <a:srgbClr val="737373"/>
                </a:solidFill>
                <a:latin typeface="Arial"/>
              </a:rPr>
              <a:t>where we appear in Google</a:t>
            </a:r>
          </a:p>
        </p:txBody>
      </p:sp>
      <p:sp>
        <p:nvSpPr>
          <p:cNvPr id="9" name="Rectangle 8"/>
          <p:cNvSpPr/>
          <p:nvPr/>
        </p:nvSpPr>
        <p:spPr>
          <a:xfrm>
            <a:off x="3427399" y="2048256"/>
            <a:ext cx="2567863" cy="109728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91991" y="2194560"/>
            <a:ext cx="2238679" cy="502920"/>
          </a:xfrm>
          <a:prstGeom prst="rect">
            <a:avLst/>
          </a:prstGeom>
          <a:noFill/>
        </p:spPr>
        <p:txBody>
          <a:bodyPr wrap="square" anchor="t" lIns="0" rIns="0" tIns="0" bIns="0">
            <a:spAutoFit/>
          </a:bodyPr>
          <a:lstStyle/>
          <a:p>
            <a:pPr algn="l"/>
            <a:r>
              <a:rPr sz="3000" b="1" i="0">
                <a:solidFill>
                  <a:srgbClr val="214E88"/>
                </a:solidFill>
                <a:latin typeface="Arial"/>
              </a:rPr>
              <a:t>4th</a:t>
            </a:r>
          </a:p>
        </p:txBody>
      </p:sp>
      <p:sp>
        <p:nvSpPr>
          <p:cNvPr id="11" name="TextBox 10"/>
          <p:cNvSpPr txBox="1"/>
          <p:nvPr/>
        </p:nvSpPr>
        <p:spPr>
          <a:xfrm>
            <a:off x="3591991" y="2724912"/>
            <a:ext cx="2238679" cy="411480"/>
          </a:xfrm>
          <a:prstGeom prst="rect">
            <a:avLst/>
          </a:prstGeom>
          <a:noFill/>
        </p:spPr>
        <p:txBody>
          <a:bodyPr wrap="square" anchor="t" lIns="0" rIns="0" tIns="0" bIns="0">
            <a:spAutoFit/>
          </a:bodyPr>
          <a:lstStyle/>
          <a:p>
            <a:pPr algn="l"/>
            <a:r>
              <a:rPr sz="1050" b="0" i="0">
                <a:solidFill>
                  <a:srgbClr val="737373"/>
                </a:solidFill>
                <a:latin typeface="Arial"/>
              </a:rPr>
              <a:t>where we appear on a phone</a:t>
            </a:r>
          </a:p>
        </p:txBody>
      </p:sp>
      <p:sp>
        <p:nvSpPr>
          <p:cNvPr id="12" name="Rectangle 11"/>
          <p:cNvSpPr/>
          <p:nvPr/>
        </p:nvSpPr>
        <p:spPr>
          <a:xfrm>
            <a:off x="6196431" y="2048256"/>
            <a:ext cx="2567863" cy="109728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61023" y="2194560"/>
            <a:ext cx="2238679" cy="502920"/>
          </a:xfrm>
          <a:prstGeom prst="rect">
            <a:avLst/>
          </a:prstGeom>
          <a:noFill/>
        </p:spPr>
        <p:txBody>
          <a:bodyPr wrap="square" anchor="t" lIns="0" rIns="0" tIns="0" bIns="0">
            <a:spAutoFit/>
          </a:bodyPr>
          <a:lstStyle/>
          <a:p>
            <a:pPr algn="l"/>
            <a:r>
              <a:rPr sz="3000" b="1" i="0">
                <a:solidFill>
                  <a:srgbClr val="214E88"/>
                </a:solidFill>
                <a:latin typeface="Arial"/>
              </a:rPr>
              <a:t>1st–2nd</a:t>
            </a:r>
          </a:p>
        </p:txBody>
      </p:sp>
      <p:sp>
        <p:nvSpPr>
          <p:cNvPr id="14" name="TextBox 13"/>
          <p:cNvSpPr txBox="1"/>
          <p:nvPr/>
        </p:nvSpPr>
        <p:spPr>
          <a:xfrm>
            <a:off x="6361023" y="2724912"/>
            <a:ext cx="2238679" cy="411480"/>
          </a:xfrm>
          <a:prstGeom prst="rect">
            <a:avLst/>
          </a:prstGeom>
          <a:noFill/>
        </p:spPr>
        <p:txBody>
          <a:bodyPr wrap="square" anchor="t" lIns="0" rIns="0" tIns="0" bIns="0">
            <a:spAutoFit/>
          </a:bodyPr>
          <a:lstStyle/>
          <a:p>
            <a:pPr algn="l"/>
            <a:r>
              <a:rPr sz="1050" b="0" i="0">
                <a:solidFill>
                  <a:srgbClr val="737373"/>
                </a:solidFill>
                <a:latin typeface="Arial"/>
              </a:rPr>
              <a:t>on the main medical terms</a:t>
            </a:r>
          </a:p>
        </p:txBody>
      </p:sp>
      <p:sp>
        <p:nvSpPr>
          <p:cNvPr id="15" name="Rectangle 14"/>
          <p:cNvSpPr/>
          <p:nvPr/>
        </p:nvSpPr>
        <p:spPr>
          <a:xfrm>
            <a:off x="8965463" y="2048256"/>
            <a:ext cx="2567863" cy="1097280"/>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30055" y="2194560"/>
            <a:ext cx="2238679" cy="502920"/>
          </a:xfrm>
          <a:prstGeom prst="rect">
            <a:avLst/>
          </a:prstGeom>
          <a:noFill/>
        </p:spPr>
        <p:txBody>
          <a:bodyPr wrap="square" anchor="t" lIns="0" rIns="0" tIns="0" bIns="0">
            <a:spAutoFit/>
          </a:bodyPr>
          <a:lstStyle/>
          <a:p>
            <a:pPr algn="l"/>
            <a:r>
              <a:rPr sz="3000" b="1" i="0">
                <a:solidFill>
                  <a:srgbClr val="214E88"/>
                </a:solidFill>
                <a:latin typeface="Arial"/>
              </a:rPr>
              <a:t>1,034</a:t>
            </a:r>
          </a:p>
        </p:txBody>
      </p:sp>
      <p:sp>
        <p:nvSpPr>
          <p:cNvPr id="17" name="TextBox 16"/>
          <p:cNvSpPr txBox="1"/>
          <p:nvPr/>
        </p:nvSpPr>
        <p:spPr>
          <a:xfrm>
            <a:off x="9130055" y="2724912"/>
            <a:ext cx="2238679" cy="411480"/>
          </a:xfrm>
          <a:prstGeom prst="rect">
            <a:avLst/>
          </a:prstGeom>
          <a:noFill/>
        </p:spPr>
        <p:txBody>
          <a:bodyPr wrap="square" anchor="t" lIns="0" rIns="0" tIns="0" bIns="0">
            <a:spAutoFit/>
          </a:bodyPr>
          <a:lstStyle/>
          <a:p>
            <a:pPr algn="l"/>
            <a:r>
              <a:rPr sz="1050" b="0" i="0">
                <a:solidFill>
                  <a:srgbClr val="737373"/>
                </a:solidFill>
                <a:latin typeface="Arial"/>
              </a:rPr>
              <a:t>pages Google can show</a:t>
            </a:r>
          </a:p>
        </p:txBody>
      </p:sp>
      <p:sp>
        <p:nvSpPr>
          <p:cNvPr id="18" name="TextBox 17"/>
          <p:cNvSpPr txBox="1"/>
          <p:nvPr/>
        </p:nvSpPr>
        <p:spPr>
          <a:xfrm>
            <a:off x="658368" y="3465576"/>
            <a:ext cx="5654978" cy="274320"/>
          </a:xfrm>
          <a:prstGeom prst="rect">
            <a:avLst/>
          </a:prstGeom>
          <a:noFill/>
        </p:spPr>
        <p:txBody>
          <a:bodyPr wrap="square" anchor="t" lIns="0" rIns="0" tIns="0" bIns="0">
            <a:spAutoFit/>
          </a:bodyPr>
          <a:lstStyle/>
          <a:p>
            <a:pPr algn="l"/>
            <a:r>
              <a:rPr sz="950" b="1" i="0">
                <a:solidFill>
                  <a:srgbClr val="A3A3A3"/>
                </a:solidFill>
                <a:latin typeface="Arial"/>
              </a:rPr>
              <a:t>WHERE THEY COME FROM</a:t>
            </a:r>
          </a:p>
        </p:txBody>
      </p:sp>
      <p:sp>
        <p:nvSpPr>
          <p:cNvPr id="19" name="TextBox 18"/>
          <p:cNvSpPr txBox="1"/>
          <p:nvPr/>
        </p:nvSpPr>
        <p:spPr>
          <a:xfrm>
            <a:off x="658368" y="3776472"/>
            <a:ext cx="5654978"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350" b="0" i="0">
                <a:solidFill>
                  <a:srgbClr val="525252"/>
                </a:solidFill>
                <a:latin typeface="Arial"/>
              </a:rPr>
              <a:t>Global Genes, NORD, the NIH rare disease service, EyeWiki and CRID all link to us</a:t>
            </a:r>
          </a:p>
          <a:p>
            <a:pPr>
              <a:lnSpc>
                <a:spcPct val="115000"/>
              </a:lnSpc>
              <a:spcAft>
                <a:spcPts val="900"/>
              </a:spcAft>
            </a:pPr>
            <a:r>
              <a:rPr sz="800" b="1" i="0">
                <a:solidFill>
                  <a:srgbClr val="00ABCF"/>
                </a:solidFill>
                <a:latin typeface="Arial"/>
              </a:rPr>
              <a:t>● </a:t>
            </a:r>
            <a:r>
              <a:rPr sz="1350" b="0" i="0">
                <a:solidFill>
                  <a:srgbClr val="525252"/>
                </a:solidFill>
                <a:latin typeface="Arial"/>
              </a:rPr>
              <a:t>Bing and DuckDuckGo bring 4% of visits — these are hospital computers</a:t>
            </a:r>
          </a:p>
          <a:p>
            <a:pPr>
              <a:lnSpc>
                <a:spcPct val="115000"/>
              </a:lnSpc>
              <a:spcAft>
                <a:spcPts val="900"/>
              </a:spcAft>
            </a:pPr>
            <a:r>
              <a:rPr sz="800" b="1" i="0">
                <a:solidFill>
                  <a:srgbClr val="00ABCF"/>
                </a:solidFill>
                <a:latin typeface="Arial"/>
              </a:rPr>
              <a:t>● </a:t>
            </a:r>
            <a:r>
              <a:rPr sz="1350" b="0" i="0">
                <a:solidFill>
                  <a:srgbClr val="525252"/>
                </a:solidFill>
                <a:latin typeface="Arial"/>
              </a:rPr>
              <a:t>Findable in French, German, Spanish, Italian, Portuguese and Chinese</a:t>
            </a:r>
          </a:p>
        </p:txBody>
      </p:sp>
      <p:sp>
        <p:nvSpPr>
          <p:cNvPr id="20" name="Rectangle 19"/>
          <p:cNvSpPr/>
          <p:nvPr/>
        </p:nvSpPr>
        <p:spPr>
          <a:xfrm>
            <a:off x="6748345" y="3465576"/>
            <a:ext cx="4784982" cy="1371600"/>
          </a:xfrm>
          <a:prstGeom prst="rect">
            <a:avLst/>
          </a:prstGeom>
          <a:solidFill>
            <a:srgbClr val="FFD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748345" y="3465576"/>
            <a:ext cx="54864" cy="1371600"/>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22665" y="3611880"/>
            <a:ext cx="4282062" cy="1097280"/>
          </a:xfrm>
          <a:prstGeom prst="rect">
            <a:avLst/>
          </a:prstGeom>
          <a:noFill/>
        </p:spPr>
        <p:txBody>
          <a:bodyPr wrap="square" anchor="ctr" lIns="0" rIns="0" tIns="0" bIns="0">
            <a:spAutoFit/>
          </a:bodyPr>
          <a:lstStyle/>
          <a:p>
            <a:pPr algn="l">
              <a:lnSpc>
                <a:spcPct val="120000"/>
              </a:lnSpc>
            </a:pPr>
            <a:r>
              <a:rPr sz="1250" b="1" i="0">
                <a:solidFill>
                  <a:srgbClr val="17375F"/>
                </a:solidFill>
                <a:latin typeface="Arial"/>
              </a:rPr>
              <a:t>What we have not done:  </a:t>
            </a:r>
            <a:r>
              <a:rPr sz="1250" b="0" i="0">
                <a:solidFill>
                  <a:srgbClr val="404040"/>
                </a:solidFill>
                <a:latin typeface="Arial"/>
              </a:rPr>
              <a:t>we still have no page written for doctors, and the medical network sign-up from the persona board has not been built.</a:t>
            </a:r>
          </a:p>
        </p:txBody>
      </p:sp>
      <p:sp>
        <p:nvSpPr>
          <p:cNvPr id="23" name="TextBox 22"/>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Search Console and Google Analytics</a:t>
            </a:r>
          </a:p>
        </p:txBody>
      </p:sp>
      <p:sp>
        <p:nvSpPr>
          <p:cNvPr id="24" name="TextBox 23"/>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4 · CAN PROFESSIONALS RELY ON US?</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Our registry is 12 times larger than the biggest published study</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The researcher persona could not find this information before. Now every page of it is in Google.</a:t>
            </a:r>
          </a:p>
        </p:txBody>
      </p:sp>
      <p:sp>
        <p:nvSpPr>
          <p:cNvPr id="6" name="TextBox 5"/>
          <p:cNvSpPr txBox="1"/>
          <p:nvPr/>
        </p:nvSpPr>
        <p:spPr>
          <a:xfrm>
            <a:off x="658368" y="2048256"/>
            <a:ext cx="5437479" cy="274320"/>
          </a:xfrm>
          <a:prstGeom prst="rect">
            <a:avLst/>
          </a:prstGeom>
          <a:noFill/>
        </p:spPr>
        <p:txBody>
          <a:bodyPr wrap="square" anchor="t" lIns="0" rIns="0" tIns="0" bIns="0">
            <a:spAutoFit/>
          </a:bodyPr>
          <a:lstStyle/>
          <a:p>
            <a:pPr algn="l"/>
            <a:r>
              <a:rPr sz="950" b="1" i="0">
                <a:solidFill>
                  <a:srgbClr val="A3A3A3"/>
                </a:solidFill>
                <a:latin typeface="Arial"/>
              </a:rPr>
              <a:t>TIMES EACH RESEARCH PAGE APPEARED IN GOOGLE</a:t>
            </a:r>
          </a:p>
        </p:txBody>
      </p:sp>
      <p:sp>
        <p:nvSpPr>
          <p:cNvPr id="7" name="Rectangle 6"/>
          <p:cNvSpPr/>
          <p:nvPr/>
        </p:nvSpPr>
        <p:spPr>
          <a:xfrm>
            <a:off x="658368" y="2377440"/>
            <a:ext cx="5219980"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4672" y="2404872"/>
            <a:ext cx="3588736" cy="329184"/>
          </a:xfrm>
          <a:prstGeom prst="rect">
            <a:avLst/>
          </a:prstGeom>
          <a:noFill/>
        </p:spPr>
        <p:txBody>
          <a:bodyPr wrap="square" anchor="ctr" lIns="0" rIns="0" tIns="0" bIns="0">
            <a:spAutoFit/>
          </a:bodyPr>
          <a:lstStyle/>
          <a:p>
            <a:pPr algn="l"/>
            <a:r>
              <a:rPr sz="1150" b="0" i="0">
                <a:solidFill>
                  <a:srgbClr val="404040"/>
                </a:solidFill>
                <a:latin typeface="Arial"/>
              </a:rPr>
              <a:t>Publications</a:t>
            </a:r>
          </a:p>
        </p:txBody>
      </p:sp>
      <p:sp>
        <p:nvSpPr>
          <p:cNvPr id="9" name="TextBox 8"/>
          <p:cNvSpPr txBox="1"/>
          <p:nvPr/>
        </p:nvSpPr>
        <p:spPr>
          <a:xfrm>
            <a:off x="4781068" y="2404872"/>
            <a:ext cx="960120" cy="329184"/>
          </a:xfrm>
          <a:prstGeom prst="rect">
            <a:avLst/>
          </a:prstGeom>
          <a:noFill/>
        </p:spPr>
        <p:txBody>
          <a:bodyPr wrap="square" anchor="ctr" lIns="0" rIns="0" tIns="0" bIns="0">
            <a:spAutoFit/>
          </a:bodyPr>
          <a:lstStyle/>
          <a:p>
            <a:pPr algn="r"/>
            <a:r>
              <a:rPr sz="1200" b="1" i="0">
                <a:solidFill>
                  <a:srgbClr val="17375F"/>
                </a:solidFill>
                <a:latin typeface="Arial"/>
              </a:rPr>
              <a:t>8,430</a:t>
            </a:r>
          </a:p>
        </p:txBody>
      </p:sp>
      <p:sp>
        <p:nvSpPr>
          <p:cNvPr id="10" name="Rectangle 9"/>
          <p:cNvSpPr/>
          <p:nvPr/>
        </p:nvSpPr>
        <p:spPr>
          <a:xfrm>
            <a:off x="658368" y="2834640"/>
            <a:ext cx="5219980"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2" y="2862072"/>
            <a:ext cx="3588736" cy="329184"/>
          </a:xfrm>
          <a:prstGeom prst="rect">
            <a:avLst/>
          </a:prstGeom>
          <a:noFill/>
        </p:spPr>
        <p:txBody>
          <a:bodyPr wrap="square" anchor="ctr" lIns="0" rIns="0" tIns="0" bIns="0">
            <a:spAutoFit/>
          </a:bodyPr>
          <a:lstStyle/>
          <a:p>
            <a:pPr algn="l"/>
            <a:r>
              <a:rPr sz="1150" b="0" i="0">
                <a:solidFill>
                  <a:srgbClr val="404040"/>
                </a:solidFill>
                <a:latin typeface="Arial"/>
              </a:rPr>
              <a:t>Research</a:t>
            </a:r>
          </a:p>
        </p:txBody>
      </p:sp>
      <p:sp>
        <p:nvSpPr>
          <p:cNvPr id="12" name="TextBox 11"/>
          <p:cNvSpPr txBox="1"/>
          <p:nvPr/>
        </p:nvSpPr>
        <p:spPr>
          <a:xfrm>
            <a:off x="4781068" y="2862072"/>
            <a:ext cx="960120" cy="329184"/>
          </a:xfrm>
          <a:prstGeom prst="rect">
            <a:avLst/>
          </a:prstGeom>
          <a:noFill/>
        </p:spPr>
        <p:txBody>
          <a:bodyPr wrap="square" anchor="ctr" lIns="0" rIns="0" tIns="0" bIns="0">
            <a:spAutoFit/>
          </a:bodyPr>
          <a:lstStyle/>
          <a:p>
            <a:pPr algn="r"/>
            <a:r>
              <a:rPr sz="1200" b="1" i="0">
                <a:solidFill>
                  <a:srgbClr val="17375F"/>
                </a:solidFill>
                <a:latin typeface="Arial"/>
              </a:rPr>
              <a:t>7,385</a:t>
            </a:r>
          </a:p>
        </p:txBody>
      </p:sp>
      <p:sp>
        <p:nvSpPr>
          <p:cNvPr id="13" name="Rectangle 12"/>
          <p:cNvSpPr/>
          <p:nvPr/>
        </p:nvSpPr>
        <p:spPr>
          <a:xfrm>
            <a:off x="658368" y="3291840"/>
            <a:ext cx="5219980"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2" y="3319272"/>
            <a:ext cx="3588736" cy="329184"/>
          </a:xfrm>
          <a:prstGeom prst="rect">
            <a:avLst/>
          </a:prstGeom>
          <a:noFill/>
        </p:spPr>
        <p:txBody>
          <a:bodyPr wrap="square" anchor="ctr" lIns="0" rIns="0" tIns="0" bIns="0">
            <a:spAutoFit/>
          </a:bodyPr>
          <a:lstStyle/>
          <a:p>
            <a:pPr algn="l"/>
            <a:r>
              <a:rPr sz="1150" b="0" i="0">
                <a:solidFill>
                  <a:srgbClr val="404040"/>
                </a:solidFill>
                <a:latin typeface="Arial"/>
              </a:rPr>
              <a:t>Get involved in BBSOAS research</a:t>
            </a:r>
          </a:p>
        </p:txBody>
      </p:sp>
      <p:sp>
        <p:nvSpPr>
          <p:cNvPr id="15" name="TextBox 14"/>
          <p:cNvSpPr txBox="1"/>
          <p:nvPr/>
        </p:nvSpPr>
        <p:spPr>
          <a:xfrm>
            <a:off x="4781068" y="3319272"/>
            <a:ext cx="960120" cy="329184"/>
          </a:xfrm>
          <a:prstGeom prst="rect">
            <a:avLst/>
          </a:prstGeom>
          <a:noFill/>
        </p:spPr>
        <p:txBody>
          <a:bodyPr wrap="square" anchor="ctr" lIns="0" rIns="0" tIns="0" bIns="0">
            <a:spAutoFit/>
          </a:bodyPr>
          <a:lstStyle/>
          <a:p>
            <a:pPr algn="r"/>
            <a:r>
              <a:rPr sz="1200" b="1" i="0">
                <a:solidFill>
                  <a:srgbClr val="17375F"/>
                </a:solidFill>
                <a:latin typeface="Arial"/>
              </a:rPr>
              <a:t>5,151</a:t>
            </a:r>
          </a:p>
        </p:txBody>
      </p:sp>
      <p:sp>
        <p:nvSpPr>
          <p:cNvPr id="16" name="Rectangle 15"/>
          <p:cNvSpPr/>
          <p:nvPr/>
        </p:nvSpPr>
        <p:spPr>
          <a:xfrm>
            <a:off x="658368" y="3749039"/>
            <a:ext cx="5219980"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76472"/>
            <a:ext cx="3588736" cy="329184"/>
          </a:xfrm>
          <a:prstGeom prst="rect">
            <a:avLst/>
          </a:prstGeom>
          <a:noFill/>
        </p:spPr>
        <p:txBody>
          <a:bodyPr wrap="square" anchor="ctr" lIns="0" rIns="0" tIns="0" bIns="0">
            <a:spAutoFit/>
          </a:bodyPr>
          <a:lstStyle/>
          <a:p>
            <a:pPr algn="l"/>
            <a:r>
              <a:rPr sz="1150" b="0" i="0">
                <a:solidFill>
                  <a:srgbClr val="404040"/>
                </a:solidFill>
                <a:latin typeface="Arial"/>
              </a:rPr>
              <a:t>Resources for researchers</a:t>
            </a:r>
          </a:p>
        </p:txBody>
      </p:sp>
      <p:sp>
        <p:nvSpPr>
          <p:cNvPr id="18" name="TextBox 17"/>
          <p:cNvSpPr txBox="1"/>
          <p:nvPr/>
        </p:nvSpPr>
        <p:spPr>
          <a:xfrm>
            <a:off x="4781068" y="3776472"/>
            <a:ext cx="960120" cy="329184"/>
          </a:xfrm>
          <a:prstGeom prst="rect">
            <a:avLst/>
          </a:prstGeom>
          <a:noFill/>
        </p:spPr>
        <p:txBody>
          <a:bodyPr wrap="square" anchor="ctr" lIns="0" rIns="0" tIns="0" bIns="0">
            <a:spAutoFit/>
          </a:bodyPr>
          <a:lstStyle/>
          <a:p>
            <a:pPr algn="r"/>
            <a:r>
              <a:rPr sz="1200" b="1" i="0">
                <a:solidFill>
                  <a:srgbClr val="17375F"/>
                </a:solidFill>
                <a:latin typeface="Arial"/>
              </a:rPr>
              <a:t>3,834</a:t>
            </a:r>
          </a:p>
        </p:txBody>
      </p:sp>
      <p:sp>
        <p:nvSpPr>
          <p:cNvPr id="19" name="Rectangle 18"/>
          <p:cNvSpPr/>
          <p:nvPr/>
        </p:nvSpPr>
        <p:spPr>
          <a:xfrm>
            <a:off x="658368" y="4206240"/>
            <a:ext cx="5219980"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 y="4233672"/>
            <a:ext cx="3588736" cy="329184"/>
          </a:xfrm>
          <a:prstGeom prst="rect">
            <a:avLst/>
          </a:prstGeom>
          <a:noFill/>
        </p:spPr>
        <p:txBody>
          <a:bodyPr wrap="square" anchor="ctr" lIns="0" rIns="0" tIns="0" bIns="0">
            <a:spAutoFit/>
          </a:bodyPr>
          <a:lstStyle/>
          <a:p>
            <a:pPr algn="l"/>
            <a:r>
              <a:rPr sz="1150" b="0" i="0">
                <a:solidFill>
                  <a:srgbClr val="404040"/>
                </a:solidFill>
                <a:latin typeface="Arial"/>
              </a:rPr>
              <a:t>How many patients we know of</a:t>
            </a:r>
          </a:p>
        </p:txBody>
      </p:sp>
      <p:sp>
        <p:nvSpPr>
          <p:cNvPr id="21" name="TextBox 20"/>
          <p:cNvSpPr txBox="1"/>
          <p:nvPr/>
        </p:nvSpPr>
        <p:spPr>
          <a:xfrm>
            <a:off x="4781068" y="4233672"/>
            <a:ext cx="960120" cy="329184"/>
          </a:xfrm>
          <a:prstGeom prst="rect">
            <a:avLst/>
          </a:prstGeom>
          <a:noFill/>
        </p:spPr>
        <p:txBody>
          <a:bodyPr wrap="square" anchor="ctr" lIns="0" rIns="0" tIns="0" bIns="0">
            <a:spAutoFit/>
          </a:bodyPr>
          <a:lstStyle/>
          <a:p>
            <a:pPr algn="r"/>
            <a:r>
              <a:rPr sz="1200" b="1" i="0">
                <a:solidFill>
                  <a:srgbClr val="17375F"/>
                </a:solidFill>
                <a:latin typeface="Arial"/>
              </a:rPr>
              <a:t>3,228</a:t>
            </a:r>
          </a:p>
        </p:txBody>
      </p:sp>
      <p:sp>
        <p:nvSpPr>
          <p:cNvPr id="22" name="Rectangle 21"/>
          <p:cNvSpPr/>
          <p:nvPr/>
        </p:nvSpPr>
        <p:spPr>
          <a:xfrm>
            <a:off x="6530845" y="2048256"/>
            <a:ext cx="5002481" cy="2331720"/>
          </a:xfrm>
          <a:prstGeom prst="rect">
            <a:avLst/>
          </a:prstGeom>
          <a:solidFill>
            <a:srgbClr val="0D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05165" y="2322576"/>
            <a:ext cx="4349983" cy="411480"/>
          </a:xfrm>
          <a:prstGeom prst="rect">
            <a:avLst/>
          </a:prstGeom>
          <a:noFill/>
        </p:spPr>
        <p:txBody>
          <a:bodyPr wrap="square" anchor="t" lIns="0" rIns="0" tIns="0" bIns="0">
            <a:spAutoFit/>
          </a:bodyPr>
          <a:lstStyle/>
          <a:p>
            <a:pPr algn="l"/>
            <a:r>
              <a:rPr sz="950" b="1" i="0">
                <a:solidFill>
                  <a:srgbClr val="03D3FF"/>
                </a:solidFill>
                <a:latin typeface="Arial"/>
              </a:rPr>
              <a:t>THE SENTENCE TO SAY TO A RESEARCHER</a:t>
            </a:r>
          </a:p>
        </p:txBody>
      </p:sp>
      <p:sp>
        <p:nvSpPr>
          <p:cNvPr id="24" name="TextBox 23"/>
          <p:cNvSpPr txBox="1"/>
          <p:nvPr/>
        </p:nvSpPr>
        <p:spPr>
          <a:xfrm>
            <a:off x="6805165" y="2734056"/>
            <a:ext cx="4349983" cy="1463040"/>
          </a:xfrm>
          <a:prstGeom prst="rect">
            <a:avLst/>
          </a:prstGeom>
          <a:noFill/>
        </p:spPr>
        <p:txBody>
          <a:bodyPr wrap="square" anchor="t" lIns="0" rIns="0" tIns="0" bIns="0">
            <a:spAutoFit/>
          </a:bodyPr>
          <a:lstStyle/>
          <a:p>
            <a:pPr algn="l">
              <a:lnSpc>
                <a:spcPct val="125000"/>
              </a:lnSpc>
            </a:pPr>
            <a:r>
              <a:rPr sz="1300" b="0" i="0">
                <a:solidFill>
                  <a:srgbClr val="BAD1EE"/>
                </a:solidFill>
                <a:latin typeface="Arial"/>
              </a:rPr>
              <a:t>The largest published study of this condition followed </a:t>
            </a:r>
            <a:r>
              <a:rPr sz="1300" b="1" i="0">
                <a:solidFill>
                  <a:srgbClr val="FFFFFF"/>
                </a:solidFill>
                <a:latin typeface="Arial"/>
              </a:rPr>
              <a:t>47 people</a:t>
            </a:r>
            <a:r>
              <a:rPr sz="1300" b="0" i="0">
                <a:solidFill>
                  <a:srgbClr val="BAD1EE"/>
                </a:solidFill>
                <a:latin typeface="Arial"/>
              </a:rPr>
              <a:t> — and it recruited partly through this Foundation.</a:t>
            </a:r>
          </a:p>
          <a:p>
            <a:pPr>
              <a:lnSpc>
                <a:spcPct val="125000"/>
              </a:lnSpc>
              <a:spcBef>
                <a:spcPts val="1000"/>
              </a:spcBef>
            </a:pPr>
            <a:r>
              <a:rPr sz="1300" b="0" i="0">
                <a:solidFill>
                  <a:srgbClr val="BAD1EE"/>
                </a:solidFill>
                <a:latin typeface="Arial"/>
              </a:rPr>
              <a:t>Our registry holds </a:t>
            </a:r>
            <a:r>
              <a:rPr sz="1300" b="1" i="0">
                <a:solidFill>
                  <a:srgbClr val="03D3FF"/>
                </a:solidFill>
                <a:latin typeface="Arial"/>
              </a:rPr>
              <a:t>567 patients and 688 families.</a:t>
            </a:r>
          </a:p>
          <a:p>
            <a:pPr>
              <a:spcBef>
                <a:spcPts val="600"/>
              </a:spcBef>
            </a:pPr>
            <a:r>
              <a:rPr sz="1300" b="1" i="0">
                <a:solidFill>
                  <a:srgbClr val="FFFFFF"/>
                </a:solidFill>
                <a:latin typeface="Arial"/>
              </a:rPr>
              <a:t>About twelve times the size.</a:t>
            </a:r>
          </a:p>
        </p:txBody>
      </p:sp>
      <p:sp>
        <p:nvSpPr>
          <p:cNvPr id="25" name="TextBox 24"/>
          <p:cNvSpPr txBox="1"/>
          <p:nvPr/>
        </p:nvSpPr>
        <p:spPr>
          <a:xfrm>
            <a:off x="658368" y="4709160"/>
            <a:ext cx="10874959" cy="3840480"/>
          </a:xfrm>
          <a:prstGeom prst="rect">
            <a:avLst/>
          </a:prstGeom>
          <a:noFill/>
        </p:spPr>
        <p:txBody>
          <a:bodyPr wrap="square" anchor="t" lIns="0" rIns="0" tIns="0" bIns="0">
            <a:spAutoFit/>
          </a:bodyPr>
          <a:lstStyle/>
          <a:p>
            <a:pPr algn="l">
              <a:lnSpc>
                <a:spcPct val="115000"/>
              </a:lnSpc>
              <a:spcAft>
                <a:spcPts val="900"/>
              </a:spcAft>
            </a:pPr>
            <a:r>
              <a:rPr sz="800" b="1" i="0">
                <a:solidFill>
                  <a:srgbClr val="00ABCF"/>
                </a:solidFill>
                <a:latin typeface="Arial"/>
              </a:rPr>
              <a:t>● </a:t>
            </a:r>
            <a:r>
              <a:rPr sz="1250" b="0" i="0">
                <a:solidFill>
                  <a:srgbClr val="525252"/>
                </a:solidFill>
                <a:latin typeface="Arial"/>
              </a:rPr>
              <a:t>Three researchers and clinicians signed up this year, including Heidelberg University and the University of Verona</a:t>
            </a:r>
          </a:p>
          <a:p>
            <a:pPr>
              <a:lnSpc>
                <a:spcPct val="115000"/>
              </a:lnSpc>
              <a:spcAft>
                <a:spcPts val="900"/>
              </a:spcAft>
            </a:pPr>
            <a:r>
              <a:rPr sz="800" b="1" i="0">
                <a:solidFill>
                  <a:srgbClr val="00ABCF"/>
                </a:solidFill>
                <a:latin typeface="Arial"/>
              </a:rPr>
              <a:t>● </a:t>
            </a:r>
            <a:r>
              <a:rPr sz="1250" b="0" i="0">
                <a:solidFill>
                  <a:srgbClr val="525252"/>
                </a:solidFill>
                <a:latin typeface="Arial"/>
              </a:rPr>
              <a:t>Our grant stories rank in German. People search for the researcher we fund by name, 51 times a year</a:t>
            </a:r>
          </a:p>
          <a:p>
            <a:pPr>
              <a:lnSpc>
                <a:spcPct val="115000"/>
              </a:lnSpc>
              <a:spcAft>
                <a:spcPts val="900"/>
              </a:spcAft>
            </a:pPr>
            <a:r>
              <a:rPr sz="800" b="1" i="0">
                <a:solidFill>
                  <a:srgbClr val="00ABCF"/>
                </a:solidFill>
                <a:latin typeface="Arial"/>
              </a:rPr>
              <a:t>● </a:t>
            </a:r>
            <a:r>
              <a:rPr sz="1250" b="0" i="0">
                <a:solidFill>
                  <a:srgbClr val="525252"/>
                </a:solidFill>
                <a:latin typeface="Arial"/>
              </a:rPr>
              <a:t>The persona asked us to show a population large enough for trials. That is now a page anyone can find</a:t>
            </a:r>
          </a:p>
        </p:txBody>
      </p:sp>
      <p:sp>
        <p:nvSpPr>
          <p:cNvPr id="26" name="TextBox 2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Search Console · Givebutter API · Study: Valentin and others, Clinical Genetics, 2025</a:t>
            </a:r>
          </a:p>
        </p:txBody>
      </p:sp>
      <p:sp>
        <p:nvSpPr>
          <p:cNvPr id="27" name="TextBox 2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2331720"/>
            <a:ext cx="10874959" cy="457200"/>
          </a:xfrm>
          <a:prstGeom prst="rect">
            <a:avLst/>
          </a:prstGeom>
          <a:noFill/>
        </p:spPr>
        <p:txBody>
          <a:bodyPr wrap="square" anchor="t" lIns="0" rIns="0" tIns="0" bIns="0">
            <a:spAutoFit/>
          </a:bodyPr>
          <a:lstStyle/>
          <a:p>
            <a:pPr algn="l"/>
            <a:r>
              <a:rPr sz="1300" b="1" i="0">
                <a:solidFill>
                  <a:srgbClr val="03D3FF"/>
                </a:solidFill>
                <a:latin typeface="Arial"/>
              </a:rPr>
              <a:t>PART 5</a:t>
            </a:r>
          </a:p>
        </p:txBody>
      </p:sp>
      <p:sp>
        <p:nvSpPr>
          <p:cNvPr id="4" name="TextBox 3"/>
          <p:cNvSpPr txBox="1"/>
          <p:nvPr/>
        </p:nvSpPr>
        <p:spPr>
          <a:xfrm>
            <a:off x="658368" y="2743200"/>
            <a:ext cx="8699967" cy="914400"/>
          </a:xfrm>
          <a:prstGeom prst="rect">
            <a:avLst/>
          </a:prstGeom>
          <a:noFill/>
        </p:spPr>
        <p:txBody>
          <a:bodyPr wrap="square" anchor="t" lIns="0" rIns="0" tIns="0" bIns="0">
            <a:spAutoFit/>
          </a:bodyPr>
          <a:lstStyle/>
          <a:p>
            <a:pPr algn="l"/>
            <a:r>
              <a:rPr sz="4600" b="1" i="0">
                <a:solidFill>
                  <a:srgbClr val="FFFFFF"/>
                </a:solidFill>
                <a:latin typeface="Arial"/>
              </a:rPr>
              <a:t>What next?</a:t>
            </a:r>
          </a:p>
        </p:txBody>
      </p:sp>
      <p:sp>
        <p:nvSpPr>
          <p:cNvPr id="5" name="TextBox 4"/>
          <p:cNvSpPr txBox="1"/>
          <p:nvPr/>
        </p:nvSpPr>
        <p:spPr>
          <a:xfrm>
            <a:off x="658368" y="3886200"/>
            <a:ext cx="6742474" cy="731520"/>
          </a:xfrm>
          <a:prstGeom prst="rect">
            <a:avLst/>
          </a:prstGeom>
          <a:noFill/>
        </p:spPr>
        <p:txBody>
          <a:bodyPr wrap="square" anchor="t" lIns="0" rIns="0" tIns="0" bIns="0">
            <a:spAutoFit/>
          </a:bodyPr>
          <a:lstStyle/>
          <a:p>
            <a:pPr algn="l">
              <a:lnSpc>
                <a:spcPct val="125000"/>
              </a:lnSpc>
            </a:pPr>
            <a:r>
              <a:rPr sz="1600" b="0" i="0">
                <a:solidFill>
                  <a:srgbClr val="BAD1EE"/>
                </a:solidFill>
                <a:latin typeface="Arial"/>
              </a:rPr>
              <a:t>What we got wrong, and the seven things to fix.</a:t>
            </a:r>
          </a:p>
        </p:txBody>
      </p:sp>
      <p:sp>
        <p:nvSpPr>
          <p:cNvPr id="6" name="TextBox 5"/>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2B66B1"/>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5 · WHAT NEXT?</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What we got wrong</a:t>
            </a:r>
          </a:p>
        </p:txBody>
      </p:sp>
      <p:sp>
        <p:nvSpPr>
          <p:cNvPr id="5" name="Rectangle 4"/>
          <p:cNvSpPr/>
          <p:nvPr/>
        </p:nvSpPr>
        <p:spPr>
          <a:xfrm>
            <a:off x="658368" y="1572768"/>
            <a:ext cx="50292" cy="713232"/>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77824" y="1581912"/>
            <a:ext cx="3588736" cy="640080"/>
          </a:xfrm>
          <a:prstGeom prst="rect">
            <a:avLst/>
          </a:prstGeom>
          <a:noFill/>
        </p:spPr>
        <p:txBody>
          <a:bodyPr wrap="square" anchor="t" lIns="0" rIns="0" tIns="0" bIns="0">
            <a:spAutoFit/>
          </a:bodyPr>
          <a:lstStyle/>
          <a:p>
            <a:pPr algn="l">
              <a:lnSpc>
                <a:spcPct val="110000"/>
              </a:lnSpc>
            </a:pPr>
            <a:r>
              <a:rPr sz="1300" b="1" i="0">
                <a:solidFill>
                  <a:srgbClr val="0D1F36"/>
                </a:solidFill>
                <a:latin typeface="Arial"/>
              </a:rPr>
              <a:t>Visits halved from May 2026</a:t>
            </a:r>
          </a:p>
        </p:txBody>
      </p:sp>
      <p:sp>
        <p:nvSpPr>
          <p:cNvPr id="7" name="TextBox 6"/>
          <p:cNvSpPr txBox="1"/>
          <p:nvPr/>
        </p:nvSpPr>
        <p:spPr>
          <a:xfrm>
            <a:off x="4682102" y="1572768"/>
            <a:ext cx="6851224" cy="713232"/>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From 226 people a month to about 110, and it stayed there. Google Search shows the same drop, so it is real, not a broken tag. Publishing less often is the likely cause.</a:t>
            </a:r>
          </a:p>
        </p:txBody>
      </p:sp>
      <p:sp>
        <p:nvSpPr>
          <p:cNvPr id="8" name="Rectangle 7"/>
          <p:cNvSpPr/>
          <p:nvPr/>
        </p:nvSpPr>
        <p:spPr>
          <a:xfrm>
            <a:off x="658368" y="2359152"/>
            <a:ext cx="50292" cy="713232"/>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77824" y="2368296"/>
            <a:ext cx="3588736" cy="640080"/>
          </a:xfrm>
          <a:prstGeom prst="rect">
            <a:avLst/>
          </a:prstGeom>
          <a:noFill/>
        </p:spPr>
        <p:txBody>
          <a:bodyPr wrap="square" anchor="t" lIns="0" rIns="0" tIns="0" bIns="0">
            <a:spAutoFit/>
          </a:bodyPr>
          <a:lstStyle/>
          <a:p>
            <a:pPr algn="l">
              <a:lnSpc>
                <a:spcPct val="110000"/>
              </a:lnSpc>
            </a:pPr>
            <a:r>
              <a:rPr sz="1300" b="1" i="0">
                <a:solidFill>
                  <a:srgbClr val="0D1F36"/>
                </a:solidFill>
                <a:latin typeface="Arial"/>
              </a:rPr>
              <a:t>We dropped the old site's second best content</a:t>
            </a:r>
          </a:p>
        </p:txBody>
      </p:sp>
      <p:sp>
        <p:nvSpPr>
          <p:cNvPr id="10" name="TextBox 9"/>
          <p:cNvSpPr txBox="1"/>
          <p:nvPr/>
        </p:nvSpPr>
        <p:spPr>
          <a:xfrm>
            <a:off x="4682102" y="2359152"/>
            <a:ext cx="6851224" cy="713232"/>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Four PDF guides — "How to read your genetic report" in Italian, Spanish, French and German — were 18% of all clicks on the old site. They now lead nowhere. That is Italy's whole decline.</a:t>
            </a:r>
          </a:p>
        </p:txBody>
      </p:sp>
      <p:sp>
        <p:nvSpPr>
          <p:cNvPr id="11" name="Rectangle 10"/>
          <p:cNvSpPr/>
          <p:nvPr/>
        </p:nvSpPr>
        <p:spPr>
          <a:xfrm>
            <a:off x="658368" y="3145536"/>
            <a:ext cx="50292" cy="713232"/>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7824" y="3154679"/>
            <a:ext cx="3588736" cy="640080"/>
          </a:xfrm>
          <a:prstGeom prst="rect">
            <a:avLst/>
          </a:prstGeom>
          <a:noFill/>
        </p:spPr>
        <p:txBody>
          <a:bodyPr wrap="square" anchor="t" lIns="0" rIns="0" tIns="0" bIns="0">
            <a:spAutoFit/>
          </a:bodyPr>
          <a:lstStyle/>
          <a:p>
            <a:pPr algn="l">
              <a:lnSpc>
                <a:spcPct val="110000"/>
              </a:lnSpc>
            </a:pPr>
            <a:r>
              <a:rPr sz="1300" b="1" i="0">
                <a:solidFill>
                  <a:srgbClr val="0D1F36"/>
                </a:solidFill>
                <a:latin typeface="Arial"/>
              </a:rPr>
              <a:t>Families register, then stop</a:t>
            </a:r>
          </a:p>
        </p:txBody>
      </p:sp>
      <p:sp>
        <p:nvSpPr>
          <p:cNvPr id="13" name="TextBox 12"/>
          <p:cNvSpPr txBox="1"/>
          <p:nvPr/>
        </p:nvSpPr>
        <p:spPr>
          <a:xfrm>
            <a:off x="4682102" y="3145536"/>
            <a:ext cx="6851224" cy="713232"/>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None of the 113 new families has a genetic report or health survey recorded yet. All of the earlier families do. Either the paperwork is lagging or people are dropping out, and we need to know which.</a:t>
            </a:r>
          </a:p>
        </p:txBody>
      </p:sp>
      <p:sp>
        <p:nvSpPr>
          <p:cNvPr id="14" name="Rectangle 13"/>
          <p:cNvSpPr/>
          <p:nvPr/>
        </p:nvSpPr>
        <p:spPr>
          <a:xfrm>
            <a:off x="658368" y="3931920"/>
            <a:ext cx="50292" cy="713232"/>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3941063"/>
            <a:ext cx="3588736" cy="640080"/>
          </a:xfrm>
          <a:prstGeom prst="rect">
            <a:avLst/>
          </a:prstGeom>
          <a:noFill/>
        </p:spPr>
        <p:txBody>
          <a:bodyPr wrap="square" anchor="t" lIns="0" rIns="0" tIns="0" bIns="0">
            <a:spAutoFit/>
          </a:bodyPr>
          <a:lstStyle/>
          <a:p>
            <a:pPr algn="l">
              <a:lnSpc>
                <a:spcPct val="110000"/>
              </a:lnSpc>
            </a:pPr>
            <a:r>
              <a:rPr sz="1300" b="1" i="0">
                <a:solidFill>
                  <a:srgbClr val="0D1F36"/>
                </a:solidFill>
                <a:latin typeface="Arial"/>
              </a:rPr>
              <a:t>The sign-up form loses information</a:t>
            </a:r>
          </a:p>
        </p:txBody>
      </p:sp>
      <p:sp>
        <p:nvSpPr>
          <p:cNvPr id="16" name="TextBox 15"/>
          <p:cNvSpPr txBox="1"/>
          <p:nvPr/>
        </p:nvSpPr>
        <p:spPr>
          <a:xfrm>
            <a:off x="4682102" y="3931920"/>
            <a:ext cx="6851224" cy="713232"/>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We now record a child's date of birth 8 times a year, down from 74. Country is missing for 29% of new families, up from 9%, because the address is dropped when the postcode does not match.</a:t>
            </a:r>
          </a:p>
        </p:txBody>
      </p:sp>
      <p:sp>
        <p:nvSpPr>
          <p:cNvPr id="17" name="Rectangle 16"/>
          <p:cNvSpPr/>
          <p:nvPr/>
        </p:nvSpPr>
        <p:spPr>
          <a:xfrm>
            <a:off x="658368" y="4718304"/>
            <a:ext cx="50292" cy="713232"/>
          </a:xfrm>
          <a:prstGeom prst="rect">
            <a:avLst/>
          </a:prstGeom>
          <a:solidFill>
            <a:srgbClr val="FF3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 y="4727448"/>
            <a:ext cx="3588736" cy="640080"/>
          </a:xfrm>
          <a:prstGeom prst="rect">
            <a:avLst/>
          </a:prstGeom>
          <a:noFill/>
        </p:spPr>
        <p:txBody>
          <a:bodyPr wrap="square" anchor="t" lIns="0" rIns="0" tIns="0" bIns="0">
            <a:spAutoFit/>
          </a:bodyPr>
          <a:lstStyle/>
          <a:p>
            <a:pPr algn="l">
              <a:lnSpc>
                <a:spcPct val="110000"/>
              </a:lnSpc>
            </a:pPr>
            <a:r>
              <a:rPr sz="1300" b="1" i="0">
                <a:solidFill>
                  <a:srgbClr val="0D1F36"/>
                </a:solidFill>
                <a:latin typeface="Arial"/>
              </a:rPr>
              <a:t>Five monthly donors, and no page for doctors</a:t>
            </a:r>
          </a:p>
        </p:txBody>
      </p:sp>
      <p:sp>
        <p:nvSpPr>
          <p:cNvPr id="19" name="TextBox 18"/>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Google Analytics, Google Search Console and Givebutter</a:t>
            </a:r>
          </a:p>
        </p:txBody>
      </p:sp>
      <p:sp>
        <p:nvSpPr>
          <p:cNvPr id="20" name="TextBox 19"/>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PART 5 · WHAT NEXT?</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Seven things to fix next</a:t>
            </a:r>
          </a:p>
        </p:txBody>
      </p:sp>
      <p:sp>
        <p:nvSpPr>
          <p:cNvPr id="5" name="TextBox 4"/>
          <p:cNvSpPr txBox="1"/>
          <p:nvPr/>
        </p:nvSpPr>
        <p:spPr>
          <a:xfrm>
            <a:off x="658368" y="1572768"/>
            <a:ext cx="10874959" cy="365760"/>
          </a:xfrm>
          <a:prstGeom prst="rect">
            <a:avLst/>
          </a:prstGeom>
          <a:noFill/>
        </p:spPr>
        <p:txBody>
          <a:bodyPr wrap="square" anchor="t" lIns="0" rIns="0" tIns="0" bIns="0">
            <a:spAutoFit/>
          </a:bodyPr>
          <a:lstStyle/>
          <a:p>
            <a:pPr algn="l"/>
            <a:r>
              <a:rPr sz="1500" b="0" i="0">
                <a:solidFill>
                  <a:srgbClr val="737373"/>
                </a:solidFill>
                <a:latin typeface="Arial"/>
              </a:rPr>
              <a:t>In rough order of what they give back for the effort.</a:t>
            </a:r>
          </a:p>
        </p:txBody>
      </p:sp>
      <p:sp>
        <p:nvSpPr>
          <p:cNvPr id="6" name="Rectangle 5"/>
          <p:cNvSpPr/>
          <p:nvPr/>
        </p:nvSpPr>
        <p:spPr>
          <a:xfrm>
            <a:off x="658368" y="204825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 y="2066544"/>
            <a:ext cx="384048" cy="347472"/>
          </a:xfrm>
          <a:prstGeom prst="rect">
            <a:avLst/>
          </a:prstGeom>
          <a:noFill/>
        </p:spPr>
        <p:txBody>
          <a:bodyPr wrap="square" anchor="ctr" lIns="0" rIns="0" tIns="0" bIns="0">
            <a:spAutoFit/>
          </a:bodyPr>
          <a:lstStyle/>
          <a:p>
            <a:pPr algn="ctr"/>
            <a:r>
              <a:rPr sz="1500" b="1" i="0">
                <a:solidFill>
                  <a:srgbClr val="00819C"/>
                </a:solidFill>
                <a:latin typeface="Arial"/>
              </a:rPr>
              <a:t>1</a:t>
            </a:r>
          </a:p>
        </p:txBody>
      </p:sp>
      <p:sp>
        <p:nvSpPr>
          <p:cNvPr id="8" name="TextBox 7"/>
          <p:cNvSpPr txBox="1"/>
          <p:nvPr/>
        </p:nvSpPr>
        <p:spPr>
          <a:xfrm>
            <a:off x="1188719" y="2029968"/>
            <a:ext cx="4349983" cy="365760"/>
          </a:xfrm>
          <a:prstGeom prst="rect">
            <a:avLst/>
          </a:prstGeom>
          <a:noFill/>
        </p:spPr>
        <p:txBody>
          <a:bodyPr wrap="square" anchor="t" lIns="0" rIns="0" tIns="0" bIns="0">
            <a:spAutoFit/>
          </a:bodyPr>
          <a:lstStyle/>
          <a:p>
            <a:pPr algn="l"/>
            <a:r>
              <a:rPr sz="1350" b="1" i="0">
                <a:solidFill>
                  <a:srgbClr val="0D1F36"/>
                </a:solidFill>
                <a:latin typeface="Arial"/>
              </a:rPr>
              <a:t>Bring back the genetic report guides</a:t>
            </a:r>
          </a:p>
        </p:txBody>
      </p:sp>
      <p:sp>
        <p:nvSpPr>
          <p:cNvPr id="9" name="TextBox 8"/>
          <p:cNvSpPr txBox="1"/>
          <p:nvPr/>
        </p:nvSpPr>
        <p:spPr>
          <a:xfrm>
            <a:off x="1188719" y="237744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Publish them as proper pages, and redirect the six old addresses. About 530 clicks every 140 days, and Italy recovers.</a:t>
            </a:r>
          </a:p>
        </p:txBody>
      </p:sp>
      <p:sp>
        <p:nvSpPr>
          <p:cNvPr id="10" name="Rectangle 9"/>
          <p:cNvSpPr/>
          <p:nvPr/>
        </p:nvSpPr>
        <p:spPr>
          <a:xfrm>
            <a:off x="658368" y="305409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3072384"/>
            <a:ext cx="384048" cy="347472"/>
          </a:xfrm>
          <a:prstGeom prst="rect">
            <a:avLst/>
          </a:prstGeom>
          <a:noFill/>
        </p:spPr>
        <p:txBody>
          <a:bodyPr wrap="square" anchor="ctr" lIns="0" rIns="0" tIns="0" bIns="0">
            <a:spAutoFit/>
          </a:bodyPr>
          <a:lstStyle/>
          <a:p>
            <a:pPr algn="ctr"/>
            <a:r>
              <a:rPr sz="1500" b="1" i="0">
                <a:solidFill>
                  <a:srgbClr val="00819C"/>
                </a:solidFill>
                <a:latin typeface="Arial"/>
              </a:rPr>
              <a:t>2</a:t>
            </a:r>
          </a:p>
        </p:txBody>
      </p:sp>
      <p:sp>
        <p:nvSpPr>
          <p:cNvPr id="12" name="TextBox 11"/>
          <p:cNvSpPr txBox="1"/>
          <p:nvPr/>
        </p:nvSpPr>
        <p:spPr>
          <a:xfrm>
            <a:off x="1188719" y="3035808"/>
            <a:ext cx="4349983" cy="365760"/>
          </a:xfrm>
          <a:prstGeom prst="rect">
            <a:avLst/>
          </a:prstGeom>
          <a:noFill/>
        </p:spPr>
        <p:txBody>
          <a:bodyPr wrap="square" anchor="t" lIns="0" rIns="0" tIns="0" bIns="0">
            <a:spAutoFit/>
          </a:bodyPr>
          <a:lstStyle/>
          <a:p>
            <a:pPr algn="l"/>
            <a:r>
              <a:rPr sz="1350" b="1" i="0">
                <a:solidFill>
                  <a:srgbClr val="0D1F36"/>
                </a:solidFill>
                <a:latin typeface="Arial"/>
              </a:rPr>
              <a:t>Make monthly giving visible</a:t>
            </a:r>
          </a:p>
        </p:txBody>
      </p:sp>
      <p:sp>
        <p:nvSpPr>
          <p:cNvPr id="13" name="TextBox 12"/>
          <p:cNvSpPr txBox="1"/>
          <p:nvPr/>
        </p:nvSpPr>
        <p:spPr>
          <a:xfrm>
            <a:off x="1188719" y="338328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Front and centre on the donate page, designed for a phone. Aim for 5 to 50.</a:t>
            </a:r>
          </a:p>
        </p:txBody>
      </p:sp>
      <p:sp>
        <p:nvSpPr>
          <p:cNvPr id="14" name="Rectangle 13"/>
          <p:cNvSpPr/>
          <p:nvPr/>
        </p:nvSpPr>
        <p:spPr>
          <a:xfrm>
            <a:off x="658368" y="405993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8368" y="4078224"/>
            <a:ext cx="384048" cy="347472"/>
          </a:xfrm>
          <a:prstGeom prst="rect">
            <a:avLst/>
          </a:prstGeom>
          <a:noFill/>
        </p:spPr>
        <p:txBody>
          <a:bodyPr wrap="square" anchor="ctr" lIns="0" rIns="0" tIns="0" bIns="0">
            <a:spAutoFit/>
          </a:bodyPr>
          <a:lstStyle/>
          <a:p>
            <a:pPr algn="ctr"/>
            <a:r>
              <a:rPr sz="1500" b="1" i="0">
                <a:solidFill>
                  <a:srgbClr val="00819C"/>
                </a:solidFill>
                <a:latin typeface="Arial"/>
              </a:rPr>
              <a:t>3</a:t>
            </a:r>
          </a:p>
        </p:txBody>
      </p:sp>
      <p:sp>
        <p:nvSpPr>
          <p:cNvPr id="16" name="TextBox 15"/>
          <p:cNvSpPr txBox="1"/>
          <p:nvPr/>
        </p:nvSpPr>
        <p:spPr>
          <a:xfrm>
            <a:off x="1188719" y="4041648"/>
            <a:ext cx="4349983" cy="365760"/>
          </a:xfrm>
          <a:prstGeom prst="rect">
            <a:avLst/>
          </a:prstGeom>
          <a:noFill/>
        </p:spPr>
        <p:txBody>
          <a:bodyPr wrap="square" anchor="t" lIns="0" rIns="0" tIns="0" bIns="0">
            <a:spAutoFit/>
          </a:bodyPr>
          <a:lstStyle/>
          <a:p>
            <a:pPr algn="l"/>
            <a:r>
              <a:rPr sz="1350" b="1" i="0">
                <a:solidFill>
                  <a:srgbClr val="0D1F36"/>
                </a:solidFill>
                <a:latin typeface="Arial"/>
              </a:rPr>
              <a:t>Fix the sign-up form</a:t>
            </a:r>
          </a:p>
        </p:txBody>
      </p:sp>
      <p:sp>
        <p:nvSpPr>
          <p:cNvPr id="17" name="TextBox 16"/>
          <p:cNvSpPr txBox="1"/>
          <p:nvPr/>
        </p:nvSpPr>
        <p:spPr>
          <a:xfrm>
            <a:off x="1188719" y="438912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Ask for the child's date of birth. Stop dropping the address without telling anyone.</a:t>
            </a:r>
          </a:p>
        </p:txBody>
      </p:sp>
      <p:sp>
        <p:nvSpPr>
          <p:cNvPr id="18" name="Rectangle 17"/>
          <p:cNvSpPr/>
          <p:nvPr/>
        </p:nvSpPr>
        <p:spPr>
          <a:xfrm>
            <a:off x="658368" y="506577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8368" y="5084064"/>
            <a:ext cx="384048" cy="347472"/>
          </a:xfrm>
          <a:prstGeom prst="rect">
            <a:avLst/>
          </a:prstGeom>
          <a:noFill/>
        </p:spPr>
        <p:txBody>
          <a:bodyPr wrap="square" anchor="ctr" lIns="0" rIns="0" tIns="0" bIns="0">
            <a:spAutoFit/>
          </a:bodyPr>
          <a:lstStyle/>
          <a:p>
            <a:pPr algn="ctr"/>
            <a:r>
              <a:rPr sz="1500" b="1" i="0">
                <a:solidFill>
                  <a:srgbClr val="00819C"/>
                </a:solidFill>
                <a:latin typeface="Arial"/>
              </a:rPr>
              <a:t>4</a:t>
            </a:r>
          </a:p>
        </p:txBody>
      </p:sp>
      <p:sp>
        <p:nvSpPr>
          <p:cNvPr id="20" name="TextBox 19"/>
          <p:cNvSpPr txBox="1"/>
          <p:nvPr/>
        </p:nvSpPr>
        <p:spPr>
          <a:xfrm>
            <a:off x="1188719" y="5047488"/>
            <a:ext cx="4349983" cy="365760"/>
          </a:xfrm>
          <a:prstGeom prst="rect">
            <a:avLst/>
          </a:prstGeom>
          <a:noFill/>
        </p:spPr>
        <p:txBody>
          <a:bodyPr wrap="square" anchor="t" lIns="0" rIns="0" tIns="0" bIns="0">
            <a:spAutoFit/>
          </a:bodyPr>
          <a:lstStyle/>
          <a:p>
            <a:pPr algn="l"/>
            <a:r>
              <a:rPr sz="1350" b="1" i="0">
                <a:solidFill>
                  <a:srgbClr val="0D1F36"/>
                </a:solidFill>
                <a:latin typeface="Arial"/>
              </a:rPr>
              <a:t>Write something for doctors</a:t>
            </a:r>
          </a:p>
        </p:txBody>
      </p:sp>
      <p:sp>
        <p:nvSpPr>
          <p:cNvPr id="21" name="TextBox 20"/>
          <p:cNvSpPr txBox="1"/>
          <p:nvPr/>
        </p:nvSpPr>
        <p:spPr>
          <a:xfrm>
            <a:off x="1188719" y="539496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A page for clinicians, and the medical network sign-up.</a:t>
            </a:r>
          </a:p>
        </p:txBody>
      </p:sp>
      <p:sp>
        <p:nvSpPr>
          <p:cNvPr id="22" name="Rectangle 21"/>
          <p:cNvSpPr/>
          <p:nvPr/>
        </p:nvSpPr>
        <p:spPr>
          <a:xfrm>
            <a:off x="6313346" y="204825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13346" y="2066544"/>
            <a:ext cx="384048" cy="347472"/>
          </a:xfrm>
          <a:prstGeom prst="rect">
            <a:avLst/>
          </a:prstGeom>
          <a:noFill/>
        </p:spPr>
        <p:txBody>
          <a:bodyPr wrap="square" anchor="ctr" lIns="0" rIns="0" tIns="0" bIns="0">
            <a:spAutoFit/>
          </a:bodyPr>
          <a:lstStyle/>
          <a:p>
            <a:pPr algn="ctr"/>
            <a:r>
              <a:rPr sz="1500" b="1" i="0">
                <a:solidFill>
                  <a:srgbClr val="00819C"/>
                </a:solidFill>
                <a:latin typeface="Arial"/>
              </a:rPr>
              <a:t>5</a:t>
            </a:r>
          </a:p>
        </p:txBody>
      </p:sp>
      <p:sp>
        <p:nvSpPr>
          <p:cNvPr id="24" name="TextBox 23"/>
          <p:cNvSpPr txBox="1"/>
          <p:nvPr/>
        </p:nvSpPr>
        <p:spPr>
          <a:xfrm>
            <a:off x="6843698" y="2029968"/>
            <a:ext cx="4349983" cy="365760"/>
          </a:xfrm>
          <a:prstGeom prst="rect">
            <a:avLst/>
          </a:prstGeom>
          <a:noFill/>
        </p:spPr>
        <p:txBody>
          <a:bodyPr wrap="square" anchor="t" lIns="0" rIns="0" tIns="0" bIns="0">
            <a:spAutoFit/>
          </a:bodyPr>
          <a:lstStyle/>
          <a:p>
            <a:pPr algn="l"/>
            <a:r>
              <a:rPr sz="1350" b="1" i="0">
                <a:solidFill>
                  <a:srgbClr val="0D1F36"/>
                </a:solidFill>
                <a:latin typeface="Arial"/>
              </a:rPr>
              <a:t>Keep publishing in French and German</a:t>
            </a:r>
          </a:p>
        </p:txBody>
      </p:sp>
      <p:sp>
        <p:nvSpPr>
          <p:cNvPr id="25" name="TextBox 24"/>
          <p:cNvSpPr txBox="1"/>
          <p:nvPr/>
        </p:nvSpPr>
        <p:spPr>
          <a:xfrm>
            <a:off x="6843698" y="237744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The translated blog does better per page than the English one.</a:t>
            </a:r>
          </a:p>
        </p:txBody>
      </p:sp>
      <p:sp>
        <p:nvSpPr>
          <p:cNvPr id="26" name="Rectangle 25"/>
          <p:cNvSpPr/>
          <p:nvPr/>
        </p:nvSpPr>
        <p:spPr>
          <a:xfrm>
            <a:off x="6313346" y="305409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13346" y="3072384"/>
            <a:ext cx="384048" cy="347472"/>
          </a:xfrm>
          <a:prstGeom prst="rect">
            <a:avLst/>
          </a:prstGeom>
          <a:noFill/>
        </p:spPr>
        <p:txBody>
          <a:bodyPr wrap="square" anchor="ctr" lIns="0" rIns="0" tIns="0" bIns="0">
            <a:spAutoFit/>
          </a:bodyPr>
          <a:lstStyle/>
          <a:p>
            <a:pPr algn="ctr"/>
            <a:r>
              <a:rPr sz="1500" b="1" i="0">
                <a:solidFill>
                  <a:srgbClr val="00819C"/>
                </a:solidFill>
                <a:latin typeface="Arial"/>
              </a:rPr>
              <a:t>6</a:t>
            </a:r>
          </a:p>
        </p:txBody>
      </p:sp>
      <p:sp>
        <p:nvSpPr>
          <p:cNvPr id="28" name="TextBox 27"/>
          <p:cNvSpPr txBox="1"/>
          <p:nvPr/>
        </p:nvSpPr>
        <p:spPr>
          <a:xfrm>
            <a:off x="6843698" y="3035808"/>
            <a:ext cx="4349983" cy="365760"/>
          </a:xfrm>
          <a:prstGeom prst="rect">
            <a:avLst/>
          </a:prstGeom>
          <a:noFill/>
        </p:spPr>
        <p:txBody>
          <a:bodyPr wrap="square" anchor="t" lIns="0" rIns="0" tIns="0" bIns="0">
            <a:spAutoFit/>
          </a:bodyPr>
          <a:lstStyle/>
          <a:p>
            <a:pPr algn="l"/>
            <a:r>
              <a:rPr sz="1350" b="1" i="0">
                <a:solidFill>
                  <a:srgbClr val="0D1F36"/>
                </a:solidFill>
                <a:latin typeface="Arial"/>
              </a:rPr>
              <a:t>Find out what happened in May</a:t>
            </a:r>
          </a:p>
        </p:txBody>
      </p:sp>
      <p:sp>
        <p:nvSpPr>
          <p:cNvPr id="29" name="TextBox 28"/>
          <p:cNvSpPr txBox="1"/>
          <p:nvPr/>
        </p:nvSpPr>
        <p:spPr>
          <a:xfrm>
            <a:off x="6843698" y="338328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Mark campaigns on the chart, and agree how often we publish.</a:t>
            </a:r>
          </a:p>
        </p:txBody>
      </p:sp>
      <p:sp>
        <p:nvSpPr>
          <p:cNvPr id="30" name="Rectangle 29"/>
          <p:cNvSpPr/>
          <p:nvPr/>
        </p:nvSpPr>
        <p:spPr>
          <a:xfrm>
            <a:off x="6313346" y="405993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13346" y="4078224"/>
            <a:ext cx="384048" cy="347472"/>
          </a:xfrm>
          <a:prstGeom prst="rect">
            <a:avLst/>
          </a:prstGeom>
          <a:noFill/>
        </p:spPr>
        <p:txBody>
          <a:bodyPr wrap="square" anchor="ctr" lIns="0" rIns="0" tIns="0" bIns="0">
            <a:spAutoFit/>
          </a:bodyPr>
          <a:lstStyle/>
          <a:p>
            <a:pPr algn="ctr"/>
            <a:r>
              <a:rPr sz="1500" b="1" i="0">
                <a:solidFill>
                  <a:srgbClr val="00819C"/>
                </a:solidFill>
                <a:latin typeface="Arial"/>
              </a:rPr>
              <a:t>7</a:t>
            </a:r>
          </a:p>
        </p:txBody>
      </p:sp>
      <p:sp>
        <p:nvSpPr>
          <p:cNvPr id="32" name="TextBox 31"/>
          <p:cNvSpPr txBox="1"/>
          <p:nvPr/>
        </p:nvSpPr>
        <p:spPr>
          <a:xfrm>
            <a:off x="6843698" y="4041648"/>
            <a:ext cx="4349983" cy="365760"/>
          </a:xfrm>
          <a:prstGeom prst="rect">
            <a:avLst/>
          </a:prstGeom>
          <a:noFill/>
        </p:spPr>
        <p:txBody>
          <a:bodyPr wrap="square" anchor="t" lIns="0" rIns="0" tIns="0" bIns="0">
            <a:spAutoFit/>
          </a:bodyPr>
          <a:lstStyle/>
          <a:p>
            <a:pPr algn="l"/>
            <a:r>
              <a:rPr sz="1350" b="1" i="0">
                <a:solidFill>
                  <a:srgbClr val="0D1F36"/>
                </a:solidFill>
                <a:latin typeface="Arial"/>
              </a:rPr>
              <a:t>Close the loop on registrations</a:t>
            </a:r>
          </a:p>
        </p:txBody>
      </p:sp>
      <p:sp>
        <p:nvSpPr>
          <p:cNvPr id="33" name="TextBox 32"/>
          <p:cNvSpPr txBox="1"/>
          <p:nvPr/>
        </p:nvSpPr>
        <p:spPr>
          <a:xfrm>
            <a:off x="6843698" y="438912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Chase genetic reports and surveys from the 113 new families.</a:t>
            </a:r>
          </a:p>
        </p:txBody>
      </p:sp>
      <p:sp>
        <p:nvSpPr>
          <p:cNvPr id="34" name="Rectangle 33"/>
          <p:cNvSpPr/>
          <p:nvPr/>
        </p:nvSpPr>
        <p:spPr>
          <a:xfrm>
            <a:off x="6313346" y="5065776"/>
            <a:ext cx="384048" cy="384048"/>
          </a:xfrm>
          <a:prstGeom prst="rect">
            <a:avLst/>
          </a:prstGeom>
          <a:solidFill>
            <a:srgbClr val="F3F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13346" y="5084064"/>
            <a:ext cx="384048" cy="347472"/>
          </a:xfrm>
          <a:prstGeom prst="rect">
            <a:avLst/>
          </a:prstGeom>
          <a:noFill/>
        </p:spPr>
        <p:txBody>
          <a:bodyPr wrap="square" anchor="ctr" lIns="0" rIns="0" tIns="0" bIns="0">
            <a:spAutoFit/>
          </a:bodyPr>
          <a:lstStyle/>
          <a:p>
            <a:pPr algn="ctr"/>
            <a:r>
              <a:rPr sz="1500" b="1" i="0">
                <a:solidFill>
                  <a:srgbClr val="00819C"/>
                </a:solidFill>
                <a:latin typeface="Arial"/>
              </a:rPr>
              <a:t>8</a:t>
            </a:r>
          </a:p>
        </p:txBody>
      </p:sp>
      <p:sp>
        <p:nvSpPr>
          <p:cNvPr id="36" name="TextBox 35"/>
          <p:cNvSpPr txBox="1"/>
          <p:nvPr/>
        </p:nvSpPr>
        <p:spPr>
          <a:xfrm>
            <a:off x="6843698" y="5047488"/>
            <a:ext cx="4349983" cy="365760"/>
          </a:xfrm>
          <a:prstGeom prst="rect">
            <a:avLst/>
          </a:prstGeom>
          <a:noFill/>
        </p:spPr>
        <p:txBody>
          <a:bodyPr wrap="square" anchor="t" lIns="0" rIns="0" tIns="0" bIns="0">
            <a:spAutoFit/>
          </a:bodyPr>
          <a:lstStyle/>
          <a:p>
            <a:pPr algn="l"/>
            <a:r>
              <a:rPr sz="1350" b="1" i="0">
                <a:solidFill>
                  <a:srgbClr val="0D1F36"/>
                </a:solidFill>
                <a:latin typeface="Arial"/>
              </a:rPr>
              <a:t>Change the Givebutter key</a:t>
            </a:r>
          </a:p>
        </p:txBody>
      </p:sp>
      <p:sp>
        <p:nvSpPr>
          <p:cNvPr id="37" name="TextBox 36"/>
          <p:cNvSpPr txBox="1"/>
          <p:nvPr/>
        </p:nvSpPr>
        <p:spPr>
          <a:xfrm>
            <a:off x="6843698" y="5394960"/>
            <a:ext cx="4349983" cy="566928"/>
          </a:xfrm>
          <a:prstGeom prst="rect">
            <a:avLst/>
          </a:prstGeom>
          <a:noFill/>
        </p:spPr>
        <p:txBody>
          <a:bodyPr wrap="square" anchor="t" lIns="0" rIns="0" tIns="0" bIns="0">
            <a:spAutoFit/>
          </a:bodyPr>
          <a:lstStyle/>
          <a:p>
            <a:pPr algn="l">
              <a:lnSpc>
                <a:spcPct val="115000"/>
              </a:lnSpc>
            </a:pPr>
            <a:r>
              <a:rPr sz="1150" b="0" i="0">
                <a:solidFill>
                  <a:srgbClr val="525252"/>
                </a:solidFill>
                <a:latin typeface="Arial"/>
              </a:rPr>
              <a:t>It is currently sent to the browser. Move it to the server.</a:t>
            </a:r>
          </a:p>
        </p:txBody>
      </p:sp>
      <p:sp>
        <p:nvSpPr>
          <p:cNvPr id="38" name="TextBox 37"/>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Detail in year-one-story.md</a:t>
            </a:r>
          </a:p>
        </p:txBody>
      </p:sp>
      <p:sp>
        <p:nvSpPr>
          <p:cNvPr id="39" name="TextBox 38"/>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F3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1051560"/>
            <a:ext cx="10874959" cy="365760"/>
          </a:xfrm>
          <a:prstGeom prst="rect">
            <a:avLst/>
          </a:prstGeom>
          <a:noFill/>
        </p:spPr>
        <p:txBody>
          <a:bodyPr wrap="square" anchor="t" lIns="0" rIns="0" tIns="0" bIns="0">
            <a:spAutoFit/>
          </a:bodyPr>
          <a:lstStyle/>
          <a:p>
            <a:pPr algn="l"/>
            <a:r>
              <a:rPr sz="1100" b="1" i="0">
                <a:solidFill>
                  <a:srgbClr val="03D3FF"/>
                </a:solidFill>
                <a:latin typeface="Arial"/>
              </a:rPr>
              <a:t>AGAINST THE SEVEN GOALS WE WERE GIVEN</a:t>
            </a:r>
          </a:p>
        </p:txBody>
      </p:sp>
      <p:sp>
        <p:nvSpPr>
          <p:cNvPr id="4" name="TextBox 3"/>
          <p:cNvSpPr txBox="1"/>
          <p:nvPr/>
        </p:nvSpPr>
        <p:spPr>
          <a:xfrm>
            <a:off x="658368" y="1572768"/>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Raise awareness</a:t>
            </a:r>
          </a:p>
        </p:txBody>
      </p:sp>
      <p:sp>
        <p:nvSpPr>
          <p:cNvPr id="5" name="TextBox 4"/>
          <p:cNvSpPr txBox="1"/>
          <p:nvPr/>
        </p:nvSpPr>
        <p:spPr>
          <a:xfrm>
            <a:off x="658368" y="1975104"/>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Explain the gene and BBSOAS</a:t>
            </a:r>
          </a:p>
        </p:txBody>
      </p:sp>
      <p:sp>
        <p:nvSpPr>
          <p:cNvPr id="6" name="TextBox 5"/>
          <p:cNvSpPr txBox="1"/>
          <p:nvPr/>
        </p:nvSpPr>
        <p:spPr>
          <a:xfrm>
            <a:off x="658368" y="2377440"/>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Resources for families</a:t>
            </a:r>
          </a:p>
        </p:txBody>
      </p:sp>
      <p:sp>
        <p:nvSpPr>
          <p:cNvPr id="7" name="TextBox 6"/>
          <p:cNvSpPr txBox="1"/>
          <p:nvPr/>
        </p:nvSpPr>
        <p:spPr>
          <a:xfrm>
            <a:off x="658368" y="2779776"/>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Help families join the registry</a:t>
            </a:r>
          </a:p>
        </p:txBody>
      </p:sp>
      <p:sp>
        <p:nvSpPr>
          <p:cNvPr id="8" name="TextBox 7"/>
          <p:cNvSpPr txBox="1"/>
          <p:nvPr/>
        </p:nvSpPr>
        <p:spPr>
          <a:xfrm>
            <a:off x="6313346" y="1572768"/>
            <a:ext cx="5002481" cy="347472"/>
          </a:xfrm>
          <a:prstGeom prst="rect">
            <a:avLst/>
          </a:prstGeom>
          <a:noFill/>
        </p:spPr>
        <p:txBody>
          <a:bodyPr wrap="square" anchor="t" lIns="0" rIns="0" tIns="0" bIns="0">
            <a:spAutoFit/>
          </a:bodyPr>
          <a:lstStyle/>
          <a:p>
            <a:pPr algn="l"/>
            <a:r>
              <a:rPr sz="1200" b="1" i="0">
                <a:solidFill>
                  <a:srgbClr val="FF3E57"/>
                </a:solidFill>
                <a:latin typeface="Arial"/>
              </a:rPr>
              <a:t>Part done   </a:t>
            </a:r>
            <a:r>
              <a:rPr sz="1400" b="0" i="0">
                <a:solidFill>
                  <a:srgbClr val="BAD1EE"/>
                </a:solidFill>
                <a:latin typeface="Arial"/>
              </a:rPr>
              <a:t>Support professionals</a:t>
            </a:r>
          </a:p>
        </p:txBody>
      </p:sp>
      <p:sp>
        <p:nvSpPr>
          <p:cNvPr id="9" name="TextBox 8"/>
          <p:cNvSpPr txBox="1"/>
          <p:nvPr/>
        </p:nvSpPr>
        <p:spPr>
          <a:xfrm>
            <a:off x="6313346" y="1975104"/>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The Foundation's own blog</a:t>
            </a:r>
          </a:p>
        </p:txBody>
      </p:sp>
      <p:sp>
        <p:nvSpPr>
          <p:cNvPr id="10" name="TextBox 9"/>
          <p:cNvSpPr txBox="1"/>
          <p:nvPr/>
        </p:nvSpPr>
        <p:spPr>
          <a:xfrm>
            <a:off x="6313346" y="2377440"/>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Make donating simple</a:t>
            </a:r>
          </a:p>
        </p:txBody>
      </p:sp>
      <p:sp>
        <p:nvSpPr>
          <p:cNvPr id="11" name="TextBox 10"/>
          <p:cNvSpPr txBox="1"/>
          <p:nvPr/>
        </p:nvSpPr>
        <p:spPr>
          <a:xfrm>
            <a:off x="6313346" y="2779776"/>
            <a:ext cx="5002481" cy="347472"/>
          </a:xfrm>
          <a:prstGeom prst="rect">
            <a:avLst/>
          </a:prstGeom>
          <a:noFill/>
        </p:spPr>
        <p:txBody>
          <a:bodyPr wrap="square" anchor="t" lIns="0" rIns="0" tIns="0" bIns="0">
            <a:spAutoFit/>
          </a:bodyPr>
          <a:lstStyle/>
          <a:p>
            <a:pPr algn="l"/>
            <a:r>
              <a:rPr sz="1200" b="1" i="0">
                <a:solidFill>
                  <a:srgbClr val="03D3FF"/>
                </a:solidFill>
                <a:latin typeface="Arial"/>
              </a:rPr>
              <a:t>Done   </a:t>
            </a:r>
            <a:r>
              <a:rPr sz="1400" b="0" i="0">
                <a:solidFill>
                  <a:srgbClr val="FFFFFF"/>
                </a:solidFill>
                <a:latin typeface="Arial"/>
              </a:rPr>
              <a:t>All five build constraints</a:t>
            </a:r>
          </a:p>
        </p:txBody>
      </p:sp>
      <p:sp>
        <p:nvSpPr>
          <p:cNvPr id="12" name="Rectangle 11"/>
          <p:cNvSpPr/>
          <p:nvPr/>
        </p:nvSpPr>
        <p:spPr>
          <a:xfrm>
            <a:off x="658368" y="3520440"/>
            <a:ext cx="1371600" cy="45720"/>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8368" y="3840480"/>
            <a:ext cx="9134965" cy="1645920"/>
          </a:xfrm>
          <a:prstGeom prst="rect">
            <a:avLst/>
          </a:prstGeom>
          <a:noFill/>
        </p:spPr>
        <p:txBody>
          <a:bodyPr wrap="square" anchor="t" lIns="0" rIns="0" tIns="0" bIns="0">
            <a:spAutoFit/>
          </a:bodyPr>
          <a:lstStyle/>
          <a:p>
            <a:pPr algn="l">
              <a:lnSpc>
                <a:spcPct val="122000"/>
              </a:lnSpc>
            </a:pPr>
            <a:r>
              <a:rPr sz="2400" b="0" i="0">
                <a:solidFill>
                  <a:srgbClr val="BAD1EE"/>
                </a:solidFill>
                <a:latin typeface="Arial"/>
              </a:rPr>
              <a:t>The old site told people what BBSOAS is.</a:t>
            </a:r>
          </a:p>
          <a:p>
            <a:pPr>
              <a:lnSpc>
                <a:spcPct val="122000"/>
              </a:lnSpc>
            </a:pPr>
            <a:r>
              <a:rPr sz="2400" b="1" i="0">
                <a:solidFill>
                  <a:srgbClr val="FFFFFF"/>
                </a:solidFill>
                <a:latin typeface="Arial"/>
              </a:rPr>
              <a:t>The new one is where a family, anywhere, in their own language, finds the diagnosis on page one and registers in the same visit.</a:t>
            </a:r>
          </a:p>
          <a:p>
            <a:pPr>
              <a:lnSpc>
                <a:spcPct val="122000"/>
              </a:lnSpc>
              <a:spcBef>
                <a:spcPts val="1400"/>
              </a:spcBef>
            </a:pPr>
            <a:r>
              <a:rPr sz="2400" b="1" i="0">
                <a:solidFill>
                  <a:srgbClr val="03D3FF"/>
                </a:solidFill>
                <a:latin typeface="Arial"/>
              </a:rPr>
              <a:t>A year in, that happens every three days.</a:t>
            </a:r>
          </a:p>
        </p:txBody>
      </p:sp>
      <p:sp>
        <p:nvSpPr>
          <p:cNvPr id="14" name="TextBox 13"/>
          <p:cNvSpPr txBox="1"/>
          <p:nvPr/>
        </p:nvSpPr>
        <p:spPr>
          <a:xfrm>
            <a:off x="658368" y="6126480"/>
            <a:ext cx="10874959" cy="274320"/>
          </a:xfrm>
          <a:prstGeom prst="rect">
            <a:avLst/>
          </a:prstGeom>
          <a:noFill/>
        </p:spPr>
        <p:txBody>
          <a:bodyPr wrap="square" anchor="t" lIns="0" rIns="0" tIns="0" bIns="0">
            <a:spAutoFit/>
          </a:bodyPr>
          <a:lstStyle/>
          <a:p>
            <a:pPr algn="l"/>
            <a:r>
              <a:rPr sz="1100" b="0" i="0">
                <a:solidFill>
                  <a:srgbClr val="2B66B1"/>
                </a:solidFill>
                <a:latin typeface="Arial"/>
              </a:rPr>
              <a:t>nr2f1.org  ·  21 September 2025 to 14 September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03D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58368" y="475488"/>
            <a:ext cx="10874959" cy="274320"/>
          </a:xfrm>
          <a:prstGeom prst="rect">
            <a:avLst/>
          </a:prstGeom>
          <a:noFill/>
        </p:spPr>
        <p:txBody>
          <a:bodyPr wrap="square" anchor="t" lIns="0" rIns="0" tIns="0" bIns="0">
            <a:spAutoFit/>
          </a:bodyPr>
          <a:lstStyle/>
          <a:p>
            <a:pPr algn="l"/>
            <a:r>
              <a:rPr sz="1100" b="1" i="0">
                <a:solidFill>
                  <a:srgbClr val="00819C"/>
                </a:solidFill>
                <a:latin typeface="Arial"/>
              </a:rPr>
              <a:t>APPENDIX</a:t>
            </a:r>
          </a:p>
        </p:txBody>
      </p:sp>
      <p:sp>
        <p:nvSpPr>
          <p:cNvPr id="4" name="TextBox 3"/>
          <p:cNvSpPr txBox="1"/>
          <p:nvPr/>
        </p:nvSpPr>
        <p:spPr>
          <a:xfrm>
            <a:off x="658368" y="786384"/>
            <a:ext cx="10874959" cy="731520"/>
          </a:xfrm>
          <a:prstGeom prst="rect">
            <a:avLst/>
          </a:prstGeom>
          <a:noFill/>
        </p:spPr>
        <p:txBody>
          <a:bodyPr wrap="square" anchor="t" lIns="0" rIns="0" tIns="0" bIns="0">
            <a:spAutoFit/>
          </a:bodyPr>
          <a:lstStyle/>
          <a:p>
            <a:pPr algn="l"/>
            <a:r>
              <a:rPr sz="3000" b="1" i="0">
                <a:solidFill>
                  <a:srgbClr val="0D1F36"/>
                </a:solidFill>
                <a:latin typeface="Arial"/>
              </a:rPr>
              <a:t>Where these numbers come from</a:t>
            </a:r>
          </a:p>
        </p:txBody>
      </p:sp>
      <p:graphicFrame>
        <p:nvGraphicFramePr>
          <p:cNvPr id="5" name="Table 4"/>
          <p:cNvGraphicFramePr>
            <a:graphicFrameLocks noGrp="1"/>
          </p:cNvGraphicFramePr>
          <p:nvPr/>
        </p:nvGraphicFramePr>
        <p:xfrm>
          <a:off x="658368" y="1572768"/>
          <a:ext cx="10874957" cy="3072384"/>
        </p:xfrm>
        <a:graphic>
          <a:graphicData uri="http://schemas.openxmlformats.org/drawingml/2006/table">
            <a:tbl>
              <a:tblPr firstRow="1">
                <a:tableStyleId>{5C22544A-7EE6-4342-B048-85BDC9FD1C3A}</a:tableStyleId>
              </a:tblPr>
              <a:tblGrid>
                <a:gridCol w="2467427"/>
                <a:gridCol w="3107131"/>
                <a:gridCol w="2101882"/>
                <a:gridCol w="3198517"/>
              </a:tblGrid>
              <a:tr h="512064">
                <a:tc>
                  <a:txBody>
                    <a:bodyPr wrap="square"/>
                    <a:lstStyle/>
                    <a:p>
                      <a:r>
                        <a:rPr sz="1000" b="1" i="0">
                          <a:solidFill>
                            <a:srgbClr val="FFFFFF"/>
                          </a:solidFill>
                          <a:latin typeface="Arial"/>
                        </a:rPr>
                        <a:t>Source</a:t>
                      </a:r>
                    </a:p>
                  </a:txBody>
                  <a:tcPr marL="109728" marR="73152" marT="45720" marB="45720" anchor="ctr">
                    <a:solidFill>
                      <a:srgbClr val="17375F"/>
                    </a:solidFill>
                  </a:tcPr>
                </a:tc>
                <a:tc>
                  <a:txBody>
                    <a:bodyPr wrap="square"/>
                    <a:lstStyle/>
                    <a:p>
                      <a:pPr algn="r"/>
                      <a:r>
                        <a:rPr sz="1000" b="1" i="0">
                          <a:solidFill>
                            <a:srgbClr val="FFFFFF"/>
                          </a:solidFill>
                          <a:latin typeface="Arial"/>
                        </a:rPr>
                        <a:t>What it tells us</a:t>
                      </a:r>
                    </a:p>
                  </a:txBody>
                  <a:tcPr marL="109728" marR="73152" marT="45720" marB="45720" anchor="ctr">
                    <a:solidFill>
                      <a:srgbClr val="17375F"/>
                    </a:solidFill>
                  </a:tcPr>
                </a:tc>
                <a:tc>
                  <a:txBody>
                    <a:bodyPr wrap="square"/>
                    <a:lstStyle/>
                    <a:p>
                      <a:pPr algn="r"/>
                      <a:r>
                        <a:rPr sz="1000" b="1" i="0">
                          <a:solidFill>
                            <a:srgbClr val="FFFFFF"/>
                          </a:solidFill>
                          <a:latin typeface="Arial"/>
                        </a:rPr>
                        <a:t>Period</a:t>
                      </a:r>
                    </a:p>
                  </a:txBody>
                  <a:tcPr marL="109728" marR="73152" marT="45720" marB="45720" anchor="ctr">
                    <a:solidFill>
                      <a:srgbClr val="17375F"/>
                    </a:solidFill>
                  </a:tcPr>
                </a:tc>
                <a:tc>
                  <a:txBody>
                    <a:bodyPr wrap="square"/>
                    <a:lstStyle/>
                    <a:p>
                      <a:pPr algn="r"/>
                      <a:r>
                        <a:rPr sz="1000" b="1" i="0">
                          <a:solidFill>
                            <a:srgbClr val="FFFFFF"/>
                          </a:solidFill>
                          <a:latin typeface="Arial"/>
                        </a:rPr>
                        <a:t>Worth knowing</a:t>
                      </a:r>
                    </a:p>
                  </a:txBody>
                  <a:tcPr marL="109728" marR="73152" marT="45720" marB="45720" anchor="ctr">
                    <a:solidFill>
                      <a:srgbClr val="17375F"/>
                    </a:solidFill>
                  </a:tcPr>
                </a:tc>
              </a:tr>
              <a:tr h="512064">
                <a:tc>
                  <a:txBody>
                    <a:bodyPr wrap="square"/>
                    <a:lstStyle/>
                    <a:p>
                      <a:r>
                        <a:rPr sz="1050" b="0" i="0">
                          <a:solidFill>
                            <a:srgbClr val="404040"/>
                          </a:solidFill>
                          <a:latin typeface="Arial"/>
                        </a:rPr>
                        <a:t>Google Search Console</a:t>
                      </a:r>
                    </a:p>
                  </a:txBody>
                  <a:tcPr marL="109728" marR="73152" marT="36576" marB="36576" anchor="ctr">
                    <a:solidFill>
                      <a:srgbClr val="FFFFFF"/>
                    </a:solidFill>
                  </a:tcPr>
                </a:tc>
                <a:tc>
                  <a:txBody>
                    <a:bodyPr wrap="square"/>
                    <a:lstStyle/>
                    <a:p>
                      <a:pPr algn="r"/>
                      <a:r>
                        <a:rPr sz="1050" b="0" i="0">
                          <a:solidFill>
                            <a:srgbClr val="404040"/>
                          </a:solidFill>
                          <a:latin typeface="Arial"/>
                        </a:rPr>
                        <a:t>Clicks, how often we appear, where we rank, what people search</a:t>
                      </a:r>
                    </a:p>
                  </a:txBody>
                  <a:tcPr marL="109728" marR="73152" marT="36576" marB="36576" anchor="ctr">
                    <a:solidFill>
                      <a:srgbClr val="FFFFFF"/>
                    </a:solidFill>
                  </a:tcPr>
                </a:tc>
                <a:tc>
                  <a:txBody>
                    <a:bodyPr wrap="square"/>
                    <a:lstStyle/>
                    <a:p>
                      <a:pPr algn="r"/>
                      <a:r>
                        <a:rPr sz="1050" b="0" i="0">
                          <a:solidFill>
                            <a:srgbClr val="404040"/>
                          </a:solidFill>
                          <a:latin typeface="Arial"/>
                        </a:rPr>
                        <a:t>4 May 2025 to 14 Sep 2026</a:t>
                      </a:r>
                    </a:p>
                  </a:txBody>
                  <a:tcPr marL="109728" marR="73152" marT="36576" marB="36576" anchor="ctr">
                    <a:solidFill>
                      <a:srgbClr val="FFFFFF"/>
                    </a:solidFill>
                  </a:tcPr>
                </a:tc>
                <a:tc>
                  <a:txBody>
                    <a:bodyPr wrap="square"/>
                    <a:lstStyle/>
                    <a:p>
                      <a:pPr algn="r"/>
                      <a:r>
                        <a:rPr sz="1050" b="0" i="0">
                          <a:solidFill>
                            <a:srgbClr val="404040"/>
                          </a:solidFill>
                          <a:latin typeface="Arial"/>
                        </a:rPr>
                        <a:t>The only true old-versus-new comparison. Records reach back 16 months</a:t>
                      </a:r>
                    </a:p>
                  </a:txBody>
                  <a:tcPr marL="109728" marR="73152" marT="36576" marB="36576" anchor="ctr">
                    <a:solidFill>
                      <a:srgbClr val="FFFFFF"/>
                    </a:solidFill>
                  </a:tcPr>
                </a:tc>
              </a:tr>
              <a:tr h="512064">
                <a:tc>
                  <a:txBody>
                    <a:bodyPr wrap="square"/>
                    <a:lstStyle/>
                    <a:p>
                      <a:r>
                        <a:rPr sz="1050" b="0" i="0">
                          <a:solidFill>
                            <a:srgbClr val="404040"/>
                          </a:solidFill>
                          <a:latin typeface="Arial"/>
                        </a:rPr>
                        <a:t>Google Analytics</a:t>
                      </a:r>
                    </a:p>
                  </a:txBody>
                  <a:tcPr marL="109728" marR="73152" marT="36576" marB="36576" anchor="ctr">
                    <a:solidFill>
                      <a:srgbClr val="F5F5F5"/>
                    </a:solidFill>
                  </a:tcPr>
                </a:tc>
                <a:tc>
                  <a:txBody>
                    <a:bodyPr wrap="square"/>
                    <a:lstStyle/>
                    <a:p>
                      <a:pPr algn="r"/>
                      <a:r>
                        <a:rPr sz="1050" b="0" i="0">
                          <a:solidFill>
                            <a:srgbClr val="404040"/>
                          </a:solidFill>
                          <a:latin typeface="Arial"/>
                        </a:rPr>
                        <a:t>Visits, countries, languages, how people arrive</a:t>
                      </a:r>
                    </a:p>
                  </a:txBody>
                  <a:tcPr marL="109728" marR="73152" marT="36576" marB="36576" anchor="ctr">
                    <a:solidFill>
                      <a:srgbClr val="F5F5F5"/>
                    </a:solidFill>
                  </a:tcPr>
                </a:tc>
                <a:tc>
                  <a:txBody>
                    <a:bodyPr wrap="square"/>
                    <a:lstStyle/>
                    <a:p>
                      <a:pPr algn="r"/>
                      <a:r>
                        <a:rPr sz="1050" b="0" i="0">
                          <a:solidFill>
                            <a:srgbClr val="404040"/>
                          </a:solidFill>
                          <a:latin typeface="Arial"/>
                        </a:rPr>
                        <a:t>21 Sep 2025 to 14 Sep 2026</a:t>
                      </a:r>
                    </a:p>
                  </a:txBody>
                  <a:tcPr marL="109728" marR="73152" marT="36576" marB="36576" anchor="ctr">
                    <a:solidFill>
                      <a:srgbClr val="F5F5F5"/>
                    </a:solidFill>
                  </a:tcPr>
                </a:tc>
                <a:tc>
                  <a:txBody>
                    <a:bodyPr wrap="square"/>
                    <a:lstStyle/>
                    <a:p>
                      <a:pPr algn="r"/>
                      <a:r>
                        <a:rPr sz="1050" b="0" i="0">
                          <a:solidFill>
                            <a:srgbClr val="404040"/>
                          </a:solidFill>
                          <a:latin typeface="Arial"/>
                        </a:rPr>
                        <a:t>Set up 27 Aug 2025. The old site's data exists but we have no access</a:t>
                      </a:r>
                    </a:p>
                  </a:txBody>
                  <a:tcPr marL="109728" marR="73152" marT="36576" marB="36576" anchor="ctr">
                    <a:solidFill>
                      <a:srgbClr val="F5F5F5"/>
                    </a:solidFill>
                  </a:tcPr>
                </a:tc>
              </a:tr>
              <a:tr h="512064">
                <a:tc>
                  <a:txBody>
                    <a:bodyPr wrap="square"/>
                    <a:lstStyle/>
                    <a:p>
                      <a:r>
                        <a:rPr sz="1050" b="0" i="0">
                          <a:solidFill>
                            <a:srgbClr val="404040"/>
                          </a:solidFill>
                          <a:latin typeface="Arial"/>
                        </a:rPr>
                        <a:t>Givebutter (3,428 contacts)</a:t>
                      </a:r>
                    </a:p>
                  </a:txBody>
                  <a:tcPr marL="109728" marR="73152" marT="36576" marB="36576" anchor="ctr">
                    <a:solidFill>
                      <a:srgbClr val="FFFFFF"/>
                    </a:solidFill>
                  </a:tcPr>
                </a:tc>
                <a:tc>
                  <a:txBody>
                    <a:bodyPr wrap="square"/>
                    <a:lstStyle/>
                    <a:p>
                      <a:pPr algn="r"/>
                      <a:r>
                        <a:rPr sz="1050" b="0" i="0">
                          <a:solidFill>
                            <a:srgbClr val="404040"/>
                          </a:solidFill>
                          <a:latin typeface="Arial"/>
                        </a:rPr>
                        <a:t>Families, patient numbers, donors</a:t>
                      </a:r>
                    </a:p>
                  </a:txBody>
                  <a:tcPr marL="109728" marR="73152" marT="36576" marB="36576" anchor="ctr">
                    <a:solidFill>
                      <a:srgbClr val="FFFFFF"/>
                    </a:solidFill>
                  </a:tcPr>
                </a:tc>
                <a:tc>
                  <a:txBody>
                    <a:bodyPr wrap="square"/>
                    <a:lstStyle/>
                    <a:p>
                      <a:pPr algn="r"/>
                      <a:r>
                        <a:rPr sz="1050" b="0" i="0">
                          <a:solidFill>
                            <a:srgbClr val="404040"/>
                          </a:solidFill>
                          <a:latin typeface="Arial"/>
                        </a:rPr>
                        <a:t>All time</a:t>
                      </a:r>
                    </a:p>
                  </a:txBody>
                  <a:tcPr marL="109728" marR="73152" marT="36576" marB="36576" anchor="ctr">
                    <a:solidFill>
                      <a:srgbClr val="FFFFFF"/>
                    </a:solidFill>
                  </a:tcPr>
                </a:tc>
                <a:tc>
                  <a:txBody>
                    <a:bodyPr wrap="square"/>
                    <a:lstStyle/>
                    <a:p>
                      <a:pPr algn="r"/>
                      <a:r>
                        <a:rPr sz="1050" b="0" i="0">
                          <a:solidFill>
                            <a:srgbClr val="404040"/>
                          </a:solidFill>
                          <a:latin typeface="Arial"/>
                        </a:rPr>
                        <a:t>Donation totals are lifetime per person, not per year</a:t>
                      </a:r>
                    </a:p>
                  </a:txBody>
                  <a:tcPr marL="109728" marR="73152" marT="36576" marB="36576" anchor="ctr">
                    <a:solidFill>
                      <a:srgbClr val="FFFFFF"/>
                    </a:solidFill>
                  </a:tcPr>
                </a:tc>
              </a:tr>
              <a:tr h="512064">
                <a:tc>
                  <a:txBody>
                    <a:bodyPr wrap="square"/>
                    <a:lstStyle/>
                    <a:p>
                      <a:r>
                        <a:rPr sz="1050" b="0" i="0">
                          <a:solidFill>
                            <a:srgbClr val="404040"/>
                          </a:solidFill>
                          <a:latin typeface="Arial"/>
                        </a:rPr>
                        <a:t>Sector benchmarks</a:t>
                      </a:r>
                    </a:p>
                  </a:txBody>
                  <a:tcPr marL="109728" marR="73152" marT="36576" marB="36576" anchor="ctr">
                    <a:solidFill>
                      <a:srgbClr val="F5F5F5"/>
                    </a:solidFill>
                  </a:tcPr>
                </a:tc>
                <a:tc>
                  <a:txBody>
                    <a:bodyPr wrap="square"/>
                    <a:lstStyle/>
                    <a:p>
                      <a:pPr algn="r"/>
                      <a:r>
                        <a:rPr sz="1050" b="0" i="0">
                          <a:solidFill>
                            <a:srgbClr val="404040"/>
                          </a:solidFill>
                          <a:latin typeface="Arial"/>
                        </a:rPr>
                        <a:t>How we compare with other charities</a:t>
                      </a:r>
                    </a:p>
                  </a:txBody>
                  <a:tcPr marL="109728" marR="73152" marT="36576" marB="36576" anchor="ctr">
                    <a:solidFill>
                      <a:srgbClr val="F5F5F5"/>
                    </a:solidFill>
                  </a:tcPr>
                </a:tc>
                <a:tc>
                  <a:txBody>
                    <a:bodyPr wrap="square"/>
                    <a:lstStyle/>
                    <a:p>
                      <a:pPr algn="r"/>
                      <a:r>
                        <a:rPr sz="1050" b="0" i="0">
                          <a:solidFill>
                            <a:srgbClr val="404040"/>
                          </a:solidFill>
                          <a:latin typeface="Arial"/>
                        </a:rPr>
                        <a:t>2024 to 2026</a:t>
                      </a:r>
                    </a:p>
                  </a:txBody>
                  <a:tcPr marL="109728" marR="73152" marT="36576" marB="36576" anchor="ctr">
                    <a:solidFill>
                      <a:srgbClr val="F5F5F5"/>
                    </a:solidFill>
                  </a:tcPr>
                </a:tc>
                <a:tc>
                  <a:txBody>
                    <a:bodyPr wrap="square"/>
                    <a:lstStyle/>
                    <a:p>
                      <a:pPr algn="r"/>
                      <a:r>
                        <a:rPr sz="1050" b="0" i="0">
                          <a:solidFill>
                            <a:srgbClr val="404040"/>
                          </a:solidFill>
                          <a:latin typeface="Arial"/>
                        </a:rPr>
                        <a:t>21 sources checked, 25 claims verified, 5 rejected and left out</a:t>
                      </a:r>
                    </a:p>
                  </a:txBody>
                  <a:tcPr marL="109728" marR="73152" marT="36576" marB="36576" anchor="ctr">
                    <a:solidFill>
                      <a:srgbClr val="F5F5F5"/>
                    </a:solidFill>
                  </a:tcPr>
                </a:tc>
              </a:tr>
              <a:tr h="512064">
                <a:tc>
                  <a:txBody>
                    <a:bodyPr wrap="square"/>
                    <a:lstStyle/>
                    <a:p>
                      <a:r>
                        <a:rPr sz="1050" b="0" i="0">
                          <a:solidFill>
                            <a:srgbClr val="404040"/>
                          </a:solidFill>
                          <a:latin typeface="Arial"/>
                        </a:rPr>
                        <a:t>Published research</a:t>
                      </a:r>
                    </a:p>
                  </a:txBody>
                  <a:tcPr marL="109728" marR="73152" marT="36576" marB="36576" anchor="ctr">
                    <a:solidFill>
                      <a:srgbClr val="FFFFFF"/>
                    </a:solidFill>
                  </a:tcPr>
                </a:tc>
                <a:tc>
                  <a:txBody>
                    <a:bodyPr wrap="square"/>
                    <a:lstStyle/>
                    <a:p>
                      <a:pPr algn="r"/>
                      <a:r>
                        <a:rPr sz="1050" b="0" i="0">
                          <a:solidFill>
                            <a:srgbClr val="404040"/>
                          </a:solidFill>
                          <a:latin typeface="Arial"/>
                        </a:rPr>
                        <a:t>The size of the largest BBSOAS study</a:t>
                      </a:r>
                    </a:p>
                  </a:txBody>
                  <a:tcPr marL="109728" marR="73152" marT="36576" marB="36576" anchor="ctr">
                    <a:solidFill>
                      <a:srgbClr val="FFFFFF"/>
                    </a:solidFill>
                  </a:tcPr>
                </a:tc>
                <a:tc>
                  <a:txBody>
                    <a:bodyPr wrap="square"/>
                    <a:lstStyle/>
                    <a:p>
                      <a:pPr algn="r"/>
                      <a:r>
                        <a:rPr sz="1050" b="0" i="0">
                          <a:solidFill>
                            <a:srgbClr val="404040"/>
                          </a:solidFill>
                          <a:latin typeface="Arial"/>
                        </a:rPr>
                        <a:t>February 2025</a:t>
                      </a:r>
                    </a:p>
                  </a:txBody>
                  <a:tcPr marL="109728" marR="73152" marT="36576" marB="36576" anchor="ctr">
                    <a:solidFill>
                      <a:srgbClr val="FFFFFF"/>
                    </a:solidFill>
                  </a:tcPr>
                </a:tc>
                <a:tc>
                  <a:txBody>
                    <a:bodyPr wrap="square"/>
                    <a:lstStyle/>
                    <a:p>
                      <a:pPr algn="r"/>
                      <a:r>
                        <a:rPr sz="1050" b="0" i="0">
                          <a:solidFill>
                            <a:srgbClr val="404040"/>
                          </a:solidFill>
                          <a:latin typeface="Arial"/>
                        </a:rPr>
                        <a:t>Valentin and others, Clinical Genetics, doi 10.1111/cge.14731</a:t>
                      </a:r>
                    </a:p>
                  </a:txBody>
                  <a:tcPr marL="109728" marR="73152" marT="36576" marB="36576" anchor="ctr">
                    <a:solidFill>
                      <a:srgbClr val="FFFFFF"/>
                    </a:solidFill>
                  </a:tcPr>
                </a:tc>
              </a:tr>
            </a:tbl>
          </a:graphicData>
        </a:graphic>
      </p:graphicFrame>
      <p:sp>
        <p:nvSpPr>
          <p:cNvPr id="6" name="TextBox 5"/>
          <p:cNvSpPr txBox="1"/>
          <p:nvPr/>
        </p:nvSpPr>
        <p:spPr>
          <a:xfrm>
            <a:off x="658368" y="6382512"/>
            <a:ext cx="9960559" cy="274320"/>
          </a:xfrm>
          <a:prstGeom prst="rect">
            <a:avLst/>
          </a:prstGeom>
          <a:noFill/>
        </p:spPr>
        <p:txBody>
          <a:bodyPr wrap="square" anchor="t" lIns="0" rIns="0" tIns="0" bIns="0">
            <a:spAutoFit/>
          </a:bodyPr>
          <a:lstStyle/>
          <a:p>
            <a:pPr algn="l"/>
            <a:r>
              <a:rPr sz="900" b="0" i="0">
                <a:solidFill>
                  <a:srgbClr val="A3A3A3"/>
                </a:solidFill>
                <a:latin typeface="Arial"/>
              </a:rPr>
              <a:t>Full analysis in year-one-story.md · benchmarks in benchmarks.md · raw data in the api folder</a:t>
            </a:r>
          </a:p>
        </p:txBody>
      </p:sp>
      <p:sp>
        <p:nvSpPr>
          <p:cNvPr id="7" name="TextBox 6"/>
          <p:cNvSpPr txBox="1"/>
          <p:nvPr/>
        </p:nvSpPr>
        <p:spPr>
          <a:xfrm>
            <a:off x="10893247" y="6382512"/>
            <a:ext cx="640080" cy="274320"/>
          </a:xfrm>
          <a:prstGeom prst="rect">
            <a:avLst/>
          </a:prstGeom>
          <a:noFill/>
        </p:spPr>
        <p:txBody>
          <a:bodyPr wrap="square" anchor="t" lIns="0" rIns="0" tIns="0" bIns="0">
            <a:spAutoFit/>
          </a:bodyPr>
          <a:lstStyle/>
          <a:p>
            <a:pPr algn="r"/>
            <a:r>
              <a:rPr sz="900" b="0" i="0">
                <a:solidFill>
                  <a:srgbClr val="A3A3A3"/>
                </a:solidFill>
                <a:latin typeface="Arial"/>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